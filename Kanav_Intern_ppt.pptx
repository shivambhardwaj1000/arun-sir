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Inter" charset="0"/>
      <p:regular r:id="rId19"/>
    </p:embeddedFont>
    <p:embeddedFont>
      <p:font typeface="Petrona Bold" charset="0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1278" y="-786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205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>
            <a:alpha val="9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svg"/><Relationship Id="rId11" Type="http://schemas.openxmlformats.org/officeDocument/2006/relationships/image" Target="../media/image5.emf"/><Relationship Id="rId5" Type="http://schemas.openxmlformats.org/officeDocument/2006/relationships/image" Target="../media/image13.png"/><Relationship Id="rId10" Type="http://schemas.openxmlformats.org/officeDocument/2006/relationships/image" Target="../media/image15.sv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emf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8" r="26098"/>
          <a:stretch>
            <a:fillRect/>
          </a:stretch>
        </p:blipFill>
        <p:spPr>
          <a:xfrm>
            <a:off x="0" y="0"/>
            <a:ext cx="14831794" cy="834288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EC446C3-8EE6-4701-A530-2D2C5839A777}"/>
              </a:ext>
            </a:extLst>
          </p:cNvPr>
          <p:cNvSpPr/>
          <p:nvPr/>
        </p:nvSpPr>
        <p:spPr>
          <a:xfrm>
            <a:off x="0" y="-28380"/>
            <a:ext cx="14630400" cy="8229600"/>
          </a:xfrm>
          <a:prstGeom prst="rect">
            <a:avLst/>
          </a:prstGeom>
          <a:solidFill>
            <a:srgbClr val="008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dirty="0" smtClean="0"/>
              <a:t>                                                                                                                                            </a:t>
            </a:r>
          </a:p>
          <a:p>
            <a:pPr algn="ctr"/>
            <a:endParaRPr lang="en-ID" sz="2400" dirty="0"/>
          </a:p>
          <a:p>
            <a:pPr algn="ctr"/>
            <a:endParaRPr lang="en-ID" sz="2400" dirty="0" smtClean="0"/>
          </a:p>
          <a:p>
            <a:pPr algn="ctr"/>
            <a:endParaRPr lang="en-ID" sz="2400" dirty="0"/>
          </a:p>
          <a:p>
            <a:pPr algn="ctr"/>
            <a:endParaRPr lang="en-ID" sz="2400" dirty="0" smtClean="0"/>
          </a:p>
          <a:p>
            <a:pPr algn="ctr"/>
            <a:endParaRPr lang="en-ID" sz="2400" dirty="0"/>
          </a:p>
          <a:p>
            <a:pPr algn="ctr"/>
            <a:endParaRPr lang="en-ID" sz="2400" dirty="0" smtClean="0"/>
          </a:p>
          <a:p>
            <a:pPr algn="ctr"/>
            <a:endParaRPr lang="en-ID" sz="2400" dirty="0"/>
          </a:p>
          <a:p>
            <a:pPr algn="ctr"/>
            <a:endParaRPr lang="en-ID" sz="2400" dirty="0" smtClean="0"/>
          </a:p>
          <a:p>
            <a:pPr algn="ctr"/>
            <a:endParaRPr lang="en-ID" sz="2400" dirty="0"/>
          </a:p>
          <a:p>
            <a:pPr algn="ctr"/>
            <a:endParaRPr lang="en-ID" sz="2400" dirty="0" smtClean="0"/>
          </a:p>
          <a:p>
            <a:pPr algn="ctr"/>
            <a:endParaRPr lang="en-ID" sz="2400" dirty="0"/>
          </a:p>
          <a:p>
            <a:pPr algn="ctr"/>
            <a:endParaRPr lang="en-ID" sz="2400" dirty="0" smtClean="0"/>
          </a:p>
          <a:p>
            <a:pPr algn="ctr"/>
            <a:endParaRPr lang="en-ID" sz="2800" dirty="0" smtClean="0"/>
          </a:p>
          <a:p>
            <a:pPr algn="ctr"/>
            <a:endParaRPr lang="en-ID" sz="2800" dirty="0"/>
          </a:p>
          <a:p>
            <a:pPr algn="ctr"/>
            <a:endParaRPr lang="en-ID" sz="2800" dirty="0" smtClean="0"/>
          </a:p>
          <a:p>
            <a:pPr algn="ctr"/>
            <a:endParaRPr lang="en-ID" sz="2800" dirty="0"/>
          </a:p>
          <a:p>
            <a:pPr algn="ctr"/>
            <a:r>
              <a:rPr lang="en-ID" sz="2800" dirty="0" smtClean="0"/>
              <a:t>Name </a:t>
            </a:r>
            <a:r>
              <a:rPr lang="en-ID" sz="2800" dirty="0"/>
              <a:t>: </a:t>
            </a:r>
            <a:r>
              <a:rPr lang="en-ID" sz="2800" dirty="0" err="1" smtClean="0"/>
              <a:t>Kanav</a:t>
            </a:r>
            <a:r>
              <a:rPr lang="en-ID" sz="2800" dirty="0" smtClean="0"/>
              <a:t> </a:t>
            </a:r>
            <a:r>
              <a:rPr lang="en-ID" sz="2800" dirty="0" err="1" smtClean="0"/>
              <a:t>Goyal</a:t>
            </a:r>
            <a:endParaRPr lang="en-ID" sz="2800" dirty="0" smtClean="0"/>
          </a:p>
          <a:p>
            <a:pPr algn="ctr"/>
            <a:r>
              <a:rPr lang="en-ID" sz="2800" dirty="0" smtClean="0"/>
              <a:t>Salary code : 41025936</a:t>
            </a:r>
          </a:p>
          <a:p>
            <a:pPr algn="ctr"/>
            <a:r>
              <a:rPr lang="en-ID" sz="2800" dirty="0" smtClean="0"/>
              <a:t>SID : 23103092</a:t>
            </a:r>
            <a:endParaRPr lang="en-ID" sz="28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xmlns="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3851836" cy="1437972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xmlns="" id="{EF13015C-E884-4625-9DF9-3D67995D337B}"/>
              </a:ext>
            </a:extLst>
          </p:cNvPr>
          <p:cNvSpPr>
            <a:spLocks/>
          </p:cNvSpPr>
          <p:nvPr/>
        </p:nvSpPr>
        <p:spPr bwMode="auto">
          <a:xfrm>
            <a:off x="8208406" y="5862299"/>
            <a:ext cx="6421994" cy="2367301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4"/>
          <a:stretch/>
        </p:blipFill>
        <p:spPr>
          <a:xfrm>
            <a:off x="10670311" y="-63929"/>
            <a:ext cx="3960089" cy="7829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F9BF24C-E1E2-24BE-F53A-7447E7BD7F0C}"/>
              </a:ext>
            </a:extLst>
          </p:cNvPr>
          <p:cNvSpPr txBox="1"/>
          <p:nvPr/>
        </p:nvSpPr>
        <p:spPr>
          <a:xfrm>
            <a:off x="2483218" y="718986"/>
            <a:ext cx="14776175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Petrona Bold" pitchFamily="34" charset="0"/>
              </a:rPr>
              <a:t>Internship Project Presentation </a:t>
            </a:r>
            <a:endParaRPr lang="en-US" sz="60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7380589-10D7-3805-27BC-7A17B3CE6FFF}"/>
              </a:ext>
            </a:extLst>
          </p:cNvPr>
          <p:cNvSpPr txBox="1"/>
          <p:nvPr/>
        </p:nvSpPr>
        <p:spPr>
          <a:xfrm>
            <a:off x="2878230" y="1610125"/>
            <a:ext cx="10660352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</a:rPr>
              <a:t>Internship at Trident Limited</a:t>
            </a:r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2C569D0-36D1-5040-8CAC-3DB9E6F8E0D0}"/>
              </a:ext>
            </a:extLst>
          </p:cNvPr>
          <p:cNvSpPr txBox="1"/>
          <p:nvPr/>
        </p:nvSpPr>
        <p:spPr>
          <a:xfrm>
            <a:off x="304799" y="2581063"/>
            <a:ext cx="15017191" cy="55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50"/>
              </a:lnSpc>
            </a:pPr>
            <a:r>
              <a:rPr lang="en-US" sz="4400" dirty="0">
                <a:solidFill>
                  <a:schemeClr val="bg2"/>
                </a:solidFill>
              </a:rPr>
              <a:t>Industrial Web Application Development </a:t>
            </a:r>
            <a:r>
              <a:rPr lang="en-US" sz="4400" dirty="0" smtClean="0">
                <a:solidFill>
                  <a:schemeClr val="bg2"/>
                </a:solidFill>
              </a:rPr>
              <a:t>and   Server                             </a:t>
            </a:r>
            <a:endParaRPr lang="en-US" sz="44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5A599FE-0D4A-87AE-189C-991C4522B8DB}"/>
              </a:ext>
            </a:extLst>
          </p:cNvPr>
          <p:cNvSpPr txBox="1"/>
          <p:nvPr/>
        </p:nvSpPr>
        <p:spPr>
          <a:xfrm>
            <a:off x="231493" y="4429769"/>
            <a:ext cx="127924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Faculty coordinator: Dr. Shailendra Singh   </a:t>
            </a:r>
          </a:p>
          <a:p>
            <a:r>
              <a:rPr lang="en-US" sz="3200" dirty="0"/>
              <a:t>Industry coordinator : </a:t>
            </a:r>
            <a:r>
              <a:rPr lang="en-US" sz="3200" dirty="0" err="1"/>
              <a:t>Mr</a:t>
            </a:r>
            <a:r>
              <a:rPr lang="en-US" sz="3200" dirty="0"/>
              <a:t> Sonu </a:t>
            </a:r>
          </a:p>
          <a:p>
            <a:r>
              <a:rPr lang="en-US" sz="3200" dirty="0"/>
              <a:t>Industry Mentor : </a:t>
            </a:r>
            <a:r>
              <a:rPr lang="en-US" sz="3200" dirty="0" err="1"/>
              <a:t>Mr</a:t>
            </a:r>
            <a:r>
              <a:rPr lang="en-US" sz="3200" dirty="0"/>
              <a:t> Gaurav Singla</a:t>
            </a:r>
            <a:endParaRPr lang="en-IN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A92F376-54E2-A6DF-2012-CB71B48B90D1}"/>
              </a:ext>
            </a:extLst>
          </p:cNvPr>
          <p:cNvSpPr txBox="1"/>
          <p:nvPr/>
        </p:nvSpPr>
        <p:spPr>
          <a:xfrm>
            <a:off x="3726180" y="3079262"/>
            <a:ext cx="115039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</a:rPr>
              <a:t>Monitoring System</a:t>
            </a:r>
            <a:endParaRPr lang="en-IN" sz="4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73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FE09754-534A-8A9B-4F29-BBBCC3B9E235}"/>
              </a:ext>
            </a:extLst>
          </p:cNvPr>
          <p:cNvSpPr txBox="1"/>
          <p:nvPr/>
        </p:nvSpPr>
        <p:spPr>
          <a:xfrm>
            <a:off x="1885950" y="1241388"/>
            <a:ext cx="1030224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50"/>
              </a:lnSpc>
            </a:pPr>
            <a:r>
              <a:rPr lang="en-US" sz="6300" dirty="0"/>
              <a:t>The Projects </a:t>
            </a:r>
            <a:r>
              <a:rPr lang="en-US" sz="6300" dirty="0" smtClean="0"/>
              <a:t>Assigned</a:t>
            </a:r>
            <a:r>
              <a:rPr lang="en-US" sz="6300" dirty="0" smtClean="0"/>
              <a:t> at </a:t>
            </a:r>
          </a:p>
          <a:p>
            <a:pPr>
              <a:lnSpc>
                <a:spcPts val="3250"/>
              </a:lnSpc>
            </a:pPr>
            <a:endParaRPr lang="en-US" sz="6300" dirty="0" smtClean="0"/>
          </a:p>
          <a:p>
            <a:pPr>
              <a:lnSpc>
                <a:spcPts val="3250"/>
              </a:lnSpc>
            </a:pPr>
            <a:r>
              <a:rPr lang="en-US" sz="6300" dirty="0" smtClean="0"/>
              <a:t>T</a:t>
            </a:r>
            <a:r>
              <a:rPr lang="en-US" sz="6300" dirty="0" smtClean="0"/>
              <a:t>rident :</a:t>
            </a:r>
            <a:endParaRPr lang="en-US" sz="63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4477A49-5ACE-2FCF-D830-47A1B9E49A34}"/>
              </a:ext>
            </a:extLst>
          </p:cNvPr>
          <p:cNvSpPr txBox="1"/>
          <p:nvPr/>
        </p:nvSpPr>
        <p:spPr>
          <a:xfrm>
            <a:off x="2205990" y="3526885"/>
            <a:ext cx="9662160" cy="18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250"/>
              </a:lnSpc>
              <a:buAutoNum type="arabicParenR"/>
            </a:pPr>
            <a:r>
              <a:rPr lang="en-US" sz="5400" dirty="0">
                <a:solidFill>
                  <a:schemeClr val="accent1"/>
                </a:solidFill>
              </a:rPr>
              <a:t>Server Monitoring System </a:t>
            </a:r>
          </a:p>
          <a:p>
            <a:pPr marL="342900" indent="-342900">
              <a:lnSpc>
                <a:spcPts val="3250"/>
              </a:lnSpc>
              <a:buAutoNum type="arabicParenR"/>
            </a:pPr>
            <a:endParaRPr lang="en-US" sz="5400" dirty="0">
              <a:solidFill>
                <a:schemeClr val="accent1"/>
              </a:solidFill>
            </a:endParaRPr>
          </a:p>
          <a:p>
            <a:pPr marL="342900" indent="-342900">
              <a:lnSpc>
                <a:spcPts val="3250"/>
              </a:lnSpc>
              <a:buAutoNum type="arabicParenR"/>
            </a:pPr>
            <a:endParaRPr lang="en-US" sz="5400" dirty="0">
              <a:solidFill>
                <a:schemeClr val="accent1"/>
              </a:solidFill>
            </a:endParaRPr>
          </a:p>
          <a:p>
            <a:pPr marL="342900" indent="-342900">
              <a:lnSpc>
                <a:spcPts val="3250"/>
              </a:lnSpc>
              <a:buAutoNum type="arabicParenR"/>
            </a:pPr>
            <a:r>
              <a:rPr lang="en-US" sz="5400" dirty="0">
                <a:solidFill>
                  <a:schemeClr val="accent1"/>
                </a:solidFill>
              </a:rPr>
              <a:t>Energy Production Data Entry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4"/>
          <a:stretch/>
        </p:blipFill>
        <p:spPr>
          <a:xfrm>
            <a:off x="11500104" y="-168451"/>
            <a:ext cx="3255264" cy="982820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3166278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672" y="98893"/>
            <a:ext cx="3204766" cy="4928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893801" y="7620000"/>
            <a:ext cx="1602383" cy="495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xmlns="" id="{EF13015C-E884-4625-9DF9-3D67995D337B}"/>
              </a:ext>
            </a:extLst>
          </p:cNvPr>
          <p:cNvSpPr>
            <a:spLocks/>
          </p:cNvSpPr>
          <p:nvPr/>
        </p:nvSpPr>
        <p:spPr bwMode="auto">
          <a:xfrm>
            <a:off x="11120796" y="6281399"/>
            <a:ext cx="3546009" cy="1948201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00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3545" y="1191458"/>
            <a:ext cx="7606427" cy="697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Server Monitoring Dashboard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43545" y="1968103"/>
            <a:ext cx="3346252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Statement: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43545" y="2684859"/>
            <a:ext cx="765690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manage multiple servers across different departments, but manual monitoring is time-consuming and inefficient. Without a centralized system to monitor real-time server health, failures are detected too late, affecting operations and causing critical data loss.</a:t>
            </a:r>
            <a:endParaRPr lang="en-US" sz="2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53" y="5225534"/>
            <a:ext cx="348496" cy="2788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16856" y="5218152"/>
            <a:ext cx="3429476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Trident-Specific Challenge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1516856" y="5765602"/>
            <a:ext cx="6671191" cy="98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servers across Paper Production, Sheeting, Towel, and Energy &amp; Chemicals departments. When servers go down, data fails to transfer to the database, disrupting operations.</a:t>
            </a:r>
            <a:endParaRPr lang="en-US" sz="1650" dirty="0"/>
          </a:p>
        </p:txBody>
      </p:sp>
      <p:sp>
        <p:nvSpPr>
          <p:cNvPr id="11" name="Freeform 10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-66283" y="0"/>
            <a:ext cx="3166278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672" y="345296"/>
            <a:ext cx="3204766" cy="4928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18949" y="1230154"/>
            <a:ext cx="4714399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1118949" y="2032754"/>
            <a:ext cx="6125051" cy="1135023"/>
          </a:xfrm>
          <a:prstGeom prst="roundRect">
            <a:avLst>
              <a:gd name="adj" fmla="val 664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6116" y="2219920"/>
            <a:ext cx="2972514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Centralized Dashboard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6116" y="2658785"/>
            <a:ext cx="5750719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web-based interface for server monitoring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386161" y="2032754"/>
            <a:ext cx="6125170" cy="1135023"/>
          </a:xfrm>
          <a:prstGeom prst="roundRect">
            <a:avLst>
              <a:gd name="adj" fmla="val 664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73327" y="2219920"/>
            <a:ext cx="3679269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Automated Ping Mechanism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73327" y="2658785"/>
            <a:ext cx="5750838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check server availability using ping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18949" y="3309938"/>
            <a:ext cx="6125051" cy="1135023"/>
          </a:xfrm>
          <a:prstGeom prst="roundRect">
            <a:avLst>
              <a:gd name="adj" fmla="val 664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06116" y="3497104"/>
            <a:ext cx="3255645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Status Display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06116" y="3935968"/>
            <a:ext cx="5750719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UP/DOWN status in real-time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86161" y="3309938"/>
            <a:ext cx="6125170" cy="1135023"/>
          </a:xfrm>
          <a:prstGeom prst="roundRect">
            <a:avLst>
              <a:gd name="adj" fmla="val 664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73327" y="3497104"/>
            <a:ext cx="2828687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Reliability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573327" y="3935968"/>
            <a:ext cx="5750838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database connection failures gracefully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1118949" y="4587121"/>
            <a:ext cx="6125051" cy="1135023"/>
          </a:xfrm>
          <a:prstGeom prst="roundRect">
            <a:avLst>
              <a:gd name="adj" fmla="val 664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06116" y="4774287"/>
            <a:ext cx="2888575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Connectivity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06116" y="5213152"/>
            <a:ext cx="5750719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dynamic database connections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386161" y="4587121"/>
            <a:ext cx="6125170" cy="1135023"/>
          </a:xfrm>
          <a:prstGeom prst="roundRect">
            <a:avLst>
              <a:gd name="adj" fmla="val 664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73327" y="4774287"/>
            <a:ext cx="2828687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Search &amp; Filter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573327" y="5213152"/>
            <a:ext cx="5750838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easy data analysis capabilities</a:t>
            </a:r>
            <a:endParaRPr lang="en-US" sz="1750" dirty="0"/>
          </a:p>
        </p:txBody>
      </p:sp>
      <p:sp>
        <p:nvSpPr>
          <p:cNvPr id="22" name="Shape 19"/>
          <p:cNvSpPr/>
          <p:nvPr/>
        </p:nvSpPr>
        <p:spPr>
          <a:xfrm>
            <a:off x="1118949" y="5864304"/>
            <a:ext cx="6125051" cy="1135023"/>
          </a:xfrm>
          <a:prstGeom prst="roundRect">
            <a:avLst>
              <a:gd name="adj" fmla="val 664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06116" y="6051471"/>
            <a:ext cx="2964894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Automated Scheduling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306116" y="6490335"/>
            <a:ext cx="5750719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monitoring automatically on schedule</a:t>
            </a:r>
            <a:endParaRPr lang="en-US" sz="1750" dirty="0"/>
          </a:p>
        </p:txBody>
      </p:sp>
      <p:sp>
        <p:nvSpPr>
          <p:cNvPr id="25" name="Shape 22"/>
          <p:cNvSpPr/>
          <p:nvPr/>
        </p:nvSpPr>
        <p:spPr>
          <a:xfrm>
            <a:off x="7386161" y="5864304"/>
            <a:ext cx="6125170" cy="1135023"/>
          </a:xfrm>
          <a:prstGeom prst="roundRect">
            <a:avLst>
              <a:gd name="adj" fmla="val 6646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73327" y="6051471"/>
            <a:ext cx="2923342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Efficiency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573327" y="6490335"/>
            <a:ext cx="5750838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manual effort and increase productivity</a:t>
            </a:r>
            <a:endParaRPr lang="en-US" sz="17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4"/>
          <a:stretch/>
        </p:blipFill>
        <p:spPr>
          <a:xfrm>
            <a:off x="11500104" y="-168451"/>
            <a:ext cx="3255264" cy="982820"/>
          </a:xfrm>
          <a:prstGeom prst="rect">
            <a:avLst/>
          </a:prstGeom>
        </p:spPr>
      </p:pic>
      <p:sp>
        <p:nvSpPr>
          <p:cNvPr id="29" name="Freeform 28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3166278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672" y="98893"/>
            <a:ext cx="3204766" cy="4928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363450" y="7696200"/>
            <a:ext cx="22669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reeform 9">
            <a:extLst>
              <a:ext uri="{FF2B5EF4-FFF2-40B4-BE49-F238E27FC236}">
                <a16:creationId xmlns:a16="http://schemas.microsoft.com/office/drawing/2014/main" xmlns="" id="{EF13015C-E884-4625-9DF9-3D67995D337B}"/>
              </a:ext>
            </a:extLst>
          </p:cNvPr>
          <p:cNvSpPr>
            <a:spLocks/>
          </p:cNvSpPr>
          <p:nvPr/>
        </p:nvSpPr>
        <p:spPr bwMode="auto">
          <a:xfrm>
            <a:off x="11084390" y="6281399"/>
            <a:ext cx="3546009" cy="1948201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13171" y="452199"/>
            <a:ext cx="5042059" cy="630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Interface</a:t>
            </a:r>
            <a:endParaRPr lang="en-US" sz="4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2" y="1303638"/>
            <a:ext cx="9577388" cy="4005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2" y="5431845"/>
            <a:ext cx="9844088" cy="279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4"/>
          <a:stretch/>
        </p:blipFill>
        <p:spPr>
          <a:xfrm>
            <a:off x="11500104" y="-168451"/>
            <a:ext cx="3255264" cy="98282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3166278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672" y="98893"/>
            <a:ext cx="3204766" cy="4928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809055" y="7734300"/>
            <a:ext cx="1821345" cy="361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xmlns="" id="{EF13015C-E884-4625-9DF9-3D67995D337B}"/>
              </a:ext>
            </a:extLst>
          </p:cNvPr>
          <p:cNvSpPr>
            <a:spLocks/>
          </p:cNvSpPr>
          <p:nvPr/>
        </p:nvSpPr>
        <p:spPr bwMode="auto">
          <a:xfrm>
            <a:off x="11084391" y="6281399"/>
            <a:ext cx="3546009" cy="1948201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33857" y="726877"/>
            <a:ext cx="4550926" cy="568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Workflow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333857" y="1348621"/>
            <a:ext cx="5191363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1)Server details are stored in the database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333857" y="1742837"/>
            <a:ext cx="6458903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2)Python-based monitoring script runs periodically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333857" y="2137053"/>
            <a:ext cx="4539972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3)Sends ping requests to each server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333857" y="2531269"/>
            <a:ext cx="4948118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4)Determines server status (UP/DOWN)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333857" y="2925485"/>
            <a:ext cx="2910602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5)Updates the database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333857" y="3319701"/>
            <a:ext cx="6822281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6)Flask backend fetches updated data on every request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333857" y="3713917"/>
            <a:ext cx="9468564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7)Dashboard displays real-time server information with search and filtering</a:t>
            </a:r>
            <a:endParaRPr lang="en-US" sz="2150" dirty="0"/>
          </a:p>
        </p:txBody>
      </p:sp>
      <p:sp>
        <p:nvSpPr>
          <p:cNvPr id="11" name="Shape 8"/>
          <p:cNvSpPr/>
          <p:nvPr/>
        </p:nvSpPr>
        <p:spPr>
          <a:xfrm>
            <a:off x="1333857" y="4340547"/>
            <a:ext cx="11962567" cy="29289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333857" y="4518898"/>
            <a:ext cx="11962567" cy="1409819"/>
          </a:xfrm>
          <a:prstGeom prst="roundRect">
            <a:avLst>
              <a:gd name="adj" fmla="val 5165"/>
            </a:avLst>
          </a:prstGeom>
          <a:solidFill>
            <a:srgbClr val="B3E5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212" y="4701183"/>
            <a:ext cx="284321" cy="2275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4888" y="4694634"/>
            <a:ext cx="278725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Optimization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1964888" y="5111353"/>
            <a:ext cx="11158180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python ping check script uses multi-threading to ping multiple servers simultaneously, which reduces total execution time significantly.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1333857" y="6077783"/>
            <a:ext cx="3899178" cy="646271"/>
          </a:xfrm>
          <a:prstGeom prst="roundRect">
            <a:avLst>
              <a:gd name="adj" fmla="val 112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514832" y="6258758"/>
            <a:ext cx="227540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Scheduler.      ——&gt;</a:t>
            </a:r>
            <a:endParaRPr lang="en-US" sz="1750" dirty="0"/>
          </a:p>
        </p:txBody>
      </p:sp>
      <p:sp>
        <p:nvSpPr>
          <p:cNvPr id="18" name="Shape 14"/>
          <p:cNvSpPr/>
          <p:nvPr/>
        </p:nvSpPr>
        <p:spPr>
          <a:xfrm>
            <a:off x="5365433" y="6077783"/>
            <a:ext cx="3899297" cy="646271"/>
          </a:xfrm>
          <a:prstGeom prst="roundRect">
            <a:avLst>
              <a:gd name="adj" fmla="val 112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46408" y="6258758"/>
            <a:ext cx="2439591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 Script.         ——&gt;</a:t>
            </a:r>
            <a:endParaRPr lang="en-US" sz="1750" dirty="0"/>
          </a:p>
        </p:txBody>
      </p:sp>
      <p:sp>
        <p:nvSpPr>
          <p:cNvPr id="20" name="Shape 16"/>
          <p:cNvSpPr/>
          <p:nvPr/>
        </p:nvSpPr>
        <p:spPr>
          <a:xfrm>
            <a:off x="9397127" y="6077783"/>
            <a:ext cx="3899297" cy="646271"/>
          </a:xfrm>
          <a:prstGeom prst="roundRect">
            <a:avLst>
              <a:gd name="adj" fmla="val 112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578102" y="6258758"/>
            <a:ext cx="227540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Ping Servers.        ——&gt;</a:t>
            </a:r>
            <a:endParaRPr lang="en-US" sz="1750" dirty="0"/>
          </a:p>
        </p:txBody>
      </p:sp>
      <p:sp>
        <p:nvSpPr>
          <p:cNvPr id="22" name="Shape 18"/>
          <p:cNvSpPr/>
          <p:nvPr/>
        </p:nvSpPr>
        <p:spPr>
          <a:xfrm>
            <a:off x="1333857" y="6856452"/>
            <a:ext cx="3899178" cy="646271"/>
          </a:xfrm>
          <a:prstGeom prst="roundRect">
            <a:avLst>
              <a:gd name="adj" fmla="val 112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514832" y="7037427"/>
            <a:ext cx="271819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——&gt;       Update Database</a:t>
            </a:r>
            <a:endParaRPr lang="en-US" sz="1750" dirty="0"/>
          </a:p>
        </p:txBody>
      </p:sp>
      <p:sp>
        <p:nvSpPr>
          <p:cNvPr id="24" name="Shape 20"/>
          <p:cNvSpPr/>
          <p:nvPr/>
        </p:nvSpPr>
        <p:spPr>
          <a:xfrm>
            <a:off x="5365433" y="6856452"/>
            <a:ext cx="3899297" cy="646271"/>
          </a:xfrm>
          <a:prstGeom prst="roundRect">
            <a:avLst>
              <a:gd name="adj" fmla="val 112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46408" y="7037427"/>
            <a:ext cx="2343745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——&gt;               Flask API</a:t>
            </a:r>
            <a:endParaRPr lang="en-US" sz="1750" dirty="0"/>
          </a:p>
        </p:txBody>
      </p:sp>
      <p:sp>
        <p:nvSpPr>
          <p:cNvPr id="26" name="Shape 22"/>
          <p:cNvSpPr/>
          <p:nvPr/>
        </p:nvSpPr>
        <p:spPr>
          <a:xfrm>
            <a:off x="9397127" y="6856452"/>
            <a:ext cx="3899297" cy="646271"/>
          </a:xfrm>
          <a:prstGeom prst="roundRect">
            <a:avLst>
              <a:gd name="adj" fmla="val 112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578102" y="7037427"/>
            <a:ext cx="2649022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——&gt;             Dashboard UI</a:t>
            </a:r>
            <a:endParaRPr lang="en-US" sz="17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4"/>
          <a:stretch/>
        </p:blipFill>
        <p:spPr>
          <a:xfrm>
            <a:off x="11500104" y="-168451"/>
            <a:ext cx="3255264" cy="982820"/>
          </a:xfrm>
          <a:prstGeom prst="rect">
            <a:avLst/>
          </a:prstGeom>
        </p:spPr>
      </p:pic>
      <p:sp>
        <p:nvSpPr>
          <p:cNvPr id="29" name="Freeform 28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2873930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672" y="98893"/>
            <a:ext cx="3204766" cy="49280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2809055" y="7639050"/>
            <a:ext cx="1821345" cy="590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xmlns="" id="{EF13015C-E884-4625-9DF9-3D67995D337B}"/>
              </a:ext>
            </a:extLst>
          </p:cNvPr>
          <p:cNvSpPr>
            <a:spLocks/>
          </p:cNvSpPr>
          <p:nvPr/>
        </p:nvSpPr>
        <p:spPr bwMode="auto">
          <a:xfrm>
            <a:off x="12515850" y="6312573"/>
            <a:ext cx="2114550" cy="1948201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04148"/>
            <a:ext cx="664606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Technologies &amp; Features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2115383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Technologies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93790" y="2788801"/>
            <a:ext cx="6244709" cy="389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programming language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backend framework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CSS, JavaScript frontend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 database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PyODBC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connectivity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 Task Scheduler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Threading (for parallel execution)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599521" y="2115383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599521" y="2788801"/>
            <a:ext cx="6244709" cy="455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UP/DOWN status visualization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count display along with Business-wise filtering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 IP or server name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server status checking using </a:t>
            </a:r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multi-threading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delay in dashboard updates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background execution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Auto-refresh data mechanism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4"/>
          <a:stretch/>
        </p:blipFill>
        <p:spPr>
          <a:xfrm>
            <a:off x="11500104" y="-168451"/>
            <a:ext cx="3255264" cy="98282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3166278" cy="81436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672" y="98893"/>
            <a:ext cx="3204766" cy="4928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809055" y="7653680"/>
            <a:ext cx="1821345" cy="575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xmlns="" id="{EF13015C-E884-4625-9DF9-3D67995D337B}"/>
              </a:ext>
            </a:extLst>
          </p:cNvPr>
          <p:cNvSpPr>
            <a:spLocks/>
          </p:cNvSpPr>
          <p:nvPr/>
        </p:nvSpPr>
        <p:spPr bwMode="auto">
          <a:xfrm>
            <a:off x="11084391" y="6281399"/>
            <a:ext cx="3546009" cy="1948201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65803" y="689491"/>
            <a:ext cx="6147911" cy="724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&amp; Solutions</a:t>
            </a:r>
            <a:endParaRPr lang="en-US" sz="4550" dirty="0"/>
          </a:p>
        </p:txBody>
      </p:sp>
      <p:sp>
        <p:nvSpPr>
          <p:cNvPr id="4" name="Shape 1"/>
          <p:cNvSpPr/>
          <p:nvPr/>
        </p:nvSpPr>
        <p:spPr>
          <a:xfrm>
            <a:off x="773073" y="2008703"/>
            <a:ext cx="4218027" cy="3052167"/>
          </a:xfrm>
          <a:prstGeom prst="roundRect">
            <a:avLst>
              <a:gd name="adj" fmla="val 479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73073" y="1978223"/>
            <a:ext cx="4218027" cy="121920"/>
          </a:xfrm>
          <a:prstGeom prst="roundRect">
            <a:avLst>
              <a:gd name="adj" fmla="val 76097"/>
            </a:avLst>
          </a:prstGeom>
          <a:solidFill>
            <a:srgbClr val="007EBD"/>
          </a:solidFill>
          <a:ln/>
        </p:spPr>
      </p:sp>
      <p:sp>
        <p:nvSpPr>
          <p:cNvPr id="6" name="Shape 3"/>
          <p:cNvSpPr/>
          <p:nvPr/>
        </p:nvSpPr>
        <p:spPr>
          <a:xfrm>
            <a:off x="2550735" y="1677472"/>
            <a:ext cx="662583" cy="662583"/>
          </a:xfrm>
          <a:prstGeom prst="roundRect">
            <a:avLst>
              <a:gd name="adj" fmla="val 138005"/>
            </a:avLst>
          </a:prstGeom>
          <a:solidFill>
            <a:srgbClr val="007EBD"/>
          </a:solidFill>
          <a:ln/>
        </p:spPr>
      </p:sp>
      <p:sp>
        <p:nvSpPr>
          <p:cNvPr id="7" name="Text 4"/>
          <p:cNvSpPr/>
          <p:nvPr/>
        </p:nvSpPr>
        <p:spPr>
          <a:xfrm>
            <a:off x="1024414" y="2560915"/>
            <a:ext cx="3715345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Connection Timeout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024414" y="3414593"/>
            <a:ext cx="3715345" cy="139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fresh database connection for each API call and added error handling with retry mechanism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06127" y="2008703"/>
            <a:ext cx="4218027" cy="3052167"/>
          </a:xfrm>
          <a:prstGeom prst="roundRect">
            <a:avLst>
              <a:gd name="adj" fmla="val 479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206127" y="1978223"/>
            <a:ext cx="4218027" cy="121920"/>
          </a:xfrm>
          <a:prstGeom prst="roundRect">
            <a:avLst>
              <a:gd name="adj" fmla="val 76097"/>
            </a:avLst>
          </a:prstGeom>
          <a:solidFill>
            <a:srgbClr val="007EBD"/>
          </a:solidFill>
          <a:ln/>
        </p:spPr>
      </p:sp>
      <p:sp>
        <p:nvSpPr>
          <p:cNvPr id="11" name="Shape 8"/>
          <p:cNvSpPr/>
          <p:nvPr/>
        </p:nvSpPr>
        <p:spPr>
          <a:xfrm>
            <a:off x="6983790" y="1677472"/>
            <a:ext cx="662583" cy="662583"/>
          </a:xfrm>
          <a:prstGeom prst="roundRect">
            <a:avLst>
              <a:gd name="adj" fmla="val 138005"/>
            </a:avLst>
          </a:prstGeom>
          <a:solidFill>
            <a:srgbClr val="007EBD"/>
          </a:solidFill>
          <a:ln/>
        </p:spPr>
      </p:sp>
      <p:sp>
        <p:nvSpPr>
          <p:cNvPr id="12" name="Text 9"/>
          <p:cNvSpPr/>
          <p:nvPr/>
        </p:nvSpPr>
        <p:spPr>
          <a:xfrm>
            <a:off x="5716072" y="2560915"/>
            <a:ext cx="3198019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Incorrect Status Display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457468" y="3052286"/>
            <a:ext cx="3715345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accurate real-time data fetching and proper status determination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39181" y="2008703"/>
            <a:ext cx="4218146" cy="3052167"/>
          </a:xfrm>
          <a:prstGeom prst="roundRect">
            <a:avLst>
              <a:gd name="adj" fmla="val 479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639181" y="1978223"/>
            <a:ext cx="4218146" cy="121920"/>
          </a:xfrm>
          <a:prstGeom prst="roundRect">
            <a:avLst>
              <a:gd name="adj" fmla="val 76097"/>
            </a:avLst>
          </a:prstGeom>
          <a:solidFill>
            <a:srgbClr val="007EBD"/>
          </a:solidFill>
          <a:ln/>
        </p:spPr>
      </p:sp>
      <p:sp>
        <p:nvSpPr>
          <p:cNvPr id="16" name="Shape 13"/>
          <p:cNvSpPr/>
          <p:nvPr/>
        </p:nvSpPr>
        <p:spPr>
          <a:xfrm>
            <a:off x="11416963" y="1677472"/>
            <a:ext cx="662583" cy="662583"/>
          </a:xfrm>
          <a:prstGeom prst="roundRect">
            <a:avLst>
              <a:gd name="adj" fmla="val 138005"/>
            </a:avLst>
          </a:prstGeom>
          <a:solidFill>
            <a:srgbClr val="007EBD"/>
          </a:solidFill>
          <a:ln/>
        </p:spPr>
      </p:sp>
      <p:sp>
        <p:nvSpPr>
          <p:cNvPr id="17" name="Text 14"/>
          <p:cNvSpPr/>
          <p:nvPr/>
        </p:nvSpPr>
        <p:spPr>
          <a:xfrm>
            <a:off x="10236279" y="2560915"/>
            <a:ext cx="3023830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Auto-Reconnection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890522" y="3052286"/>
            <a:ext cx="3715464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automatic reconnection logic to maintain continuous monitoring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73073" y="5607129"/>
            <a:ext cx="6434614" cy="1992392"/>
          </a:xfrm>
          <a:prstGeom prst="roundRect">
            <a:avLst>
              <a:gd name="adj" fmla="val 734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73073" y="5576649"/>
            <a:ext cx="6434614" cy="121920"/>
          </a:xfrm>
          <a:prstGeom prst="roundRect">
            <a:avLst>
              <a:gd name="adj" fmla="val 76097"/>
            </a:avLst>
          </a:prstGeom>
          <a:solidFill>
            <a:srgbClr val="007EBD"/>
          </a:solidFill>
          <a:ln/>
        </p:spPr>
      </p:sp>
      <p:sp>
        <p:nvSpPr>
          <p:cNvPr id="21" name="Shape 18"/>
          <p:cNvSpPr/>
          <p:nvPr/>
        </p:nvSpPr>
        <p:spPr>
          <a:xfrm>
            <a:off x="3659088" y="5275897"/>
            <a:ext cx="662583" cy="662583"/>
          </a:xfrm>
          <a:prstGeom prst="roundRect">
            <a:avLst>
              <a:gd name="adj" fmla="val 138005"/>
            </a:avLst>
          </a:prstGeom>
          <a:solidFill>
            <a:srgbClr val="007EBD"/>
          </a:solidFill>
          <a:ln/>
        </p:spPr>
      </p:sp>
      <p:sp>
        <p:nvSpPr>
          <p:cNvPr id="22" name="Text 19"/>
          <p:cNvSpPr/>
          <p:nvPr/>
        </p:nvSpPr>
        <p:spPr>
          <a:xfrm>
            <a:off x="2540794" y="6159341"/>
            <a:ext cx="2899172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Scheduler Issues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024414" y="6650712"/>
            <a:ext cx="5931932" cy="69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Configured Windows Task Scheduler properly for reliable automation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422713" y="5607129"/>
            <a:ext cx="6434614" cy="1992392"/>
          </a:xfrm>
          <a:prstGeom prst="roundRect">
            <a:avLst>
              <a:gd name="adj" fmla="val 734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422713" y="5576649"/>
            <a:ext cx="6434614" cy="121920"/>
          </a:xfrm>
          <a:prstGeom prst="roundRect">
            <a:avLst>
              <a:gd name="adj" fmla="val 76097"/>
            </a:avLst>
          </a:prstGeom>
          <a:solidFill>
            <a:srgbClr val="007EBD"/>
          </a:solidFill>
          <a:ln/>
        </p:spPr>
      </p:sp>
      <p:sp>
        <p:nvSpPr>
          <p:cNvPr id="26" name="Shape 23"/>
          <p:cNvSpPr/>
          <p:nvPr/>
        </p:nvSpPr>
        <p:spPr>
          <a:xfrm>
            <a:off x="10308729" y="5275897"/>
            <a:ext cx="662583" cy="662583"/>
          </a:xfrm>
          <a:prstGeom prst="roundRect">
            <a:avLst>
              <a:gd name="adj" fmla="val 138005"/>
            </a:avLst>
          </a:prstGeom>
          <a:solidFill>
            <a:srgbClr val="007EBD"/>
          </a:solidFill>
          <a:ln/>
        </p:spPr>
      </p:sp>
      <p:sp>
        <p:nvSpPr>
          <p:cNvPr id="27" name="Text 24"/>
          <p:cNvSpPr/>
          <p:nvPr/>
        </p:nvSpPr>
        <p:spPr>
          <a:xfrm>
            <a:off x="9190434" y="6159341"/>
            <a:ext cx="2899172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 Deployment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7674054" y="6650712"/>
            <a:ext cx="5931932" cy="69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Python script to EXE with proper path configuration</a:t>
            </a:r>
            <a:endParaRPr lang="en-US" sz="17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4"/>
          <a:stretch/>
        </p:blipFill>
        <p:spPr>
          <a:xfrm>
            <a:off x="11500104" y="-168451"/>
            <a:ext cx="3255264" cy="982820"/>
          </a:xfrm>
          <a:prstGeom prst="rect">
            <a:avLst/>
          </a:prstGeom>
        </p:spPr>
      </p:pic>
      <p:sp>
        <p:nvSpPr>
          <p:cNvPr id="30" name="Freeform 29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3166278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672" y="98893"/>
            <a:ext cx="3204766" cy="4928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809055" y="7599521"/>
            <a:ext cx="1821345" cy="630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xmlns="" id="{EF13015C-E884-4625-9DF9-3D67995D337B}"/>
              </a:ext>
            </a:extLst>
          </p:cNvPr>
          <p:cNvSpPr>
            <a:spLocks/>
          </p:cNvSpPr>
          <p:nvPr/>
        </p:nvSpPr>
        <p:spPr bwMode="auto">
          <a:xfrm>
            <a:off x="12141100" y="6281399"/>
            <a:ext cx="2540794" cy="1948201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3216" y="524107"/>
            <a:ext cx="11025822" cy="846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 smtClean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Energy </a:t>
            </a:r>
            <a:r>
              <a:rPr lang="en-US" sz="4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Production Data Entry Dashboard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1031822" y="1294827"/>
            <a:ext cx="12325361" cy="45719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145895" y="1485901"/>
            <a:ext cx="11477286" cy="1560763"/>
          </a:xfrm>
          <a:prstGeom prst="roundRect">
            <a:avLst>
              <a:gd name="adj" fmla="val 5867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1273216" y="1672683"/>
            <a:ext cx="4271405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 :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71321" y="2111266"/>
            <a:ext cx="11251859" cy="16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During my internship at Trident, I worked on an energy monitoring system where power generation data from multiple meters is recorded and stored in a centralized database to support operational decision-making.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3929" y="3284266"/>
            <a:ext cx="3804023" cy="696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4000" b="1" dirty="0">
              <a:solidFill>
                <a:srgbClr val="000000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      The</a:t>
            </a: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r>
              <a:rPr lang="en-US" sz="4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1273216" y="3858323"/>
            <a:ext cx="5863154" cy="39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meters frequently fail to send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ts val="1500"/>
              </a:lnSpc>
              <a:buSzPct val="100000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daily readings automatically.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Typically 2-3 meter readings are</a:t>
            </a:r>
          </a:p>
          <a:p>
            <a:pPr algn="l">
              <a:lnSpc>
                <a:spcPts val="1500"/>
              </a:lnSpc>
              <a:buSzPct val="100000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ts val="1500"/>
              </a:lnSpc>
              <a:buSzPct val="100000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missing each day.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lacks manual entry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ts val="1500"/>
              </a:lnSpc>
              <a:buSzPct val="100000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provisions; fields are locked.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on IT for manual</a:t>
            </a:r>
          </a:p>
          <a:p>
            <a:pPr algn="l">
              <a:lnSpc>
                <a:spcPts val="1500"/>
              </a:lnSpc>
              <a:buSzPct val="100000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ts val="1500"/>
              </a:lnSpc>
              <a:buSzPct val="100000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database updates.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Resulting in operational delays and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ts val="1500"/>
              </a:lnSpc>
              <a:buSzPct val="100000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increased data error risks.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395924" y="3284267"/>
            <a:ext cx="5863154" cy="4421226"/>
          </a:xfrm>
          <a:prstGeom prst="roundRect">
            <a:avLst>
              <a:gd name="adj" fmla="val 4102"/>
            </a:avLst>
          </a:prstGeom>
          <a:solidFill>
            <a:srgbClr val="E0F7FA">
              <a:alpha val="95000"/>
            </a:srgbClr>
          </a:solidFill>
          <a:ln/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Project Objectives</a:t>
            </a:r>
            <a:endParaRPr lang="en-US" sz="4000" dirty="0"/>
          </a:p>
          <a:p>
            <a:endParaRPr lang="en-IN" dirty="0"/>
          </a:p>
        </p:txBody>
      </p:sp>
      <p:sp>
        <p:nvSpPr>
          <p:cNvPr id="12" name="Text 9"/>
          <p:cNvSpPr/>
          <p:nvPr/>
        </p:nvSpPr>
        <p:spPr>
          <a:xfrm>
            <a:off x="7542371" y="4105394"/>
            <a:ext cx="2307550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542371" y="3858322"/>
            <a:ext cx="4794052" cy="3557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Manual Data Entry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Role-Based Access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Validation &amp; Quality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System Updates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Audit Trail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IT Dependency</a:t>
            </a:r>
            <a:endParaRPr lang="en-US" sz="20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4"/>
          <a:stretch/>
        </p:blipFill>
        <p:spPr>
          <a:xfrm>
            <a:off x="11500104" y="-168451"/>
            <a:ext cx="3255264" cy="982820"/>
          </a:xfrm>
          <a:prstGeom prst="rect">
            <a:avLst/>
          </a:prstGeom>
        </p:spPr>
      </p:pic>
      <p:sp>
        <p:nvSpPr>
          <p:cNvPr id="15" name="Freeform 14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3166278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sp>
        <p:nvSpPr>
          <p:cNvPr id="2" name="Rectangle 1"/>
          <p:cNvSpPr/>
          <p:nvPr/>
        </p:nvSpPr>
        <p:spPr>
          <a:xfrm>
            <a:off x="12801600" y="7562850"/>
            <a:ext cx="1676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xmlns="" id="{EF13015C-E884-4625-9DF9-3D67995D337B}"/>
              </a:ext>
            </a:extLst>
          </p:cNvPr>
          <p:cNvSpPr>
            <a:spLocks/>
          </p:cNvSpPr>
          <p:nvPr/>
        </p:nvSpPr>
        <p:spPr bwMode="auto">
          <a:xfrm>
            <a:off x="11084391" y="6281399"/>
            <a:ext cx="3546009" cy="1948201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1237786" y="448511"/>
            <a:ext cx="6314112" cy="693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r>
              <a:rPr lang="en-US" sz="4400" b="1" dirty="0" smtClean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  Proposed </a:t>
            </a: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Solution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 flipV="1">
            <a:off x="1237786" y="1142168"/>
            <a:ext cx="11586116" cy="62746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9074" y="1340004"/>
            <a:ext cx="4793396" cy="541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    Solution Overview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237786" y="1780940"/>
            <a:ext cx="11742234" cy="925948"/>
          </a:xfrm>
          <a:prstGeom prst="roundRect">
            <a:avLst>
              <a:gd name="adj" fmla="val 8222"/>
            </a:avLst>
          </a:prstGeom>
          <a:solidFill>
            <a:srgbClr val="B3E5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602" y="2878098"/>
            <a:ext cx="214432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9298" y="1964472"/>
            <a:ext cx="11307335" cy="813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web-based Energy Production Dashboard was developed using .NET framework and deployed over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IIS server within the Trident network.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087" y="2985854"/>
            <a:ext cx="4712137" cy="39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    Key Features Implemented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1237785" y="3459481"/>
            <a:ext cx="3820245" cy="1714685"/>
          </a:xfrm>
          <a:prstGeom prst="roundRect">
            <a:avLst>
              <a:gd name="adj" fmla="val 398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Shape 8"/>
          <p:cNvSpPr/>
          <p:nvPr/>
        </p:nvSpPr>
        <p:spPr>
          <a:xfrm>
            <a:off x="1420541" y="3527689"/>
            <a:ext cx="411718" cy="411718"/>
          </a:xfrm>
          <a:prstGeom prst="roundRect">
            <a:avLst>
              <a:gd name="adj" fmla="val 22207155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54368" y="3639314"/>
            <a:ext cx="185261" cy="1852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49298" y="4050146"/>
            <a:ext cx="3485170" cy="93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User-friendly interface for manual entry of missing meter readings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5166404" y="3449484"/>
            <a:ext cx="3912679" cy="1724682"/>
          </a:xfrm>
          <a:prstGeom prst="roundRect">
            <a:avLst>
              <a:gd name="adj" fmla="val 398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66404" y="3514935"/>
            <a:ext cx="411718" cy="411718"/>
          </a:xfrm>
          <a:prstGeom prst="roundRect">
            <a:avLst>
              <a:gd name="adj" fmla="val 22207155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6317" y="3625304"/>
            <a:ext cx="185261" cy="1852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8386" y="4038481"/>
            <a:ext cx="3668753" cy="1225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selection options for Plant (TE01, TE02, TE03), Date, and Shift.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9206747" y="3459504"/>
            <a:ext cx="3773274" cy="1714662"/>
          </a:xfrm>
          <a:prstGeom prst="roundRect">
            <a:avLst>
              <a:gd name="adj" fmla="val 398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311268" y="3556529"/>
            <a:ext cx="411718" cy="411718"/>
          </a:xfrm>
          <a:prstGeom prst="roundRect">
            <a:avLst>
              <a:gd name="adj" fmla="val 22207155"/>
            </a:avLst>
          </a:prstGeom>
          <a:solidFill>
            <a:srgbClr val="007EBD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4496" y="3669757"/>
            <a:ext cx="185261" cy="18526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311268" y="4050145"/>
            <a:ext cx="3668752" cy="121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integration for storing entries with a "Save All" functionality.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1237786" y="5443062"/>
            <a:ext cx="3976080" cy="411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Implementation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1237786" y="5995512"/>
            <a:ext cx="5910013" cy="160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ASP.NET (.NET)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6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IIS (Internet Information Services)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6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Microsoft SQL Server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sz="160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Secure database connectivity &amp; validation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7391400" y="5375464"/>
            <a:ext cx="5588620" cy="2229668"/>
          </a:xfrm>
          <a:prstGeom prst="roundRect">
            <a:avLst>
              <a:gd name="adj" fmla="val 6894"/>
            </a:avLst>
          </a:prstGeom>
          <a:solidFill>
            <a:srgbClr val="E0F7FA">
              <a:alpha val="9500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7528560" y="5584745"/>
            <a:ext cx="2564564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 &amp; Benefits</a:t>
            </a:r>
            <a:endParaRPr lang="en-US" sz="2400" dirty="0"/>
          </a:p>
        </p:txBody>
      </p:sp>
      <p:sp>
        <p:nvSpPr>
          <p:cNvPr id="27" name="Text 20"/>
          <p:cNvSpPr/>
          <p:nvPr/>
        </p:nvSpPr>
        <p:spPr>
          <a:xfrm>
            <a:off x="7528559" y="5995513"/>
            <a:ext cx="5206133" cy="150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Eliminated IT dependency for updates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 real-time manual data entry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operational downtime</a:t>
            </a:r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endParaRPr lang="en-US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overall system reliability</a:t>
            </a:r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3166278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672" y="98893"/>
            <a:ext cx="3204766" cy="492807"/>
          </a:xfrm>
          <a:prstGeom prst="rect">
            <a:avLst/>
          </a:prstGeom>
        </p:spPr>
      </p:pic>
      <p:sp>
        <p:nvSpPr>
          <p:cNvPr id="31" name="Freeform 30">
            <a:extLst>
              <a:ext uri="{FF2B5EF4-FFF2-40B4-BE49-F238E27FC236}">
                <a16:creationId xmlns:a16="http://schemas.microsoft.com/office/drawing/2014/main" xmlns="" id="{EF13015C-E884-4625-9DF9-3D67995D337B}"/>
              </a:ext>
            </a:extLst>
          </p:cNvPr>
          <p:cNvSpPr>
            <a:spLocks/>
          </p:cNvSpPr>
          <p:nvPr/>
        </p:nvSpPr>
        <p:spPr bwMode="auto">
          <a:xfrm>
            <a:off x="11145644" y="6281399"/>
            <a:ext cx="3546009" cy="1948201"/>
          </a:xfrm>
          <a:custGeom>
            <a:avLst/>
            <a:gdLst>
              <a:gd name="T0" fmla="*/ 1685 w 2016"/>
              <a:gd name="T1" fmla="*/ 0 h 744"/>
              <a:gd name="T2" fmla="*/ 0 w 2016"/>
              <a:gd name="T3" fmla="*/ 744 h 744"/>
              <a:gd name="T4" fmla="*/ 2016 w 2016"/>
              <a:gd name="T5" fmla="*/ 744 h 744"/>
              <a:gd name="T6" fmla="*/ 1685 w 2016"/>
              <a:gd name="T7" fmla="*/ 0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16" h="744">
                <a:moveTo>
                  <a:pt x="1685" y="0"/>
                </a:moveTo>
                <a:lnTo>
                  <a:pt x="0" y="744"/>
                </a:lnTo>
                <a:lnTo>
                  <a:pt x="2016" y="744"/>
                </a:lnTo>
                <a:lnTo>
                  <a:pt x="1685" y="0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3427" y="599718"/>
            <a:ext cx="10330696" cy="706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 smtClean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 Dashboard </a:t>
            </a: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Interface &amp; Implementation: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5" y="1534597"/>
            <a:ext cx="13648373" cy="59711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04"/>
          <a:stretch/>
        </p:blipFill>
        <p:spPr>
          <a:xfrm>
            <a:off x="11500104" y="-168451"/>
            <a:ext cx="3255264" cy="98282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3166278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5634" y="106911"/>
            <a:ext cx="3204766" cy="49280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2611100" y="7753350"/>
            <a:ext cx="2019300" cy="476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34" y="267628"/>
            <a:ext cx="13983629" cy="370220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34" y="4549232"/>
            <a:ext cx="14127666" cy="354608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D26F4A47-9C92-41C8-B9AA-0DCABA043242}"/>
              </a:ext>
            </a:extLst>
          </p:cNvPr>
          <p:cNvSpPr>
            <a:spLocks/>
          </p:cNvSpPr>
          <p:nvPr/>
        </p:nvSpPr>
        <p:spPr bwMode="auto">
          <a:xfrm>
            <a:off x="0" y="1"/>
            <a:ext cx="3166278" cy="1183398"/>
          </a:xfrm>
          <a:custGeom>
            <a:avLst/>
            <a:gdLst>
              <a:gd name="T0" fmla="*/ 249 w 1501"/>
              <a:gd name="T1" fmla="*/ 561 h 561"/>
              <a:gd name="T2" fmla="*/ 1501 w 1501"/>
              <a:gd name="T3" fmla="*/ 6 h 561"/>
              <a:gd name="T4" fmla="*/ 1499 w 1501"/>
              <a:gd name="T5" fmla="*/ 0 h 561"/>
              <a:gd name="T6" fmla="*/ 0 w 1501"/>
              <a:gd name="T7" fmla="*/ 0 h 561"/>
              <a:gd name="T8" fmla="*/ 249 w 1501"/>
              <a:gd name="T9" fmla="*/ 561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1" h="561">
                <a:moveTo>
                  <a:pt x="249" y="561"/>
                </a:moveTo>
                <a:lnTo>
                  <a:pt x="1501" y="6"/>
                </a:lnTo>
                <a:lnTo>
                  <a:pt x="1499" y="0"/>
                </a:lnTo>
                <a:lnTo>
                  <a:pt x="0" y="0"/>
                </a:lnTo>
                <a:lnTo>
                  <a:pt x="249" y="561"/>
                </a:lnTo>
                <a:close/>
              </a:path>
            </a:pathLst>
          </a:custGeom>
          <a:solidFill>
            <a:srgbClr val="FDB913"/>
          </a:solidFill>
          <a:ln>
            <a:noFill/>
          </a:ln>
          <a:effectLst>
            <a:outerShdw blurRad="431800" dist="50800" dir="5400000" algn="ctr" rotWithShape="0">
              <a:srgbClr val="000000">
                <a:alpha val="25000"/>
              </a:srgb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D" sz="135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9C7B44A-AD34-9D58-6374-8F3854056B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672" y="98893"/>
            <a:ext cx="3204766" cy="4928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40000" de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682</Words>
  <Application>Microsoft Office PowerPoint</Application>
  <PresentationFormat>Custom</PresentationFormat>
  <Paragraphs>178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Inter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INTERN LDH DEV</cp:lastModifiedBy>
  <cp:revision>23</cp:revision>
  <dcterms:created xsi:type="dcterms:W3CDTF">2026-03-18T15:25:23Z</dcterms:created>
  <dcterms:modified xsi:type="dcterms:W3CDTF">2026-04-09T10:59:01Z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2957659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S11.0.1</vt:lpwstr>
  </property>
</Properties>
</file>