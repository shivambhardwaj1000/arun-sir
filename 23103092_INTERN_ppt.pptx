
<file path=[Content_Types].xml><?xml version="1.0" encoding="utf-8"?>
<Types xmlns="http://schemas.openxmlformats.org/package/2006/content-types">
  <Default Extension="png" ContentType="image/png"/>
  <Default Extension="svg" ContentType="image/svg+xml"/>
  <Default Extension="jpeg" ContentType="image/jpeg"/>
  <Default Extension="emf" ContentType="image/x-emf"/>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68" r:id="rId2"/>
    <p:sldId id="267" r:id="rId3"/>
    <p:sldId id="256" r:id="rId4"/>
    <p:sldId id="257" r:id="rId5"/>
    <p:sldId id="259" r:id="rId6"/>
    <p:sldId id="260" r:id="rId7"/>
    <p:sldId id="261" r:id="rId8"/>
    <p:sldId id="262" r:id="rId9"/>
    <p:sldId id="263" r:id="rId10"/>
    <p:sldId id="269" r:id="rId11"/>
  </p:sldIdLst>
  <p:sldSz cx="14630400" cy="8229600"/>
  <p:notesSz cx="8229600" cy="14630400"/>
  <p:embeddedFontLst>
    <p:embeddedFont>
      <p:font typeface="Calibri" pitchFamily="34" charset="0"/>
      <p:regular r:id="rId13"/>
      <p:bold r:id="rId14"/>
      <p:italic r:id="rId15"/>
      <p:boldItalic r:id="rId16"/>
    </p:embeddedFont>
    <p:embeddedFont>
      <p:font typeface="Inter" charset="0"/>
      <p:regular r:id="rId17"/>
    </p:embeddedFont>
    <p:embeddedFont>
      <p:font typeface="Petrona Bold" charset="0"/>
      <p:bold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50" d="100"/>
          <a:sy n="50" d="100"/>
        </p:scale>
        <p:origin x="-1278" y="-786"/>
      </p:cViewPr>
      <p:guideLst>
        <p:guide orient="horz" pos="2592"/>
        <p:guide pos="460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02052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B050">
            <a:alpha val="98000"/>
          </a:srgbClr>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5.emf"/><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5.emf"/></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5.xml"/><Relationship Id="rId5" Type="http://schemas.openxmlformats.org/officeDocument/2006/relationships/image" Target="../media/image5.emf"/><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5.emf"/></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5.emf"/></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5.emf"/></Relationships>
</file>

<file path=ppt/slides/_rels/slide9.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9.xml"/><Relationship Id="rId11" Type="http://schemas.openxmlformats.org/officeDocument/2006/relationships/image" Target="../media/image5.emf"/><Relationship Id="rId5" Type="http://schemas.openxmlformats.org/officeDocument/2006/relationships/image" Target="../media/image11.png"/><Relationship Id="rId10" Type="http://schemas.openxmlformats.org/officeDocument/2006/relationships/image" Target="../media/image15.svg"/><Relationship Id="rId4" Type="http://schemas.openxmlformats.org/officeDocument/2006/relationships/image" Target="../media/image10.png"/><Relationship Id="rId9"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7"/>
          <p:cNvPicPr>
            <a:picLocks noChangeAspect="1"/>
          </p:cNvPicPr>
          <p:nvPr/>
        </p:nvPicPr>
        <p:blipFill>
          <a:blip r:embed="rId2">
            <a:extLst>
              <a:ext uri="{28A0092B-C50C-407E-A947-70E740481C1C}">
                <a14:useLocalDpi xmlns:a14="http://schemas.microsoft.com/office/drawing/2010/main" val="0"/>
              </a:ext>
            </a:extLst>
          </a:blip>
          <a:srcRect l="26098" r="26098"/>
          <a:stretch>
            <a:fillRect/>
          </a:stretch>
        </p:blipFill>
        <p:spPr>
          <a:xfrm>
            <a:off x="0" y="0"/>
            <a:ext cx="14831794" cy="8342884"/>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3" name="Rectangle 2">
            <a:extLst>
              <a:ext uri="{FF2B5EF4-FFF2-40B4-BE49-F238E27FC236}">
                <a16:creationId xmlns:a16="http://schemas.microsoft.com/office/drawing/2014/main" xmlns="" id="{2EC446C3-8EE6-4701-A530-2D2C5839A777}"/>
              </a:ext>
            </a:extLst>
          </p:cNvPr>
          <p:cNvSpPr/>
          <p:nvPr/>
        </p:nvSpPr>
        <p:spPr>
          <a:xfrm>
            <a:off x="0" y="-28380"/>
            <a:ext cx="14630400" cy="8371264"/>
          </a:xfrm>
          <a:prstGeom prst="rect">
            <a:avLst/>
          </a:prstGeom>
          <a:solidFill>
            <a:srgbClr val="0086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D" sz="2400" dirty="0" smtClean="0"/>
              <a:t>                                                                                                                                            </a:t>
            </a:r>
          </a:p>
          <a:p>
            <a:pPr algn="ctr"/>
            <a:endParaRPr lang="en-ID" sz="2400" dirty="0"/>
          </a:p>
          <a:p>
            <a:pPr algn="ctr"/>
            <a:endParaRPr lang="en-ID" sz="2400" dirty="0" smtClean="0"/>
          </a:p>
          <a:p>
            <a:pPr algn="ctr"/>
            <a:endParaRPr lang="en-ID" sz="2400" dirty="0"/>
          </a:p>
          <a:p>
            <a:pPr algn="ctr"/>
            <a:endParaRPr lang="en-ID" sz="2400" dirty="0" smtClean="0"/>
          </a:p>
          <a:p>
            <a:pPr algn="ctr"/>
            <a:endParaRPr lang="en-ID" sz="2400" dirty="0"/>
          </a:p>
          <a:p>
            <a:pPr algn="ctr"/>
            <a:endParaRPr lang="en-ID" sz="2400" dirty="0" smtClean="0"/>
          </a:p>
          <a:p>
            <a:pPr algn="ctr"/>
            <a:endParaRPr lang="en-ID" sz="2400" dirty="0"/>
          </a:p>
          <a:p>
            <a:pPr algn="ctr"/>
            <a:endParaRPr lang="en-ID" sz="2400" dirty="0" smtClean="0"/>
          </a:p>
          <a:p>
            <a:pPr algn="ctr"/>
            <a:endParaRPr lang="en-ID" sz="2400" dirty="0"/>
          </a:p>
          <a:p>
            <a:pPr algn="ctr"/>
            <a:endParaRPr lang="en-ID" sz="2400" dirty="0" smtClean="0"/>
          </a:p>
          <a:p>
            <a:pPr algn="ctr"/>
            <a:endParaRPr lang="en-ID" sz="2400" dirty="0"/>
          </a:p>
          <a:p>
            <a:pPr algn="ctr"/>
            <a:endParaRPr lang="en-ID" sz="2400" dirty="0" smtClean="0"/>
          </a:p>
          <a:p>
            <a:pPr algn="ctr"/>
            <a:endParaRPr lang="en-ID" sz="2800" dirty="0" smtClean="0"/>
          </a:p>
          <a:p>
            <a:pPr algn="ctr"/>
            <a:endParaRPr lang="en-ID" sz="2800" dirty="0"/>
          </a:p>
          <a:p>
            <a:pPr algn="ctr"/>
            <a:endParaRPr lang="en-ID" sz="2800" dirty="0" smtClean="0"/>
          </a:p>
          <a:p>
            <a:pPr algn="ctr"/>
            <a:endParaRPr lang="en-ID" sz="2800" dirty="0"/>
          </a:p>
          <a:p>
            <a:pPr algn="ctr"/>
            <a:r>
              <a:rPr lang="en-ID" sz="2800" dirty="0" smtClean="0"/>
              <a:t>Name </a:t>
            </a:r>
            <a:r>
              <a:rPr lang="en-ID" sz="2800" dirty="0"/>
              <a:t>: </a:t>
            </a:r>
            <a:r>
              <a:rPr lang="en-ID" sz="2800" dirty="0" err="1" smtClean="0"/>
              <a:t>Kanav</a:t>
            </a:r>
            <a:r>
              <a:rPr lang="en-ID" sz="2800" dirty="0" smtClean="0"/>
              <a:t> </a:t>
            </a:r>
            <a:r>
              <a:rPr lang="en-ID" sz="2800" dirty="0" err="1" smtClean="0"/>
              <a:t>Goyal</a:t>
            </a:r>
            <a:endParaRPr lang="en-ID" sz="2800" dirty="0" smtClean="0"/>
          </a:p>
          <a:p>
            <a:pPr algn="ctr"/>
            <a:r>
              <a:rPr lang="en-ID" sz="2800" dirty="0" smtClean="0"/>
              <a:t>Salary code : 41025936</a:t>
            </a:r>
          </a:p>
          <a:p>
            <a:pPr algn="ctr"/>
            <a:r>
              <a:rPr lang="en-ID" sz="2800" dirty="0" smtClean="0"/>
              <a:t>SID : 23103092</a:t>
            </a:r>
            <a:endParaRPr lang="en-ID" sz="2800" dirty="0"/>
          </a:p>
        </p:txBody>
      </p:sp>
      <p:sp>
        <p:nvSpPr>
          <p:cNvPr id="4" name="Freeform 3">
            <a:extLst>
              <a:ext uri="{FF2B5EF4-FFF2-40B4-BE49-F238E27FC236}">
                <a16:creationId xmlns:a16="http://schemas.microsoft.com/office/drawing/2014/main" xmlns="" id="{D26F4A47-9C92-41C8-B9AA-0DCABA043242}"/>
              </a:ext>
            </a:extLst>
          </p:cNvPr>
          <p:cNvSpPr>
            <a:spLocks/>
          </p:cNvSpPr>
          <p:nvPr/>
        </p:nvSpPr>
        <p:spPr bwMode="auto">
          <a:xfrm>
            <a:off x="0" y="0"/>
            <a:ext cx="3851836" cy="1437972"/>
          </a:xfrm>
          <a:custGeom>
            <a:avLst/>
            <a:gdLst>
              <a:gd name="T0" fmla="*/ 249 w 1501"/>
              <a:gd name="T1" fmla="*/ 561 h 561"/>
              <a:gd name="T2" fmla="*/ 1501 w 1501"/>
              <a:gd name="T3" fmla="*/ 6 h 561"/>
              <a:gd name="T4" fmla="*/ 1499 w 1501"/>
              <a:gd name="T5" fmla="*/ 0 h 561"/>
              <a:gd name="T6" fmla="*/ 0 w 1501"/>
              <a:gd name="T7" fmla="*/ 0 h 561"/>
              <a:gd name="T8" fmla="*/ 249 w 1501"/>
              <a:gd name="T9" fmla="*/ 561 h 561"/>
            </a:gdLst>
            <a:ahLst/>
            <a:cxnLst>
              <a:cxn ang="0">
                <a:pos x="T0" y="T1"/>
              </a:cxn>
              <a:cxn ang="0">
                <a:pos x="T2" y="T3"/>
              </a:cxn>
              <a:cxn ang="0">
                <a:pos x="T4" y="T5"/>
              </a:cxn>
              <a:cxn ang="0">
                <a:pos x="T6" y="T7"/>
              </a:cxn>
              <a:cxn ang="0">
                <a:pos x="T8" y="T9"/>
              </a:cxn>
            </a:cxnLst>
            <a:rect l="0" t="0" r="r" b="b"/>
            <a:pathLst>
              <a:path w="1501" h="561">
                <a:moveTo>
                  <a:pt x="249" y="561"/>
                </a:moveTo>
                <a:lnTo>
                  <a:pt x="1501" y="6"/>
                </a:lnTo>
                <a:lnTo>
                  <a:pt x="1499" y="0"/>
                </a:lnTo>
                <a:lnTo>
                  <a:pt x="0" y="0"/>
                </a:lnTo>
                <a:lnTo>
                  <a:pt x="249" y="561"/>
                </a:lnTo>
                <a:close/>
              </a:path>
            </a:pathLst>
          </a:custGeom>
          <a:solidFill>
            <a:srgbClr val="FDB913"/>
          </a:solidFill>
          <a:ln>
            <a:noFill/>
          </a:ln>
          <a:effectLst>
            <a:outerShdw blurRad="431800" dist="50800" dir="5400000" algn="ctr" rotWithShape="0">
              <a:srgbClr val="000000">
                <a:alpha val="25000"/>
              </a:srgbClr>
            </a:outerShdw>
          </a:effectLst>
        </p:spPr>
        <p:txBody>
          <a:bodyPr vert="horz" wrap="square" lIns="68580" tIns="34290" rIns="68580" bIns="34290" numCol="1" anchor="t" anchorCtr="0" compatLnSpc="1">
            <a:prstTxWarp prst="textNoShape">
              <a:avLst/>
            </a:prstTxWarp>
          </a:bodyPr>
          <a:lstStyle/>
          <a:p>
            <a:endParaRPr lang="en-ID" sz="1350"/>
          </a:p>
        </p:txBody>
      </p:sp>
      <p:sp>
        <p:nvSpPr>
          <p:cNvPr id="5" name="Freeform 9">
            <a:extLst>
              <a:ext uri="{FF2B5EF4-FFF2-40B4-BE49-F238E27FC236}">
                <a16:creationId xmlns:a16="http://schemas.microsoft.com/office/drawing/2014/main" xmlns="" id="{EF13015C-E884-4625-9DF9-3D67995D337B}"/>
              </a:ext>
            </a:extLst>
          </p:cNvPr>
          <p:cNvSpPr>
            <a:spLocks/>
          </p:cNvSpPr>
          <p:nvPr/>
        </p:nvSpPr>
        <p:spPr bwMode="auto">
          <a:xfrm>
            <a:off x="8208406" y="5862299"/>
            <a:ext cx="6421994" cy="2367301"/>
          </a:xfrm>
          <a:custGeom>
            <a:avLst/>
            <a:gdLst>
              <a:gd name="T0" fmla="*/ 1685 w 2016"/>
              <a:gd name="T1" fmla="*/ 0 h 744"/>
              <a:gd name="T2" fmla="*/ 0 w 2016"/>
              <a:gd name="T3" fmla="*/ 744 h 744"/>
              <a:gd name="T4" fmla="*/ 2016 w 2016"/>
              <a:gd name="T5" fmla="*/ 744 h 744"/>
              <a:gd name="T6" fmla="*/ 1685 w 2016"/>
              <a:gd name="T7" fmla="*/ 0 h 744"/>
            </a:gdLst>
            <a:ahLst/>
            <a:cxnLst>
              <a:cxn ang="0">
                <a:pos x="T0" y="T1"/>
              </a:cxn>
              <a:cxn ang="0">
                <a:pos x="T2" y="T3"/>
              </a:cxn>
              <a:cxn ang="0">
                <a:pos x="T4" y="T5"/>
              </a:cxn>
              <a:cxn ang="0">
                <a:pos x="T6" y="T7"/>
              </a:cxn>
            </a:cxnLst>
            <a:rect l="0" t="0" r="r" b="b"/>
            <a:pathLst>
              <a:path w="2016" h="744">
                <a:moveTo>
                  <a:pt x="1685" y="0"/>
                </a:moveTo>
                <a:lnTo>
                  <a:pt x="0" y="744"/>
                </a:lnTo>
                <a:lnTo>
                  <a:pt x="2016" y="744"/>
                </a:lnTo>
                <a:lnTo>
                  <a:pt x="1685" y="0"/>
                </a:lnTo>
                <a:close/>
              </a:path>
            </a:pathLst>
          </a:custGeom>
          <a:solidFill>
            <a:srgbClr val="FDB913"/>
          </a:solidFill>
          <a:ln>
            <a:noFill/>
          </a:ln>
          <a:effectLst>
            <a:outerShdw blurRad="431800" dist="50800" dir="5400000" algn="ctr" rotWithShape="0">
              <a:srgbClr val="000000">
                <a:alpha val="25000"/>
              </a:srgbClr>
            </a:outerShdw>
          </a:effectLst>
        </p:spPr>
        <p:txBody>
          <a:bodyPr vert="horz" wrap="square" lIns="68580" tIns="34290" rIns="68580" bIns="34290" numCol="1" anchor="t" anchorCtr="0" compatLnSpc="1">
            <a:prstTxWarp prst="textNoShape">
              <a:avLst/>
            </a:prstTxWarp>
          </a:bodyPr>
          <a:lstStyle/>
          <a:p>
            <a:endParaRPr lang="en-ID" sz="1350"/>
          </a:p>
        </p:txBody>
      </p:sp>
      <p:pic>
        <p:nvPicPr>
          <p:cNvPr id="6" name="Picture 5"/>
          <p:cNvPicPr>
            <a:picLocks noChangeAspect="1"/>
          </p:cNvPicPr>
          <p:nvPr/>
        </p:nvPicPr>
        <p:blipFill rotWithShape="1">
          <a:blip r:embed="rId3" cstate="print">
            <a:extLst>
              <a:ext uri="{28A0092B-C50C-407E-A947-70E740481C1C}">
                <a14:useLocalDpi xmlns:a14="http://schemas.microsoft.com/office/drawing/2010/main" val="0"/>
              </a:ext>
            </a:extLst>
          </a:blip>
          <a:srcRect b="40404"/>
          <a:stretch/>
        </p:blipFill>
        <p:spPr>
          <a:xfrm>
            <a:off x="10670311" y="-63929"/>
            <a:ext cx="3960089" cy="782915"/>
          </a:xfrm>
          <a:prstGeom prst="rect">
            <a:avLst/>
          </a:prstGeom>
        </p:spPr>
      </p:pic>
      <p:sp>
        <p:nvSpPr>
          <p:cNvPr id="7" name="TextBox 6">
            <a:extLst>
              <a:ext uri="{FF2B5EF4-FFF2-40B4-BE49-F238E27FC236}">
                <a16:creationId xmlns="" xmlns:a16="http://schemas.microsoft.com/office/drawing/2014/main" id="{8F9BF24C-E1E2-24BE-F53A-7447E7BD7F0C}"/>
              </a:ext>
            </a:extLst>
          </p:cNvPr>
          <p:cNvSpPr txBox="1"/>
          <p:nvPr/>
        </p:nvSpPr>
        <p:spPr>
          <a:xfrm>
            <a:off x="2483218" y="718986"/>
            <a:ext cx="14776175" cy="797654"/>
          </a:xfrm>
          <a:prstGeom prst="rect">
            <a:avLst/>
          </a:prstGeom>
          <a:noFill/>
        </p:spPr>
        <p:txBody>
          <a:bodyPr wrap="square">
            <a:spAutoFit/>
          </a:bodyPr>
          <a:lstStyle/>
          <a:p>
            <a:pPr marL="0" indent="0" algn="l">
              <a:lnSpc>
                <a:spcPts val="5450"/>
              </a:lnSpc>
              <a:buNone/>
            </a:pPr>
            <a:r>
              <a:rPr lang="en-US" sz="6000" b="1" dirty="0">
                <a:solidFill>
                  <a:srgbClr val="000000"/>
                </a:solidFill>
                <a:latin typeface="Petrona Bold" pitchFamily="34" charset="0"/>
              </a:rPr>
              <a:t>Internship Project Presentation </a:t>
            </a:r>
            <a:endParaRPr lang="en-US" sz="6000" dirty="0"/>
          </a:p>
        </p:txBody>
      </p:sp>
      <p:sp>
        <p:nvSpPr>
          <p:cNvPr id="8" name="TextBox 7">
            <a:extLst>
              <a:ext uri="{FF2B5EF4-FFF2-40B4-BE49-F238E27FC236}">
                <a16:creationId xmlns="" xmlns:a16="http://schemas.microsoft.com/office/drawing/2014/main" id="{77380589-10D7-3805-27BC-7A17B3CE6FFF}"/>
              </a:ext>
            </a:extLst>
          </p:cNvPr>
          <p:cNvSpPr txBox="1"/>
          <p:nvPr/>
        </p:nvSpPr>
        <p:spPr>
          <a:xfrm>
            <a:off x="2878230" y="1610125"/>
            <a:ext cx="10660352" cy="515526"/>
          </a:xfrm>
          <a:prstGeom prst="rect">
            <a:avLst/>
          </a:prstGeom>
          <a:noFill/>
        </p:spPr>
        <p:txBody>
          <a:bodyPr wrap="square">
            <a:spAutoFit/>
          </a:bodyPr>
          <a:lstStyle/>
          <a:p>
            <a:pPr marL="0" indent="0" algn="l">
              <a:lnSpc>
                <a:spcPts val="3250"/>
              </a:lnSpc>
              <a:buNone/>
            </a:pPr>
            <a:r>
              <a:rPr lang="en-US" sz="4400" b="1" dirty="0">
                <a:solidFill>
                  <a:srgbClr val="000000"/>
                </a:solidFill>
                <a:latin typeface="Petrona Bold" pitchFamily="34" charset="0"/>
              </a:rPr>
              <a:t>Internship at Trident Limited</a:t>
            </a:r>
            <a:endParaRPr lang="en-US" sz="4400" dirty="0"/>
          </a:p>
        </p:txBody>
      </p:sp>
      <p:sp>
        <p:nvSpPr>
          <p:cNvPr id="9" name="TextBox 8">
            <a:extLst>
              <a:ext uri="{FF2B5EF4-FFF2-40B4-BE49-F238E27FC236}">
                <a16:creationId xmlns="" xmlns:a16="http://schemas.microsoft.com/office/drawing/2014/main" id="{12C569D0-36D1-5040-8CAC-3DB9E6F8E0D0}"/>
              </a:ext>
            </a:extLst>
          </p:cNvPr>
          <p:cNvSpPr txBox="1"/>
          <p:nvPr/>
        </p:nvSpPr>
        <p:spPr>
          <a:xfrm>
            <a:off x="304799" y="2581063"/>
            <a:ext cx="15017191" cy="558679"/>
          </a:xfrm>
          <a:prstGeom prst="rect">
            <a:avLst/>
          </a:prstGeom>
          <a:noFill/>
        </p:spPr>
        <p:txBody>
          <a:bodyPr wrap="square">
            <a:spAutoFit/>
          </a:bodyPr>
          <a:lstStyle/>
          <a:p>
            <a:pPr>
              <a:lnSpc>
                <a:spcPts val="3250"/>
              </a:lnSpc>
            </a:pPr>
            <a:r>
              <a:rPr lang="en-US" sz="4400" dirty="0" smtClean="0">
                <a:solidFill>
                  <a:schemeClr val="bg2"/>
                </a:solidFill>
              </a:rPr>
              <a:t>   Industrial </a:t>
            </a:r>
            <a:r>
              <a:rPr lang="en-US" sz="4400" dirty="0">
                <a:solidFill>
                  <a:schemeClr val="bg2"/>
                </a:solidFill>
              </a:rPr>
              <a:t>Web Application </a:t>
            </a:r>
            <a:r>
              <a:rPr lang="en-US" sz="4400" dirty="0" smtClean="0">
                <a:solidFill>
                  <a:schemeClr val="bg2"/>
                </a:solidFill>
              </a:rPr>
              <a:t>Development and Server                             </a:t>
            </a:r>
            <a:endParaRPr lang="en-US" sz="4400" dirty="0">
              <a:solidFill>
                <a:schemeClr val="bg2"/>
              </a:solidFill>
            </a:endParaRPr>
          </a:p>
        </p:txBody>
      </p:sp>
      <p:sp>
        <p:nvSpPr>
          <p:cNvPr id="10" name="TextBox 9">
            <a:extLst>
              <a:ext uri="{FF2B5EF4-FFF2-40B4-BE49-F238E27FC236}">
                <a16:creationId xmlns="" xmlns:a16="http://schemas.microsoft.com/office/drawing/2014/main" id="{85A599FE-0D4A-87AE-189C-991C4522B8DB}"/>
              </a:ext>
            </a:extLst>
          </p:cNvPr>
          <p:cNvSpPr txBox="1"/>
          <p:nvPr/>
        </p:nvSpPr>
        <p:spPr>
          <a:xfrm>
            <a:off x="231493" y="4429769"/>
            <a:ext cx="12792422" cy="1569660"/>
          </a:xfrm>
          <a:prstGeom prst="rect">
            <a:avLst/>
          </a:prstGeom>
          <a:noFill/>
        </p:spPr>
        <p:txBody>
          <a:bodyPr wrap="square">
            <a:spAutoFit/>
          </a:bodyPr>
          <a:lstStyle/>
          <a:p>
            <a:r>
              <a:rPr lang="en-US" sz="3200" dirty="0"/>
              <a:t>Faculty coordinator: Dr. Shailendra Singh   </a:t>
            </a:r>
          </a:p>
          <a:p>
            <a:r>
              <a:rPr lang="en-US" sz="3200" dirty="0"/>
              <a:t>Industry coordinator : </a:t>
            </a:r>
            <a:r>
              <a:rPr lang="en-US" sz="3200" dirty="0" err="1"/>
              <a:t>Mr</a:t>
            </a:r>
            <a:r>
              <a:rPr lang="en-US" sz="3200" dirty="0"/>
              <a:t> Sonu </a:t>
            </a:r>
          </a:p>
          <a:p>
            <a:r>
              <a:rPr lang="en-US" sz="3200" dirty="0"/>
              <a:t>Industry Mentor : </a:t>
            </a:r>
            <a:r>
              <a:rPr lang="en-US" sz="3200" dirty="0" err="1"/>
              <a:t>Mr</a:t>
            </a:r>
            <a:r>
              <a:rPr lang="en-US" sz="3200" dirty="0"/>
              <a:t> Gaurav Singla</a:t>
            </a:r>
            <a:endParaRPr lang="en-IN" sz="3200" dirty="0"/>
          </a:p>
        </p:txBody>
      </p:sp>
      <p:sp>
        <p:nvSpPr>
          <p:cNvPr id="11" name="TextBox 10">
            <a:extLst>
              <a:ext uri="{FF2B5EF4-FFF2-40B4-BE49-F238E27FC236}">
                <a16:creationId xmlns="" xmlns:a16="http://schemas.microsoft.com/office/drawing/2014/main" id="{EA92F376-54E2-A6DF-2012-CB71B48B90D1}"/>
              </a:ext>
            </a:extLst>
          </p:cNvPr>
          <p:cNvSpPr txBox="1"/>
          <p:nvPr/>
        </p:nvSpPr>
        <p:spPr>
          <a:xfrm>
            <a:off x="4259580" y="3079261"/>
            <a:ext cx="11503910" cy="769441"/>
          </a:xfrm>
          <a:prstGeom prst="rect">
            <a:avLst/>
          </a:prstGeom>
          <a:noFill/>
        </p:spPr>
        <p:txBody>
          <a:bodyPr wrap="square">
            <a:spAutoFit/>
          </a:bodyPr>
          <a:lstStyle/>
          <a:p>
            <a:r>
              <a:rPr lang="en-US" sz="4400" dirty="0">
                <a:solidFill>
                  <a:schemeClr val="bg2"/>
                </a:solidFill>
              </a:rPr>
              <a:t>Monitoring System</a:t>
            </a:r>
            <a:endParaRPr lang="en-IN" sz="4400" dirty="0">
              <a:solidFill>
                <a:schemeClr val="bg2"/>
              </a:solidFill>
            </a:endParaRPr>
          </a:p>
        </p:txBody>
      </p:sp>
    </p:spTree>
    <p:extLst>
      <p:ext uri="{BB962C8B-B14F-4D97-AF65-F5344CB8AC3E}">
        <p14:creationId xmlns:p14="http://schemas.microsoft.com/office/powerpoint/2010/main" val="3560736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accel="40000" decel="4000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ppt_x"/>
                                          </p:val>
                                        </p:tav>
                                        <p:tav tm="100000">
                                          <p:val>
                                            <p:strVal val="#ppt_x"/>
                                          </p:val>
                                        </p:tav>
                                      </p:tavLst>
                                    </p:anim>
                                    <p:anim calcmode="lin" valueType="num">
                                      <p:cBhvr additive="base">
                                        <p:cTn id="8" dur="1000" fill="hold"/>
                                        <p:tgtEl>
                                          <p:spTgt spid="4"/>
                                        </p:tgtEl>
                                        <p:attrNameLst>
                                          <p:attrName>ppt_y</p:attrName>
                                        </p:attrNameLst>
                                      </p:cBhvr>
                                      <p:tavLst>
                                        <p:tav tm="0">
                                          <p:val>
                                            <p:strVal val="0-#ppt_h/2"/>
                                          </p:val>
                                        </p:tav>
                                        <p:tav tm="100000">
                                          <p:val>
                                            <p:strVal val="#ppt_y"/>
                                          </p:val>
                                        </p:tav>
                                      </p:tavLst>
                                    </p:anim>
                                  </p:childTnLst>
                                </p:cTn>
                              </p:par>
                              <p:par>
                                <p:cTn id="9" presetID="2" presetClass="entr" presetSubtype="4" accel="40000" decel="4000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1000" fill="hold"/>
                                        <p:tgtEl>
                                          <p:spTgt spid="5"/>
                                        </p:tgtEl>
                                        <p:attrNameLst>
                                          <p:attrName>ppt_x</p:attrName>
                                        </p:attrNameLst>
                                      </p:cBhvr>
                                      <p:tavLst>
                                        <p:tav tm="0">
                                          <p:val>
                                            <p:strVal val="#ppt_x"/>
                                          </p:val>
                                        </p:tav>
                                        <p:tav tm="100000">
                                          <p:val>
                                            <p:strVal val="#ppt_x"/>
                                          </p:val>
                                        </p:tav>
                                      </p:tavLst>
                                    </p:anim>
                                    <p:anim calcmode="lin" valueType="num">
                                      <p:cBhvr additive="base">
                                        <p:cTn id="12" dur="10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 xmlns:a16="http://schemas.microsoft.com/office/drawing/2014/main" id="{CFE09754-534A-8A9B-4F29-BBBCC3B9E235}"/>
              </a:ext>
            </a:extLst>
          </p:cNvPr>
          <p:cNvSpPr txBox="1"/>
          <p:nvPr/>
        </p:nvSpPr>
        <p:spPr>
          <a:xfrm>
            <a:off x="1885950" y="1241388"/>
            <a:ext cx="10302240" cy="1361911"/>
          </a:xfrm>
          <a:prstGeom prst="rect">
            <a:avLst/>
          </a:prstGeom>
          <a:noFill/>
        </p:spPr>
        <p:txBody>
          <a:bodyPr wrap="square">
            <a:spAutoFit/>
          </a:bodyPr>
          <a:lstStyle/>
          <a:p>
            <a:pPr>
              <a:lnSpc>
                <a:spcPts val="3250"/>
              </a:lnSpc>
            </a:pPr>
            <a:r>
              <a:rPr lang="en-US" sz="6300" dirty="0"/>
              <a:t>The Projects </a:t>
            </a:r>
            <a:r>
              <a:rPr lang="en-US" sz="6300" dirty="0" smtClean="0"/>
              <a:t>Assigned at </a:t>
            </a:r>
          </a:p>
          <a:p>
            <a:pPr>
              <a:lnSpc>
                <a:spcPts val="3250"/>
              </a:lnSpc>
            </a:pPr>
            <a:endParaRPr lang="en-US" sz="6300" dirty="0" smtClean="0"/>
          </a:p>
          <a:p>
            <a:pPr>
              <a:lnSpc>
                <a:spcPts val="3250"/>
              </a:lnSpc>
            </a:pPr>
            <a:r>
              <a:rPr lang="en-US" sz="6300" dirty="0" smtClean="0"/>
              <a:t>Trident :</a:t>
            </a:r>
            <a:endParaRPr lang="en-US" sz="6300" dirty="0"/>
          </a:p>
        </p:txBody>
      </p:sp>
      <p:sp>
        <p:nvSpPr>
          <p:cNvPr id="7" name="TextBox 6">
            <a:extLst>
              <a:ext uri="{FF2B5EF4-FFF2-40B4-BE49-F238E27FC236}">
                <a16:creationId xmlns="" xmlns:a16="http://schemas.microsoft.com/office/drawing/2014/main" id="{74477A49-5ACE-2FCF-D830-47A1B9E49A34}"/>
              </a:ext>
            </a:extLst>
          </p:cNvPr>
          <p:cNvSpPr txBox="1"/>
          <p:nvPr/>
        </p:nvSpPr>
        <p:spPr>
          <a:xfrm>
            <a:off x="2205990" y="3526885"/>
            <a:ext cx="9662160" cy="1785104"/>
          </a:xfrm>
          <a:prstGeom prst="rect">
            <a:avLst/>
          </a:prstGeom>
          <a:noFill/>
        </p:spPr>
        <p:txBody>
          <a:bodyPr wrap="square">
            <a:spAutoFit/>
          </a:bodyPr>
          <a:lstStyle/>
          <a:p>
            <a:pPr marL="342900" indent="-342900">
              <a:lnSpc>
                <a:spcPts val="3250"/>
              </a:lnSpc>
              <a:buAutoNum type="arabicParenR"/>
            </a:pPr>
            <a:r>
              <a:rPr lang="en-US" sz="5400" dirty="0">
                <a:solidFill>
                  <a:schemeClr val="accent1"/>
                </a:solidFill>
              </a:rPr>
              <a:t>Server Monitoring System </a:t>
            </a:r>
          </a:p>
          <a:p>
            <a:pPr marL="342900" indent="-342900">
              <a:lnSpc>
                <a:spcPts val="3250"/>
              </a:lnSpc>
              <a:buAutoNum type="arabicParenR"/>
            </a:pPr>
            <a:endParaRPr lang="en-US" sz="5400" dirty="0">
              <a:solidFill>
                <a:schemeClr val="accent1"/>
              </a:solidFill>
            </a:endParaRPr>
          </a:p>
          <a:p>
            <a:pPr marL="342900" indent="-342900">
              <a:lnSpc>
                <a:spcPts val="3250"/>
              </a:lnSpc>
              <a:buAutoNum type="arabicParenR"/>
            </a:pPr>
            <a:endParaRPr lang="en-US" sz="5400" dirty="0">
              <a:solidFill>
                <a:schemeClr val="accent1"/>
              </a:solidFill>
            </a:endParaRPr>
          </a:p>
          <a:p>
            <a:pPr marL="342900" indent="-342900">
              <a:lnSpc>
                <a:spcPts val="3250"/>
              </a:lnSpc>
              <a:buAutoNum type="arabicParenR"/>
            </a:pPr>
            <a:r>
              <a:rPr lang="en-US" sz="5400" dirty="0" smtClean="0">
                <a:solidFill>
                  <a:schemeClr val="accent1"/>
                </a:solidFill>
              </a:rPr>
              <a:t>Enhancement of MII Dashboard</a:t>
            </a:r>
            <a:endParaRPr lang="en-US" sz="5400" dirty="0">
              <a:solidFill>
                <a:schemeClr val="accent1"/>
              </a:solidFill>
            </a:endParaRPr>
          </a:p>
        </p:txBody>
      </p:sp>
      <p:pic>
        <p:nvPicPr>
          <p:cNvPr id="6" name="Picture 5"/>
          <p:cNvPicPr>
            <a:picLocks noChangeAspect="1"/>
          </p:cNvPicPr>
          <p:nvPr/>
        </p:nvPicPr>
        <p:blipFill rotWithShape="1">
          <a:blip r:embed="rId2" cstate="print">
            <a:extLst>
              <a:ext uri="{28A0092B-C50C-407E-A947-70E740481C1C}">
                <a14:useLocalDpi xmlns:a14="http://schemas.microsoft.com/office/drawing/2010/main" val="0"/>
              </a:ext>
            </a:extLst>
          </a:blip>
          <a:srcRect b="40404"/>
          <a:stretch/>
        </p:blipFill>
        <p:spPr>
          <a:xfrm>
            <a:off x="11500104" y="-168451"/>
            <a:ext cx="3255264" cy="982820"/>
          </a:xfrm>
          <a:prstGeom prst="rect">
            <a:avLst/>
          </a:prstGeom>
        </p:spPr>
      </p:pic>
      <p:sp>
        <p:nvSpPr>
          <p:cNvPr id="8" name="Freeform 7">
            <a:extLst>
              <a:ext uri="{FF2B5EF4-FFF2-40B4-BE49-F238E27FC236}">
                <a16:creationId xmlns="" xmlns:a16="http://schemas.microsoft.com/office/drawing/2014/main" id="{D26F4A47-9C92-41C8-B9AA-0DCABA043242}"/>
              </a:ext>
            </a:extLst>
          </p:cNvPr>
          <p:cNvSpPr>
            <a:spLocks/>
          </p:cNvSpPr>
          <p:nvPr/>
        </p:nvSpPr>
        <p:spPr bwMode="auto">
          <a:xfrm>
            <a:off x="0" y="1"/>
            <a:ext cx="3166278" cy="1183398"/>
          </a:xfrm>
          <a:custGeom>
            <a:avLst/>
            <a:gdLst>
              <a:gd name="T0" fmla="*/ 249 w 1501"/>
              <a:gd name="T1" fmla="*/ 561 h 561"/>
              <a:gd name="T2" fmla="*/ 1501 w 1501"/>
              <a:gd name="T3" fmla="*/ 6 h 561"/>
              <a:gd name="T4" fmla="*/ 1499 w 1501"/>
              <a:gd name="T5" fmla="*/ 0 h 561"/>
              <a:gd name="T6" fmla="*/ 0 w 1501"/>
              <a:gd name="T7" fmla="*/ 0 h 561"/>
              <a:gd name="T8" fmla="*/ 249 w 1501"/>
              <a:gd name="T9" fmla="*/ 561 h 561"/>
            </a:gdLst>
            <a:ahLst/>
            <a:cxnLst>
              <a:cxn ang="0">
                <a:pos x="T0" y="T1"/>
              </a:cxn>
              <a:cxn ang="0">
                <a:pos x="T2" y="T3"/>
              </a:cxn>
              <a:cxn ang="0">
                <a:pos x="T4" y="T5"/>
              </a:cxn>
              <a:cxn ang="0">
                <a:pos x="T6" y="T7"/>
              </a:cxn>
              <a:cxn ang="0">
                <a:pos x="T8" y="T9"/>
              </a:cxn>
            </a:cxnLst>
            <a:rect l="0" t="0" r="r" b="b"/>
            <a:pathLst>
              <a:path w="1501" h="561">
                <a:moveTo>
                  <a:pt x="249" y="561"/>
                </a:moveTo>
                <a:lnTo>
                  <a:pt x="1501" y="6"/>
                </a:lnTo>
                <a:lnTo>
                  <a:pt x="1499" y="0"/>
                </a:lnTo>
                <a:lnTo>
                  <a:pt x="0" y="0"/>
                </a:lnTo>
                <a:lnTo>
                  <a:pt x="249" y="561"/>
                </a:lnTo>
                <a:close/>
              </a:path>
            </a:pathLst>
          </a:custGeom>
          <a:solidFill>
            <a:srgbClr val="FDB913"/>
          </a:solidFill>
          <a:ln>
            <a:noFill/>
          </a:ln>
          <a:effectLst>
            <a:outerShdw blurRad="431800" dist="50800" dir="5400000" algn="ctr" rotWithShape="0">
              <a:srgbClr val="000000">
                <a:alpha val="25000"/>
              </a:srgbClr>
            </a:outerShdw>
          </a:effectLst>
        </p:spPr>
        <p:txBody>
          <a:bodyPr vert="horz" wrap="square" lIns="68580" tIns="34290" rIns="68580" bIns="34290" numCol="1" anchor="t" anchorCtr="0" compatLnSpc="1">
            <a:prstTxWarp prst="textNoShape">
              <a:avLst/>
            </a:prstTxWarp>
          </a:bodyPr>
          <a:lstStyle/>
          <a:p>
            <a:endParaRPr lang="en-ID" sz="1350"/>
          </a:p>
        </p:txBody>
      </p:sp>
      <p:pic>
        <p:nvPicPr>
          <p:cNvPr id="9" name="Picture 8">
            <a:extLst>
              <a:ext uri="{FF2B5EF4-FFF2-40B4-BE49-F238E27FC236}">
                <a16:creationId xmlns:a16="http://schemas.microsoft.com/office/drawing/2014/main" xmlns="" id="{49C7B44A-AD34-9D58-6374-8F3854056B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06672" y="98893"/>
            <a:ext cx="3204766" cy="492807"/>
          </a:xfrm>
          <a:prstGeom prst="rect">
            <a:avLst/>
          </a:prstGeom>
        </p:spPr>
      </p:pic>
      <p:sp>
        <p:nvSpPr>
          <p:cNvPr id="2" name="Rectangle 1"/>
          <p:cNvSpPr/>
          <p:nvPr/>
        </p:nvSpPr>
        <p:spPr>
          <a:xfrm>
            <a:off x="12893801" y="7620000"/>
            <a:ext cx="1602383" cy="4953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10" name="Freeform 9">
            <a:extLst>
              <a:ext uri="{FF2B5EF4-FFF2-40B4-BE49-F238E27FC236}">
                <a16:creationId xmlns:a16="http://schemas.microsoft.com/office/drawing/2014/main" xmlns="" id="{EF13015C-E884-4625-9DF9-3D67995D337B}"/>
              </a:ext>
            </a:extLst>
          </p:cNvPr>
          <p:cNvSpPr>
            <a:spLocks/>
          </p:cNvSpPr>
          <p:nvPr/>
        </p:nvSpPr>
        <p:spPr bwMode="auto">
          <a:xfrm>
            <a:off x="11120796" y="6281399"/>
            <a:ext cx="3546009" cy="1948201"/>
          </a:xfrm>
          <a:custGeom>
            <a:avLst/>
            <a:gdLst>
              <a:gd name="T0" fmla="*/ 1685 w 2016"/>
              <a:gd name="T1" fmla="*/ 0 h 744"/>
              <a:gd name="T2" fmla="*/ 0 w 2016"/>
              <a:gd name="T3" fmla="*/ 744 h 744"/>
              <a:gd name="T4" fmla="*/ 2016 w 2016"/>
              <a:gd name="T5" fmla="*/ 744 h 744"/>
              <a:gd name="T6" fmla="*/ 1685 w 2016"/>
              <a:gd name="T7" fmla="*/ 0 h 744"/>
            </a:gdLst>
            <a:ahLst/>
            <a:cxnLst>
              <a:cxn ang="0">
                <a:pos x="T0" y="T1"/>
              </a:cxn>
              <a:cxn ang="0">
                <a:pos x="T2" y="T3"/>
              </a:cxn>
              <a:cxn ang="0">
                <a:pos x="T4" y="T5"/>
              </a:cxn>
              <a:cxn ang="0">
                <a:pos x="T6" y="T7"/>
              </a:cxn>
            </a:cxnLst>
            <a:rect l="0" t="0" r="r" b="b"/>
            <a:pathLst>
              <a:path w="2016" h="744">
                <a:moveTo>
                  <a:pt x="1685" y="0"/>
                </a:moveTo>
                <a:lnTo>
                  <a:pt x="0" y="744"/>
                </a:lnTo>
                <a:lnTo>
                  <a:pt x="2016" y="744"/>
                </a:lnTo>
                <a:lnTo>
                  <a:pt x="1685" y="0"/>
                </a:lnTo>
                <a:close/>
              </a:path>
            </a:pathLst>
          </a:custGeom>
          <a:solidFill>
            <a:srgbClr val="FDB913"/>
          </a:solidFill>
          <a:ln>
            <a:noFill/>
          </a:ln>
          <a:effectLst>
            <a:outerShdw blurRad="431800" dist="50800" dir="5400000" algn="ctr" rotWithShape="0">
              <a:srgbClr val="000000">
                <a:alpha val="25000"/>
              </a:srgbClr>
            </a:outerShdw>
          </a:effectLst>
        </p:spPr>
        <p:txBody>
          <a:bodyPr vert="horz" wrap="square" lIns="68580" tIns="34290" rIns="68580" bIns="34290" numCol="1" anchor="t" anchorCtr="0" compatLnSpc="1">
            <a:prstTxWarp prst="textNoShape">
              <a:avLst/>
            </a:prstTxWarp>
          </a:bodyPr>
          <a:lstStyle/>
          <a:p>
            <a:endParaRPr lang="en-ID" sz="1350">
              <a:solidFill>
                <a:srgbClr val="FF0000"/>
              </a:solidFill>
            </a:endParaRPr>
          </a:p>
        </p:txBody>
      </p:sp>
    </p:spTree>
    <p:extLst>
      <p:ext uri="{BB962C8B-B14F-4D97-AF65-F5344CB8AC3E}">
        <p14:creationId xmlns:p14="http://schemas.microsoft.com/office/powerpoint/2010/main" val="2344007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accel="40000" decel="4000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1000" fill="hold"/>
                                        <p:tgtEl>
                                          <p:spTgt spid="8"/>
                                        </p:tgtEl>
                                        <p:attrNameLst>
                                          <p:attrName>ppt_x</p:attrName>
                                        </p:attrNameLst>
                                      </p:cBhvr>
                                      <p:tavLst>
                                        <p:tav tm="0">
                                          <p:val>
                                            <p:strVal val="#ppt_x"/>
                                          </p:val>
                                        </p:tav>
                                        <p:tav tm="100000">
                                          <p:val>
                                            <p:strVal val="#ppt_x"/>
                                          </p:val>
                                        </p:tav>
                                      </p:tavLst>
                                    </p:anim>
                                    <p:anim calcmode="lin" valueType="num">
                                      <p:cBhvr additive="base">
                                        <p:cTn id="8" dur="1000" fill="hold"/>
                                        <p:tgtEl>
                                          <p:spTgt spid="8"/>
                                        </p:tgtEl>
                                        <p:attrNameLst>
                                          <p:attrName>ppt_y</p:attrName>
                                        </p:attrNameLst>
                                      </p:cBhvr>
                                      <p:tavLst>
                                        <p:tav tm="0">
                                          <p:val>
                                            <p:strVal val="0-#ppt_h/2"/>
                                          </p:val>
                                        </p:tav>
                                        <p:tav tm="100000">
                                          <p:val>
                                            <p:strVal val="#ppt_y"/>
                                          </p:val>
                                        </p:tav>
                                      </p:tavLst>
                                    </p:anim>
                                  </p:childTnLst>
                                </p:cTn>
                              </p:par>
                              <p:par>
                                <p:cTn id="9" presetID="2" presetClass="entr" presetSubtype="4" accel="40000" decel="4000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1000" fill="hold"/>
                                        <p:tgtEl>
                                          <p:spTgt spid="10"/>
                                        </p:tgtEl>
                                        <p:attrNameLst>
                                          <p:attrName>ppt_x</p:attrName>
                                        </p:attrNameLst>
                                      </p:cBhvr>
                                      <p:tavLst>
                                        <p:tav tm="0">
                                          <p:val>
                                            <p:strVal val="#ppt_x"/>
                                          </p:val>
                                        </p:tav>
                                        <p:tav tm="100000">
                                          <p:val>
                                            <p:strVal val="#ppt_x"/>
                                          </p:val>
                                        </p:tav>
                                      </p:tavLst>
                                    </p:anim>
                                    <p:anim calcmode="lin" valueType="num">
                                      <p:cBhvr additive="base">
                                        <p:cTn id="12" dur="10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43545" y="1191458"/>
            <a:ext cx="7606427" cy="697111"/>
          </a:xfrm>
          <a:prstGeom prst="rect">
            <a:avLst/>
          </a:prstGeom>
          <a:noFill/>
          <a:ln/>
        </p:spPr>
        <p:txBody>
          <a:bodyPr wrap="none" lIns="0" tIns="0" rIns="0" bIns="0" rtlCol="0" anchor="t"/>
          <a:lstStyle/>
          <a:p>
            <a:pPr marL="0" indent="0" algn="l">
              <a:lnSpc>
                <a:spcPts val="5450"/>
              </a:lnSpc>
              <a:buNone/>
            </a:pPr>
            <a:r>
              <a:rPr lang="en-US" sz="4350" b="1" dirty="0">
                <a:solidFill>
                  <a:srgbClr val="000000"/>
                </a:solidFill>
                <a:latin typeface="Petrona Bold" pitchFamily="34" charset="0"/>
                <a:ea typeface="Petrona Bold" pitchFamily="34" charset="-122"/>
                <a:cs typeface="Petrona Bold" pitchFamily="34" charset="-120"/>
              </a:rPr>
              <a:t>Server Monitoring Dashboard</a:t>
            </a:r>
            <a:endParaRPr lang="en-US" sz="4350" dirty="0"/>
          </a:p>
        </p:txBody>
      </p:sp>
      <p:sp>
        <p:nvSpPr>
          <p:cNvPr id="4" name="Text 1"/>
          <p:cNvSpPr/>
          <p:nvPr/>
        </p:nvSpPr>
        <p:spPr>
          <a:xfrm>
            <a:off x="781645" y="2196703"/>
            <a:ext cx="3346252" cy="418267"/>
          </a:xfrm>
          <a:prstGeom prst="rect">
            <a:avLst/>
          </a:prstGeom>
          <a:noFill/>
          <a:ln/>
        </p:spPr>
        <p:txBody>
          <a:bodyPr wrap="none" lIns="0" tIns="0" rIns="0" bIns="0" rtlCol="0" anchor="t"/>
          <a:lstStyle/>
          <a:p>
            <a:pPr marL="0" indent="0" algn="l">
              <a:lnSpc>
                <a:spcPts val="3250"/>
              </a:lnSpc>
              <a:buNone/>
            </a:pPr>
            <a:r>
              <a:rPr lang="en-US" sz="2600" b="1" dirty="0" smtClean="0">
                <a:solidFill>
                  <a:srgbClr val="000000"/>
                </a:solidFill>
                <a:latin typeface="Petrona Bold" pitchFamily="34" charset="0"/>
                <a:ea typeface="Petrona Bold" pitchFamily="34" charset="-122"/>
                <a:cs typeface="Petrona Bold" pitchFamily="34" charset="-120"/>
              </a:rPr>
              <a:t>Problem Statement:</a:t>
            </a:r>
            <a:endParaRPr lang="en-US" sz="2600" dirty="0"/>
          </a:p>
        </p:txBody>
      </p:sp>
      <p:sp>
        <p:nvSpPr>
          <p:cNvPr id="5" name="Text 2"/>
          <p:cNvSpPr/>
          <p:nvPr/>
        </p:nvSpPr>
        <p:spPr>
          <a:xfrm>
            <a:off x="743545" y="2684858"/>
            <a:ext cx="7886105" cy="2477691"/>
          </a:xfrm>
          <a:prstGeom prst="rect">
            <a:avLst/>
          </a:prstGeom>
          <a:noFill/>
          <a:ln/>
        </p:spPr>
        <p:txBody>
          <a:bodyPr wrap="square" lIns="0" tIns="0" rIns="0" bIns="0" rtlCol="0" anchor="t"/>
          <a:lstStyle/>
          <a:p>
            <a:pPr marL="0" indent="0" algn="l">
              <a:lnSpc>
                <a:spcPts val="3200"/>
              </a:lnSpc>
              <a:buNone/>
            </a:pPr>
            <a:r>
              <a:rPr lang="en-US" sz="2050" dirty="0">
                <a:solidFill>
                  <a:srgbClr val="272525"/>
                </a:solidFill>
                <a:latin typeface="Inter" pitchFamily="34" charset="0"/>
                <a:ea typeface="Inter" pitchFamily="34" charset="-122"/>
                <a:cs typeface="Inter" pitchFamily="34" charset="-120"/>
              </a:rPr>
              <a:t>Organizations manage multiple servers across different departments, but manual monitoring is time-consuming and inefficient. Without a centralized system to monitor real-time server health, failures are detected too late, affecting operations and causing critical data loss.</a:t>
            </a:r>
            <a:endParaRPr lang="en-US" sz="2050" dirty="0"/>
          </a:p>
        </p:txBody>
      </p:sp>
      <p:pic>
        <p:nvPicPr>
          <p:cNvPr id="7" name="Image 1" descr="preencoded.png"/>
          <p:cNvPicPr>
            <a:picLocks noChangeAspect="1"/>
          </p:cNvPicPr>
          <p:nvPr/>
        </p:nvPicPr>
        <p:blipFill>
          <a:blip r:embed="rId4"/>
          <a:stretch>
            <a:fillRect/>
          </a:stretch>
        </p:blipFill>
        <p:spPr>
          <a:xfrm>
            <a:off x="955953" y="5533251"/>
            <a:ext cx="348496" cy="278844"/>
          </a:xfrm>
          <a:prstGeom prst="rect">
            <a:avLst/>
          </a:prstGeom>
        </p:spPr>
      </p:pic>
      <p:sp>
        <p:nvSpPr>
          <p:cNvPr id="8" name="Text 4"/>
          <p:cNvSpPr/>
          <p:nvPr/>
        </p:nvSpPr>
        <p:spPr>
          <a:xfrm>
            <a:off x="1516856" y="5504378"/>
            <a:ext cx="3429476" cy="591622"/>
          </a:xfrm>
          <a:prstGeom prst="rect">
            <a:avLst/>
          </a:prstGeom>
          <a:noFill/>
          <a:ln/>
        </p:spPr>
        <p:txBody>
          <a:bodyPr wrap="none" lIns="0" tIns="0" rIns="0" bIns="0" rtlCol="0" anchor="t"/>
          <a:lstStyle/>
          <a:p>
            <a:pPr marL="0" indent="0" algn="l">
              <a:lnSpc>
                <a:spcPts val="2700"/>
              </a:lnSpc>
              <a:buNone/>
            </a:pPr>
            <a:r>
              <a:rPr lang="en-US" sz="2150" b="1" dirty="0">
                <a:solidFill>
                  <a:srgbClr val="000000"/>
                </a:solidFill>
                <a:latin typeface="Petrona Bold" pitchFamily="34" charset="0"/>
                <a:ea typeface="Petrona Bold" pitchFamily="34" charset="-122"/>
                <a:cs typeface="Petrona Bold" pitchFamily="34" charset="-120"/>
              </a:rPr>
              <a:t>Trident-Specific Challenge</a:t>
            </a:r>
            <a:endParaRPr lang="en-US" sz="2150" dirty="0"/>
          </a:p>
        </p:txBody>
      </p:sp>
      <p:sp>
        <p:nvSpPr>
          <p:cNvPr id="9" name="Text 5"/>
          <p:cNvSpPr/>
          <p:nvPr/>
        </p:nvSpPr>
        <p:spPr>
          <a:xfrm>
            <a:off x="1516856" y="6281399"/>
            <a:ext cx="7112794" cy="1681501"/>
          </a:xfrm>
          <a:prstGeom prst="rect">
            <a:avLst/>
          </a:prstGeom>
          <a:noFill/>
          <a:ln/>
        </p:spPr>
        <p:txBody>
          <a:bodyPr wrap="square" lIns="0" tIns="0" rIns="0" bIns="0" rtlCol="0" anchor="t"/>
          <a:lstStyle/>
          <a:p>
            <a:pPr marL="0" indent="0" algn="l">
              <a:lnSpc>
                <a:spcPts val="2550"/>
              </a:lnSpc>
              <a:buNone/>
            </a:pPr>
            <a:r>
              <a:rPr lang="en-US" dirty="0">
                <a:solidFill>
                  <a:srgbClr val="000000"/>
                </a:solidFill>
                <a:latin typeface="Inter" pitchFamily="34" charset="0"/>
                <a:ea typeface="Inter" pitchFamily="34" charset="-122"/>
                <a:cs typeface="Inter" pitchFamily="34" charset="-120"/>
              </a:rPr>
              <a:t>Multiple servers across Paper Production, Sheeting, Towel, and Energy &amp; Chemicals departments. When servers go down, data fails to transfer to the database, disrupting operations</a:t>
            </a:r>
            <a:r>
              <a:rPr lang="en-US" sz="1650" dirty="0">
                <a:solidFill>
                  <a:srgbClr val="000000"/>
                </a:solidFill>
                <a:latin typeface="Inter" pitchFamily="34" charset="0"/>
                <a:ea typeface="Inter" pitchFamily="34" charset="-122"/>
                <a:cs typeface="Inter" pitchFamily="34" charset="-120"/>
              </a:rPr>
              <a:t>.</a:t>
            </a:r>
            <a:endParaRPr lang="en-US" sz="1650" dirty="0"/>
          </a:p>
        </p:txBody>
      </p:sp>
      <p:sp>
        <p:nvSpPr>
          <p:cNvPr id="11" name="Freeform 10">
            <a:extLst>
              <a:ext uri="{FF2B5EF4-FFF2-40B4-BE49-F238E27FC236}">
                <a16:creationId xmlns="" xmlns:a16="http://schemas.microsoft.com/office/drawing/2014/main" id="{D26F4A47-9C92-41C8-B9AA-0DCABA043242}"/>
              </a:ext>
            </a:extLst>
          </p:cNvPr>
          <p:cNvSpPr>
            <a:spLocks/>
          </p:cNvSpPr>
          <p:nvPr/>
        </p:nvSpPr>
        <p:spPr bwMode="auto">
          <a:xfrm>
            <a:off x="-66283" y="0"/>
            <a:ext cx="3166278" cy="1183398"/>
          </a:xfrm>
          <a:custGeom>
            <a:avLst/>
            <a:gdLst>
              <a:gd name="T0" fmla="*/ 249 w 1501"/>
              <a:gd name="T1" fmla="*/ 561 h 561"/>
              <a:gd name="T2" fmla="*/ 1501 w 1501"/>
              <a:gd name="T3" fmla="*/ 6 h 561"/>
              <a:gd name="T4" fmla="*/ 1499 w 1501"/>
              <a:gd name="T5" fmla="*/ 0 h 561"/>
              <a:gd name="T6" fmla="*/ 0 w 1501"/>
              <a:gd name="T7" fmla="*/ 0 h 561"/>
              <a:gd name="T8" fmla="*/ 249 w 1501"/>
              <a:gd name="T9" fmla="*/ 561 h 561"/>
            </a:gdLst>
            <a:ahLst/>
            <a:cxnLst>
              <a:cxn ang="0">
                <a:pos x="T0" y="T1"/>
              </a:cxn>
              <a:cxn ang="0">
                <a:pos x="T2" y="T3"/>
              </a:cxn>
              <a:cxn ang="0">
                <a:pos x="T4" y="T5"/>
              </a:cxn>
              <a:cxn ang="0">
                <a:pos x="T6" y="T7"/>
              </a:cxn>
              <a:cxn ang="0">
                <a:pos x="T8" y="T9"/>
              </a:cxn>
            </a:cxnLst>
            <a:rect l="0" t="0" r="r" b="b"/>
            <a:pathLst>
              <a:path w="1501" h="561">
                <a:moveTo>
                  <a:pt x="249" y="561"/>
                </a:moveTo>
                <a:lnTo>
                  <a:pt x="1501" y="6"/>
                </a:lnTo>
                <a:lnTo>
                  <a:pt x="1499" y="0"/>
                </a:lnTo>
                <a:lnTo>
                  <a:pt x="0" y="0"/>
                </a:lnTo>
                <a:lnTo>
                  <a:pt x="249" y="561"/>
                </a:lnTo>
                <a:close/>
              </a:path>
            </a:pathLst>
          </a:custGeom>
          <a:solidFill>
            <a:srgbClr val="FDB913"/>
          </a:solidFill>
          <a:ln>
            <a:noFill/>
          </a:ln>
          <a:effectLst>
            <a:outerShdw blurRad="431800" dist="50800" dir="5400000" algn="ctr" rotWithShape="0">
              <a:srgbClr val="000000">
                <a:alpha val="25000"/>
              </a:srgbClr>
            </a:outerShdw>
          </a:effectLst>
        </p:spPr>
        <p:txBody>
          <a:bodyPr vert="horz" wrap="square" lIns="68580" tIns="34290" rIns="68580" bIns="34290" numCol="1" anchor="t" anchorCtr="0" compatLnSpc="1">
            <a:prstTxWarp prst="textNoShape">
              <a:avLst/>
            </a:prstTxWarp>
          </a:bodyPr>
          <a:lstStyle/>
          <a:p>
            <a:endParaRPr lang="en-ID" sz="1350"/>
          </a:p>
        </p:txBody>
      </p:sp>
      <p:pic>
        <p:nvPicPr>
          <p:cNvPr id="12" name="Picture 11">
            <a:extLst>
              <a:ext uri="{FF2B5EF4-FFF2-40B4-BE49-F238E27FC236}">
                <a16:creationId xmlns:a16="http://schemas.microsoft.com/office/drawing/2014/main" xmlns="" id="{49C7B44A-AD34-9D58-6374-8F3854056B3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206672" y="345296"/>
            <a:ext cx="3204766" cy="492807"/>
          </a:xfrm>
          <a:prstGeom prst="rect">
            <a:avLst/>
          </a:prstGeom>
        </p:spPr>
      </p:pic>
      <p:sp>
        <p:nvSpPr>
          <p:cNvPr id="13" name="Freeform 12">
            <a:extLst>
              <a:ext uri="{FF2B5EF4-FFF2-40B4-BE49-F238E27FC236}">
                <a16:creationId xmlns:a16="http://schemas.microsoft.com/office/drawing/2014/main" xmlns="" id="{EF13015C-E884-4625-9DF9-3D67995D337B}"/>
              </a:ext>
            </a:extLst>
          </p:cNvPr>
          <p:cNvSpPr>
            <a:spLocks/>
          </p:cNvSpPr>
          <p:nvPr/>
        </p:nvSpPr>
        <p:spPr bwMode="auto">
          <a:xfrm>
            <a:off x="11084391" y="6281399"/>
            <a:ext cx="3546009" cy="1948201"/>
          </a:xfrm>
          <a:custGeom>
            <a:avLst/>
            <a:gdLst>
              <a:gd name="T0" fmla="*/ 1685 w 2016"/>
              <a:gd name="T1" fmla="*/ 0 h 744"/>
              <a:gd name="T2" fmla="*/ 0 w 2016"/>
              <a:gd name="T3" fmla="*/ 744 h 744"/>
              <a:gd name="T4" fmla="*/ 2016 w 2016"/>
              <a:gd name="T5" fmla="*/ 744 h 744"/>
              <a:gd name="T6" fmla="*/ 1685 w 2016"/>
              <a:gd name="T7" fmla="*/ 0 h 744"/>
            </a:gdLst>
            <a:ahLst/>
            <a:cxnLst>
              <a:cxn ang="0">
                <a:pos x="T0" y="T1"/>
              </a:cxn>
              <a:cxn ang="0">
                <a:pos x="T2" y="T3"/>
              </a:cxn>
              <a:cxn ang="0">
                <a:pos x="T4" y="T5"/>
              </a:cxn>
              <a:cxn ang="0">
                <a:pos x="T6" y="T7"/>
              </a:cxn>
            </a:cxnLst>
            <a:rect l="0" t="0" r="r" b="b"/>
            <a:pathLst>
              <a:path w="2016" h="744">
                <a:moveTo>
                  <a:pt x="1685" y="0"/>
                </a:moveTo>
                <a:lnTo>
                  <a:pt x="0" y="744"/>
                </a:lnTo>
                <a:lnTo>
                  <a:pt x="2016" y="744"/>
                </a:lnTo>
                <a:lnTo>
                  <a:pt x="1685" y="0"/>
                </a:lnTo>
                <a:close/>
              </a:path>
            </a:pathLst>
          </a:custGeom>
          <a:solidFill>
            <a:srgbClr val="FDB913"/>
          </a:solidFill>
          <a:ln>
            <a:noFill/>
          </a:ln>
          <a:effectLst>
            <a:outerShdw blurRad="431800" dist="50800" dir="5400000" algn="ctr" rotWithShape="0">
              <a:srgbClr val="000000">
                <a:alpha val="25000"/>
              </a:srgbClr>
            </a:outerShdw>
          </a:effectLst>
        </p:spPr>
        <p:txBody>
          <a:bodyPr vert="horz" wrap="square" lIns="68580" tIns="34290" rIns="68580" bIns="34290" numCol="1" anchor="t" anchorCtr="0" compatLnSpc="1">
            <a:prstTxWarp prst="textNoShape">
              <a:avLst/>
            </a:prstTxWarp>
          </a:bodyPr>
          <a:lstStyle/>
          <a:p>
            <a:endParaRPr lang="en-ID" sz="135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accel="40000" decel="4000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1000" fill="hold"/>
                                        <p:tgtEl>
                                          <p:spTgt spid="11"/>
                                        </p:tgtEl>
                                        <p:attrNameLst>
                                          <p:attrName>ppt_x</p:attrName>
                                        </p:attrNameLst>
                                      </p:cBhvr>
                                      <p:tavLst>
                                        <p:tav tm="0">
                                          <p:val>
                                            <p:strVal val="#ppt_x"/>
                                          </p:val>
                                        </p:tav>
                                        <p:tav tm="100000">
                                          <p:val>
                                            <p:strVal val="#ppt_x"/>
                                          </p:val>
                                        </p:tav>
                                      </p:tavLst>
                                    </p:anim>
                                    <p:anim calcmode="lin" valueType="num">
                                      <p:cBhvr additive="base">
                                        <p:cTn id="8" dur="1000" fill="hold"/>
                                        <p:tgtEl>
                                          <p:spTgt spid="11"/>
                                        </p:tgtEl>
                                        <p:attrNameLst>
                                          <p:attrName>ppt_y</p:attrName>
                                        </p:attrNameLst>
                                      </p:cBhvr>
                                      <p:tavLst>
                                        <p:tav tm="0">
                                          <p:val>
                                            <p:strVal val="0-#ppt_h/2"/>
                                          </p:val>
                                        </p:tav>
                                        <p:tav tm="100000">
                                          <p:val>
                                            <p:strVal val="#ppt_y"/>
                                          </p:val>
                                        </p:tav>
                                      </p:tavLst>
                                    </p:anim>
                                  </p:childTnLst>
                                </p:cTn>
                              </p:par>
                              <p:par>
                                <p:cTn id="9" presetID="2" presetClass="entr" presetSubtype="4" accel="40000" decel="4000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1000" fill="hold"/>
                                        <p:tgtEl>
                                          <p:spTgt spid="13"/>
                                        </p:tgtEl>
                                        <p:attrNameLst>
                                          <p:attrName>ppt_x</p:attrName>
                                        </p:attrNameLst>
                                      </p:cBhvr>
                                      <p:tavLst>
                                        <p:tav tm="0">
                                          <p:val>
                                            <p:strVal val="#ppt_x"/>
                                          </p:val>
                                        </p:tav>
                                        <p:tav tm="100000">
                                          <p:val>
                                            <p:strVal val="#ppt_x"/>
                                          </p:val>
                                        </p:tav>
                                      </p:tavLst>
                                    </p:anim>
                                    <p:anim calcmode="lin" valueType="num">
                                      <p:cBhvr additive="base">
                                        <p:cTn id="12" dur="10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1118949" y="1230154"/>
            <a:ext cx="4714399" cy="589359"/>
          </a:xfrm>
          <a:prstGeom prst="rect">
            <a:avLst/>
          </a:prstGeom>
          <a:noFill/>
          <a:ln/>
        </p:spPr>
        <p:txBody>
          <a:bodyPr wrap="none" lIns="0" tIns="0" rIns="0" bIns="0" rtlCol="0" anchor="t"/>
          <a:lstStyle/>
          <a:p>
            <a:pPr marL="0" indent="0" algn="l">
              <a:lnSpc>
                <a:spcPts val="4600"/>
              </a:lnSpc>
              <a:buNone/>
            </a:pPr>
            <a:r>
              <a:rPr lang="en-US" sz="4800" b="1" dirty="0">
                <a:solidFill>
                  <a:srgbClr val="000000"/>
                </a:solidFill>
                <a:latin typeface="Petrona Bold" pitchFamily="34" charset="0"/>
                <a:ea typeface="Petrona Bold" pitchFamily="34" charset="-122"/>
                <a:cs typeface="Petrona Bold" pitchFamily="34" charset="-120"/>
              </a:rPr>
              <a:t>Project Objectives</a:t>
            </a:r>
            <a:endParaRPr lang="en-US" sz="4800" dirty="0"/>
          </a:p>
        </p:txBody>
      </p:sp>
      <p:sp>
        <p:nvSpPr>
          <p:cNvPr id="4" name="Shape 1"/>
          <p:cNvSpPr/>
          <p:nvPr/>
        </p:nvSpPr>
        <p:spPr>
          <a:xfrm>
            <a:off x="1118949" y="2032754"/>
            <a:ext cx="6125051" cy="1135023"/>
          </a:xfrm>
          <a:prstGeom prst="roundRect">
            <a:avLst>
              <a:gd name="adj" fmla="val 6646"/>
            </a:avLst>
          </a:prstGeom>
          <a:solidFill>
            <a:srgbClr val="CCEEFF"/>
          </a:solidFill>
          <a:ln w="7620">
            <a:solidFill>
              <a:srgbClr val="B2D4E5"/>
            </a:solidFill>
            <a:prstDash val="solid"/>
          </a:ln>
        </p:spPr>
      </p:sp>
      <p:sp>
        <p:nvSpPr>
          <p:cNvPr id="5" name="Text 2"/>
          <p:cNvSpPr/>
          <p:nvPr/>
        </p:nvSpPr>
        <p:spPr>
          <a:xfrm>
            <a:off x="1306116" y="2219920"/>
            <a:ext cx="2972514" cy="353616"/>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Petrona Bold" pitchFamily="34" charset="0"/>
                <a:ea typeface="Petrona Bold" pitchFamily="34" charset="-122"/>
                <a:cs typeface="Petrona Bold" pitchFamily="34" charset="-120"/>
              </a:rPr>
              <a:t>Centralized Dashboard</a:t>
            </a:r>
            <a:endParaRPr lang="en-US" sz="2200" dirty="0"/>
          </a:p>
        </p:txBody>
      </p:sp>
      <p:sp>
        <p:nvSpPr>
          <p:cNvPr id="6" name="Text 3"/>
          <p:cNvSpPr/>
          <p:nvPr/>
        </p:nvSpPr>
        <p:spPr>
          <a:xfrm>
            <a:off x="1306116" y="2658785"/>
            <a:ext cx="5750719" cy="321826"/>
          </a:xfrm>
          <a:prstGeom prst="rect">
            <a:avLst/>
          </a:prstGeom>
          <a:noFill/>
          <a:ln/>
        </p:spPr>
        <p:txBody>
          <a:bodyPr wrap="none" lIns="0" tIns="0" rIns="0" bIns="0" rtlCol="0" anchor="t"/>
          <a:lstStyle/>
          <a:p>
            <a:pPr marL="0" indent="0" algn="l">
              <a:lnSpc>
                <a:spcPts val="2500"/>
              </a:lnSpc>
              <a:buNone/>
            </a:pPr>
            <a:r>
              <a:rPr lang="en-US" sz="1750" dirty="0">
                <a:solidFill>
                  <a:srgbClr val="272525"/>
                </a:solidFill>
                <a:latin typeface="Inter" pitchFamily="34" charset="0"/>
                <a:ea typeface="Inter" pitchFamily="34" charset="-122"/>
                <a:cs typeface="Inter" pitchFamily="34" charset="-120"/>
              </a:rPr>
              <a:t>Develop web-based interface for server monitoring</a:t>
            </a:r>
            <a:endParaRPr lang="en-US" sz="1750" dirty="0"/>
          </a:p>
        </p:txBody>
      </p:sp>
      <p:sp>
        <p:nvSpPr>
          <p:cNvPr id="7" name="Shape 4"/>
          <p:cNvSpPr/>
          <p:nvPr/>
        </p:nvSpPr>
        <p:spPr>
          <a:xfrm>
            <a:off x="7386161" y="2032754"/>
            <a:ext cx="6125170" cy="1135023"/>
          </a:xfrm>
          <a:prstGeom prst="roundRect">
            <a:avLst>
              <a:gd name="adj" fmla="val 6646"/>
            </a:avLst>
          </a:prstGeom>
          <a:solidFill>
            <a:srgbClr val="CCEEFF"/>
          </a:solidFill>
          <a:ln w="7620">
            <a:solidFill>
              <a:srgbClr val="B2D4E5"/>
            </a:solidFill>
            <a:prstDash val="solid"/>
          </a:ln>
        </p:spPr>
      </p:sp>
      <p:sp>
        <p:nvSpPr>
          <p:cNvPr id="8" name="Text 5"/>
          <p:cNvSpPr/>
          <p:nvPr/>
        </p:nvSpPr>
        <p:spPr>
          <a:xfrm>
            <a:off x="7573327" y="2219920"/>
            <a:ext cx="3679269" cy="353616"/>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Petrona Bold" pitchFamily="34" charset="0"/>
                <a:ea typeface="Petrona Bold" pitchFamily="34" charset="-122"/>
                <a:cs typeface="Petrona Bold" pitchFamily="34" charset="-120"/>
              </a:rPr>
              <a:t>Automated Ping Mechanism</a:t>
            </a:r>
            <a:endParaRPr lang="en-US" sz="2200" dirty="0"/>
          </a:p>
        </p:txBody>
      </p:sp>
      <p:sp>
        <p:nvSpPr>
          <p:cNvPr id="9" name="Text 6"/>
          <p:cNvSpPr/>
          <p:nvPr/>
        </p:nvSpPr>
        <p:spPr>
          <a:xfrm>
            <a:off x="7573327" y="2658785"/>
            <a:ext cx="5750838" cy="321826"/>
          </a:xfrm>
          <a:prstGeom prst="rect">
            <a:avLst/>
          </a:prstGeom>
          <a:noFill/>
          <a:ln/>
        </p:spPr>
        <p:txBody>
          <a:bodyPr wrap="none" lIns="0" tIns="0" rIns="0" bIns="0" rtlCol="0" anchor="t"/>
          <a:lstStyle/>
          <a:p>
            <a:pPr marL="0" indent="0" algn="l">
              <a:lnSpc>
                <a:spcPts val="2500"/>
              </a:lnSpc>
              <a:buNone/>
            </a:pPr>
            <a:r>
              <a:rPr lang="en-US" sz="1750" dirty="0">
                <a:solidFill>
                  <a:srgbClr val="272525"/>
                </a:solidFill>
                <a:latin typeface="Inter" pitchFamily="34" charset="0"/>
                <a:ea typeface="Inter" pitchFamily="34" charset="-122"/>
                <a:cs typeface="Inter" pitchFamily="34" charset="-120"/>
              </a:rPr>
              <a:t>Automatically check server availability using ping</a:t>
            </a:r>
            <a:endParaRPr lang="en-US" sz="1750" dirty="0"/>
          </a:p>
        </p:txBody>
      </p:sp>
      <p:sp>
        <p:nvSpPr>
          <p:cNvPr id="10" name="Shape 7"/>
          <p:cNvSpPr/>
          <p:nvPr/>
        </p:nvSpPr>
        <p:spPr>
          <a:xfrm>
            <a:off x="1118949" y="3309938"/>
            <a:ext cx="6125051" cy="1135023"/>
          </a:xfrm>
          <a:prstGeom prst="roundRect">
            <a:avLst>
              <a:gd name="adj" fmla="val 6646"/>
            </a:avLst>
          </a:prstGeom>
          <a:solidFill>
            <a:srgbClr val="CCEEFF"/>
          </a:solidFill>
          <a:ln w="7620">
            <a:solidFill>
              <a:srgbClr val="B2D4E5"/>
            </a:solidFill>
            <a:prstDash val="solid"/>
          </a:ln>
        </p:spPr>
      </p:sp>
      <p:sp>
        <p:nvSpPr>
          <p:cNvPr id="11" name="Text 8"/>
          <p:cNvSpPr/>
          <p:nvPr/>
        </p:nvSpPr>
        <p:spPr>
          <a:xfrm>
            <a:off x="1306116" y="3497104"/>
            <a:ext cx="3255645" cy="353616"/>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Petrona Bold" pitchFamily="34" charset="0"/>
                <a:ea typeface="Petrona Bold" pitchFamily="34" charset="-122"/>
                <a:cs typeface="Petrona Bold" pitchFamily="34" charset="-120"/>
              </a:rPr>
              <a:t>Real-Time Status Display</a:t>
            </a:r>
            <a:endParaRPr lang="en-US" sz="2200" dirty="0"/>
          </a:p>
        </p:txBody>
      </p:sp>
      <p:sp>
        <p:nvSpPr>
          <p:cNvPr id="12" name="Text 9"/>
          <p:cNvSpPr/>
          <p:nvPr/>
        </p:nvSpPr>
        <p:spPr>
          <a:xfrm>
            <a:off x="1306116" y="3935968"/>
            <a:ext cx="5750719" cy="321826"/>
          </a:xfrm>
          <a:prstGeom prst="rect">
            <a:avLst/>
          </a:prstGeom>
          <a:noFill/>
          <a:ln/>
        </p:spPr>
        <p:txBody>
          <a:bodyPr wrap="none" lIns="0" tIns="0" rIns="0" bIns="0" rtlCol="0" anchor="t"/>
          <a:lstStyle/>
          <a:p>
            <a:pPr marL="0" indent="0" algn="l">
              <a:lnSpc>
                <a:spcPts val="2500"/>
              </a:lnSpc>
              <a:buNone/>
            </a:pPr>
            <a:r>
              <a:rPr lang="en-US" sz="1750" dirty="0">
                <a:solidFill>
                  <a:srgbClr val="272525"/>
                </a:solidFill>
                <a:latin typeface="Inter" pitchFamily="34" charset="0"/>
                <a:ea typeface="Inter" pitchFamily="34" charset="-122"/>
                <a:cs typeface="Inter" pitchFamily="34" charset="-120"/>
              </a:rPr>
              <a:t>Show UP/DOWN status in real-time</a:t>
            </a:r>
            <a:endParaRPr lang="en-US" sz="1750" dirty="0"/>
          </a:p>
        </p:txBody>
      </p:sp>
      <p:sp>
        <p:nvSpPr>
          <p:cNvPr id="13" name="Shape 10"/>
          <p:cNvSpPr/>
          <p:nvPr/>
        </p:nvSpPr>
        <p:spPr>
          <a:xfrm>
            <a:off x="7386161" y="3309938"/>
            <a:ext cx="6125170" cy="1135023"/>
          </a:xfrm>
          <a:prstGeom prst="roundRect">
            <a:avLst>
              <a:gd name="adj" fmla="val 6646"/>
            </a:avLst>
          </a:prstGeom>
          <a:solidFill>
            <a:srgbClr val="CCEEFF"/>
          </a:solidFill>
          <a:ln w="7620">
            <a:solidFill>
              <a:srgbClr val="B2D4E5"/>
            </a:solidFill>
            <a:prstDash val="solid"/>
          </a:ln>
        </p:spPr>
      </p:sp>
      <p:sp>
        <p:nvSpPr>
          <p:cNvPr id="14" name="Text 11"/>
          <p:cNvSpPr/>
          <p:nvPr/>
        </p:nvSpPr>
        <p:spPr>
          <a:xfrm>
            <a:off x="7573327" y="3497104"/>
            <a:ext cx="2828687" cy="353616"/>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Petrona Bold" pitchFamily="34" charset="0"/>
                <a:ea typeface="Petrona Bold" pitchFamily="34" charset="-122"/>
                <a:cs typeface="Petrona Bold" pitchFamily="34" charset="-120"/>
              </a:rPr>
              <a:t>Enhanced Reliability</a:t>
            </a:r>
            <a:endParaRPr lang="en-US" sz="2200" dirty="0"/>
          </a:p>
        </p:txBody>
      </p:sp>
      <p:sp>
        <p:nvSpPr>
          <p:cNvPr id="15" name="Text 12"/>
          <p:cNvSpPr/>
          <p:nvPr/>
        </p:nvSpPr>
        <p:spPr>
          <a:xfrm>
            <a:off x="7573327" y="3935968"/>
            <a:ext cx="5750838" cy="321826"/>
          </a:xfrm>
          <a:prstGeom prst="rect">
            <a:avLst/>
          </a:prstGeom>
          <a:noFill/>
          <a:ln/>
        </p:spPr>
        <p:txBody>
          <a:bodyPr wrap="none" lIns="0" tIns="0" rIns="0" bIns="0" rtlCol="0" anchor="t"/>
          <a:lstStyle/>
          <a:p>
            <a:pPr marL="0" indent="0" algn="l">
              <a:lnSpc>
                <a:spcPts val="2500"/>
              </a:lnSpc>
              <a:buNone/>
            </a:pPr>
            <a:r>
              <a:rPr lang="en-US" sz="1750" dirty="0">
                <a:solidFill>
                  <a:srgbClr val="272525"/>
                </a:solidFill>
                <a:latin typeface="Inter" pitchFamily="34" charset="0"/>
                <a:ea typeface="Inter" pitchFamily="34" charset="-122"/>
                <a:cs typeface="Inter" pitchFamily="34" charset="-120"/>
              </a:rPr>
              <a:t>Handle database connection failures gracefully</a:t>
            </a:r>
            <a:endParaRPr lang="en-US" sz="1750" dirty="0"/>
          </a:p>
        </p:txBody>
      </p:sp>
      <p:sp>
        <p:nvSpPr>
          <p:cNvPr id="16" name="Shape 13"/>
          <p:cNvSpPr/>
          <p:nvPr/>
        </p:nvSpPr>
        <p:spPr>
          <a:xfrm>
            <a:off x="1118949" y="4587121"/>
            <a:ext cx="6125051" cy="1135023"/>
          </a:xfrm>
          <a:prstGeom prst="roundRect">
            <a:avLst>
              <a:gd name="adj" fmla="val 6646"/>
            </a:avLst>
          </a:prstGeom>
          <a:solidFill>
            <a:srgbClr val="CCEEFF"/>
          </a:solidFill>
          <a:ln w="7620">
            <a:solidFill>
              <a:srgbClr val="B2D4E5"/>
            </a:solidFill>
            <a:prstDash val="solid"/>
          </a:ln>
        </p:spPr>
      </p:sp>
      <p:sp>
        <p:nvSpPr>
          <p:cNvPr id="17" name="Text 14"/>
          <p:cNvSpPr/>
          <p:nvPr/>
        </p:nvSpPr>
        <p:spPr>
          <a:xfrm>
            <a:off x="1306116" y="4774287"/>
            <a:ext cx="2888575" cy="353616"/>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Petrona Bold" pitchFamily="34" charset="0"/>
                <a:ea typeface="Petrona Bold" pitchFamily="34" charset="-122"/>
                <a:cs typeface="Petrona Bold" pitchFamily="34" charset="-120"/>
              </a:rPr>
              <a:t>Dynamic Connectivity</a:t>
            </a:r>
            <a:endParaRPr lang="en-US" sz="2200" dirty="0"/>
          </a:p>
        </p:txBody>
      </p:sp>
      <p:sp>
        <p:nvSpPr>
          <p:cNvPr id="18" name="Text 15"/>
          <p:cNvSpPr/>
          <p:nvPr/>
        </p:nvSpPr>
        <p:spPr>
          <a:xfrm>
            <a:off x="1306116" y="5213152"/>
            <a:ext cx="5750719" cy="321826"/>
          </a:xfrm>
          <a:prstGeom prst="rect">
            <a:avLst/>
          </a:prstGeom>
          <a:noFill/>
          <a:ln/>
        </p:spPr>
        <p:txBody>
          <a:bodyPr wrap="none" lIns="0" tIns="0" rIns="0" bIns="0" rtlCol="0" anchor="t"/>
          <a:lstStyle/>
          <a:p>
            <a:pPr marL="0" indent="0" algn="l">
              <a:lnSpc>
                <a:spcPts val="2500"/>
              </a:lnSpc>
              <a:buNone/>
            </a:pPr>
            <a:r>
              <a:rPr lang="en-US" sz="1750" dirty="0">
                <a:solidFill>
                  <a:srgbClr val="272525"/>
                </a:solidFill>
                <a:latin typeface="Inter" pitchFamily="34" charset="0"/>
                <a:ea typeface="Inter" pitchFamily="34" charset="-122"/>
                <a:cs typeface="Inter" pitchFamily="34" charset="-120"/>
              </a:rPr>
              <a:t>Implement dynamic database connections</a:t>
            </a:r>
            <a:endParaRPr lang="en-US" sz="1750" dirty="0"/>
          </a:p>
        </p:txBody>
      </p:sp>
      <p:sp>
        <p:nvSpPr>
          <p:cNvPr id="19" name="Shape 16"/>
          <p:cNvSpPr/>
          <p:nvPr/>
        </p:nvSpPr>
        <p:spPr>
          <a:xfrm>
            <a:off x="7386161" y="4587121"/>
            <a:ext cx="6125170" cy="1135023"/>
          </a:xfrm>
          <a:prstGeom prst="roundRect">
            <a:avLst>
              <a:gd name="adj" fmla="val 6646"/>
            </a:avLst>
          </a:prstGeom>
          <a:solidFill>
            <a:srgbClr val="CCEEFF"/>
          </a:solidFill>
          <a:ln w="7620">
            <a:solidFill>
              <a:srgbClr val="B2D4E5"/>
            </a:solidFill>
            <a:prstDash val="solid"/>
          </a:ln>
        </p:spPr>
      </p:sp>
      <p:sp>
        <p:nvSpPr>
          <p:cNvPr id="20" name="Text 17"/>
          <p:cNvSpPr/>
          <p:nvPr/>
        </p:nvSpPr>
        <p:spPr>
          <a:xfrm>
            <a:off x="7573327" y="4774287"/>
            <a:ext cx="2828687" cy="353616"/>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Petrona Bold" pitchFamily="34" charset="0"/>
                <a:ea typeface="Petrona Bold" pitchFamily="34" charset="-122"/>
                <a:cs typeface="Petrona Bold" pitchFamily="34" charset="-120"/>
              </a:rPr>
              <a:t>Search &amp; Filter</a:t>
            </a:r>
            <a:endParaRPr lang="en-US" sz="2200" dirty="0"/>
          </a:p>
        </p:txBody>
      </p:sp>
      <p:sp>
        <p:nvSpPr>
          <p:cNvPr id="21" name="Text 18"/>
          <p:cNvSpPr/>
          <p:nvPr/>
        </p:nvSpPr>
        <p:spPr>
          <a:xfrm>
            <a:off x="7573327" y="5213152"/>
            <a:ext cx="5750838" cy="321826"/>
          </a:xfrm>
          <a:prstGeom prst="rect">
            <a:avLst/>
          </a:prstGeom>
          <a:noFill/>
          <a:ln/>
        </p:spPr>
        <p:txBody>
          <a:bodyPr wrap="none" lIns="0" tIns="0" rIns="0" bIns="0" rtlCol="0" anchor="t"/>
          <a:lstStyle/>
          <a:p>
            <a:pPr marL="0" indent="0" algn="l">
              <a:lnSpc>
                <a:spcPts val="2500"/>
              </a:lnSpc>
              <a:buNone/>
            </a:pPr>
            <a:r>
              <a:rPr lang="en-US" sz="1750" dirty="0">
                <a:solidFill>
                  <a:srgbClr val="272525"/>
                </a:solidFill>
                <a:latin typeface="Inter" pitchFamily="34" charset="0"/>
                <a:ea typeface="Inter" pitchFamily="34" charset="-122"/>
                <a:cs typeface="Inter" pitchFamily="34" charset="-120"/>
              </a:rPr>
              <a:t>Enable easy data analysis capabilities</a:t>
            </a:r>
            <a:endParaRPr lang="en-US" sz="1750" dirty="0"/>
          </a:p>
        </p:txBody>
      </p:sp>
      <p:sp>
        <p:nvSpPr>
          <p:cNvPr id="22" name="Shape 19"/>
          <p:cNvSpPr/>
          <p:nvPr/>
        </p:nvSpPr>
        <p:spPr>
          <a:xfrm>
            <a:off x="1118949" y="5864304"/>
            <a:ext cx="6125051" cy="1135023"/>
          </a:xfrm>
          <a:prstGeom prst="roundRect">
            <a:avLst>
              <a:gd name="adj" fmla="val 6646"/>
            </a:avLst>
          </a:prstGeom>
          <a:solidFill>
            <a:srgbClr val="CCEEFF"/>
          </a:solidFill>
          <a:ln w="7620">
            <a:solidFill>
              <a:srgbClr val="B2D4E5"/>
            </a:solidFill>
            <a:prstDash val="solid"/>
          </a:ln>
        </p:spPr>
      </p:sp>
      <p:sp>
        <p:nvSpPr>
          <p:cNvPr id="23" name="Text 20"/>
          <p:cNvSpPr/>
          <p:nvPr/>
        </p:nvSpPr>
        <p:spPr>
          <a:xfrm>
            <a:off x="1306116" y="6051471"/>
            <a:ext cx="2964894" cy="353616"/>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Petrona Bold" pitchFamily="34" charset="0"/>
                <a:ea typeface="Petrona Bold" pitchFamily="34" charset="-122"/>
                <a:cs typeface="Petrona Bold" pitchFamily="34" charset="-120"/>
              </a:rPr>
              <a:t>Automated Scheduling</a:t>
            </a:r>
            <a:endParaRPr lang="en-US" sz="2200" dirty="0"/>
          </a:p>
        </p:txBody>
      </p:sp>
      <p:sp>
        <p:nvSpPr>
          <p:cNvPr id="24" name="Text 21"/>
          <p:cNvSpPr/>
          <p:nvPr/>
        </p:nvSpPr>
        <p:spPr>
          <a:xfrm>
            <a:off x="1306116" y="6490335"/>
            <a:ext cx="5750719" cy="321826"/>
          </a:xfrm>
          <a:prstGeom prst="rect">
            <a:avLst/>
          </a:prstGeom>
          <a:noFill/>
          <a:ln/>
        </p:spPr>
        <p:txBody>
          <a:bodyPr wrap="none" lIns="0" tIns="0" rIns="0" bIns="0" rtlCol="0" anchor="t"/>
          <a:lstStyle/>
          <a:p>
            <a:pPr marL="0" indent="0" algn="l">
              <a:lnSpc>
                <a:spcPts val="2500"/>
              </a:lnSpc>
              <a:buNone/>
            </a:pPr>
            <a:r>
              <a:rPr lang="en-US" sz="1750" dirty="0">
                <a:solidFill>
                  <a:srgbClr val="272525"/>
                </a:solidFill>
                <a:latin typeface="Inter" pitchFamily="34" charset="0"/>
                <a:ea typeface="Inter" pitchFamily="34" charset="-122"/>
                <a:cs typeface="Inter" pitchFamily="34" charset="-120"/>
              </a:rPr>
              <a:t>Run monitoring automatically on schedule</a:t>
            </a:r>
            <a:endParaRPr lang="en-US" sz="1750" dirty="0"/>
          </a:p>
        </p:txBody>
      </p:sp>
      <p:sp>
        <p:nvSpPr>
          <p:cNvPr id="25" name="Shape 22"/>
          <p:cNvSpPr/>
          <p:nvPr/>
        </p:nvSpPr>
        <p:spPr>
          <a:xfrm>
            <a:off x="7386161" y="5864304"/>
            <a:ext cx="6125170" cy="1135023"/>
          </a:xfrm>
          <a:prstGeom prst="roundRect">
            <a:avLst>
              <a:gd name="adj" fmla="val 6646"/>
            </a:avLst>
          </a:prstGeom>
          <a:solidFill>
            <a:srgbClr val="CCEEFF"/>
          </a:solidFill>
          <a:ln w="7620">
            <a:solidFill>
              <a:srgbClr val="B2D4E5"/>
            </a:solidFill>
            <a:prstDash val="solid"/>
          </a:ln>
        </p:spPr>
      </p:sp>
      <p:sp>
        <p:nvSpPr>
          <p:cNvPr id="26" name="Text 23"/>
          <p:cNvSpPr/>
          <p:nvPr/>
        </p:nvSpPr>
        <p:spPr>
          <a:xfrm>
            <a:off x="7573327" y="6051471"/>
            <a:ext cx="2923342" cy="353616"/>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Petrona Bold" pitchFamily="34" charset="0"/>
                <a:ea typeface="Petrona Bold" pitchFamily="34" charset="-122"/>
                <a:cs typeface="Petrona Bold" pitchFamily="34" charset="-120"/>
              </a:rPr>
              <a:t>Operational Efficiency</a:t>
            </a:r>
            <a:endParaRPr lang="en-US" sz="2200" dirty="0"/>
          </a:p>
        </p:txBody>
      </p:sp>
      <p:sp>
        <p:nvSpPr>
          <p:cNvPr id="27" name="Text 24"/>
          <p:cNvSpPr/>
          <p:nvPr/>
        </p:nvSpPr>
        <p:spPr>
          <a:xfrm>
            <a:off x="7573327" y="6490335"/>
            <a:ext cx="5750838" cy="321826"/>
          </a:xfrm>
          <a:prstGeom prst="rect">
            <a:avLst/>
          </a:prstGeom>
          <a:noFill/>
          <a:ln/>
        </p:spPr>
        <p:txBody>
          <a:bodyPr wrap="none" lIns="0" tIns="0" rIns="0" bIns="0" rtlCol="0" anchor="t"/>
          <a:lstStyle/>
          <a:p>
            <a:pPr marL="0" indent="0" algn="l">
              <a:lnSpc>
                <a:spcPts val="2500"/>
              </a:lnSpc>
              <a:buNone/>
            </a:pPr>
            <a:r>
              <a:rPr lang="en-US" sz="1750" dirty="0">
                <a:solidFill>
                  <a:srgbClr val="272525"/>
                </a:solidFill>
                <a:latin typeface="Inter" pitchFamily="34" charset="0"/>
                <a:ea typeface="Inter" pitchFamily="34" charset="-122"/>
                <a:cs typeface="Inter" pitchFamily="34" charset="-120"/>
              </a:rPr>
              <a:t>Reduce manual effort and increase productivity</a:t>
            </a:r>
            <a:endParaRPr lang="en-US" sz="1750" dirty="0"/>
          </a:p>
        </p:txBody>
      </p:sp>
      <p:pic>
        <p:nvPicPr>
          <p:cNvPr id="28" name="Picture 27"/>
          <p:cNvPicPr>
            <a:picLocks noChangeAspect="1"/>
          </p:cNvPicPr>
          <p:nvPr/>
        </p:nvPicPr>
        <p:blipFill rotWithShape="1">
          <a:blip r:embed="rId3" cstate="print">
            <a:extLst>
              <a:ext uri="{28A0092B-C50C-407E-A947-70E740481C1C}">
                <a14:useLocalDpi xmlns:a14="http://schemas.microsoft.com/office/drawing/2010/main" val="0"/>
              </a:ext>
            </a:extLst>
          </a:blip>
          <a:srcRect b="40404"/>
          <a:stretch/>
        </p:blipFill>
        <p:spPr>
          <a:xfrm>
            <a:off x="11500104" y="-168451"/>
            <a:ext cx="3255264" cy="982820"/>
          </a:xfrm>
          <a:prstGeom prst="rect">
            <a:avLst/>
          </a:prstGeom>
        </p:spPr>
      </p:pic>
      <p:sp>
        <p:nvSpPr>
          <p:cNvPr id="29" name="Freeform 28">
            <a:extLst>
              <a:ext uri="{FF2B5EF4-FFF2-40B4-BE49-F238E27FC236}">
                <a16:creationId xmlns="" xmlns:a16="http://schemas.microsoft.com/office/drawing/2014/main" id="{D26F4A47-9C92-41C8-B9AA-0DCABA043242}"/>
              </a:ext>
            </a:extLst>
          </p:cNvPr>
          <p:cNvSpPr>
            <a:spLocks/>
          </p:cNvSpPr>
          <p:nvPr/>
        </p:nvSpPr>
        <p:spPr bwMode="auto">
          <a:xfrm>
            <a:off x="0" y="1"/>
            <a:ext cx="3166278" cy="1183398"/>
          </a:xfrm>
          <a:custGeom>
            <a:avLst/>
            <a:gdLst>
              <a:gd name="T0" fmla="*/ 249 w 1501"/>
              <a:gd name="T1" fmla="*/ 561 h 561"/>
              <a:gd name="T2" fmla="*/ 1501 w 1501"/>
              <a:gd name="T3" fmla="*/ 6 h 561"/>
              <a:gd name="T4" fmla="*/ 1499 w 1501"/>
              <a:gd name="T5" fmla="*/ 0 h 561"/>
              <a:gd name="T6" fmla="*/ 0 w 1501"/>
              <a:gd name="T7" fmla="*/ 0 h 561"/>
              <a:gd name="T8" fmla="*/ 249 w 1501"/>
              <a:gd name="T9" fmla="*/ 561 h 561"/>
            </a:gdLst>
            <a:ahLst/>
            <a:cxnLst>
              <a:cxn ang="0">
                <a:pos x="T0" y="T1"/>
              </a:cxn>
              <a:cxn ang="0">
                <a:pos x="T2" y="T3"/>
              </a:cxn>
              <a:cxn ang="0">
                <a:pos x="T4" y="T5"/>
              </a:cxn>
              <a:cxn ang="0">
                <a:pos x="T6" y="T7"/>
              </a:cxn>
              <a:cxn ang="0">
                <a:pos x="T8" y="T9"/>
              </a:cxn>
            </a:cxnLst>
            <a:rect l="0" t="0" r="r" b="b"/>
            <a:pathLst>
              <a:path w="1501" h="561">
                <a:moveTo>
                  <a:pt x="249" y="561"/>
                </a:moveTo>
                <a:lnTo>
                  <a:pt x="1501" y="6"/>
                </a:lnTo>
                <a:lnTo>
                  <a:pt x="1499" y="0"/>
                </a:lnTo>
                <a:lnTo>
                  <a:pt x="0" y="0"/>
                </a:lnTo>
                <a:lnTo>
                  <a:pt x="249" y="561"/>
                </a:lnTo>
                <a:close/>
              </a:path>
            </a:pathLst>
          </a:custGeom>
          <a:solidFill>
            <a:srgbClr val="FDB913"/>
          </a:solidFill>
          <a:ln>
            <a:noFill/>
          </a:ln>
          <a:effectLst>
            <a:outerShdw blurRad="431800" dist="50800" dir="5400000" algn="ctr" rotWithShape="0">
              <a:srgbClr val="000000">
                <a:alpha val="25000"/>
              </a:srgbClr>
            </a:outerShdw>
          </a:effectLst>
        </p:spPr>
        <p:txBody>
          <a:bodyPr vert="horz" wrap="square" lIns="68580" tIns="34290" rIns="68580" bIns="34290" numCol="1" anchor="t" anchorCtr="0" compatLnSpc="1">
            <a:prstTxWarp prst="textNoShape">
              <a:avLst/>
            </a:prstTxWarp>
          </a:bodyPr>
          <a:lstStyle/>
          <a:p>
            <a:endParaRPr lang="en-ID" sz="1350"/>
          </a:p>
        </p:txBody>
      </p:sp>
      <p:pic>
        <p:nvPicPr>
          <p:cNvPr id="30" name="Picture 29">
            <a:extLst>
              <a:ext uri="{FF2B5EF4-FFF2-40B4-BE49-F238E27FC236}">
                <a16:creationId xmlns:a16="http://schemas.microsoft.com/office/drawing/2014/main" xmlns="" id="{49C7B44A-AD34-9D58-6374-8F3854056B3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06672" y="98893"/>
            <a:ext cx="3204766" cy="492807"/>
          </a:xfrm>
          <a:prstGeom prst="rect">
            <a:avLst/>
          </a:prstGeom>
        </p:spPr>
      </p:pic>
      <p:sp>
        <p:nvSpPr>
          <p:cNvPr id="2" name="Rectangle 1"/>
          <p:cNvSpPr/>
          <p:nvPr/>
        </p:nvSpPr>
        <p:spPr>
          <a:xfrm>
            <a:off x="12363450" y="7696200"/>
            <a:ext cx="2266950" cy="4000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Freeform 9">
            <a:extLst>
              <a:ext uri="{FF2B5EF4-FFF2-40B4-BE49-F238E27FC236}">
                <a16:creationId xmlns:a16="http://schemas.microsoft.com/office/drawing/2014/main" xmlns="" id="{EF13015C-E884-4625-9DF9-3D67995D337B}"/>
              </a:ext>
            </a:extLst>
          </p:cNvPr>
          <p:cNvSpPr>
            <a:spLocks/>
          </p:cNvSpPr>
          <p:nvPr/>
        </p:nvSpPr>
        <p:spPr bwMode="auto">
          <a:xfrm>
            <a:off x="11084390" y="6281399"/>
            <a:ext cx="3546009" cy="1948201"/>
          </a:xfrm>
          <a:custGeom>
            <a:avLst/>
            <a:gdLst>
              <a:gd name="T0" fmla="*/ 1685 w 2016"/>
              <a:gd name="T1" fmla="*/ 0 h 744"/>
              <a:gd name="T2" fmla="*/ 0 w 2016"/>
              <a:gd name="T3" fmla="*/ 744 h 744"/>
              <a:gd name="T4" fmla="*/ 2016 w 2016"/>
              <a:gd name="T5" fmla="*/ 744 h 744"/>
              <a:gd name="T6" fmla="*/ 1685 w 2016"/>
              <a:gd name="T7" fmla="*/ 0 h 744"/>
            </a:gdLst>
            <a:ahLst/>
            <a:cxnLst>
              <a:cxn ang="0">
                <a:pos x="T0" y="T1"/>
              </a:cxn>
              <a:cxn ang="0">
                <a:pos x="T2" y="T3"/>
              </a:cxn>
              <a:cxn ang="0">
                <a:pos x="T4" y="T5"/>
              </a:cxn>
              <a:cxn ang="0">
                <a:pos x="T6" y="T7"/>
              </a:cxn>
            </a:cxnLst>
            <a:rect l="0" t="0" r="r" b="b"/>
            <a:pathLst>
              <a:path w="2016" h="744">
                <a:moveTo>
                  <a:pt x="1685" y="0"/>
                </a:moveTo>
                <a:lnTo>
                  <a:pt x="0" y="744"/>
                </a:lnTo>
                <a:lnTo>
                  <a:pt x="2016" y="744"/>
                </a:lnTo>
                <a:lnTo>
                  <a:pt x="1685" y="0"/>
                </a:lnTo>
                <a:close/>
              </a:path>
            </a:pathLst>
          </a:custGeom>
          <a:solidFill>
            <a:srgbClr val="FDB913"/>
          </a:solidFill>
          <a:ln>
            <a:noFill/>
          </a:ln>
          <a:effectLst>
            <a:outerShdw blurRad="431800" dist="50800" dir="5400000" algn="ctr" rotWithShape="0">
              <a:srgbClr val="000000">
                <a:alpha val="25000"/>
              </a:srgbClr>
            </a:outerShdw>
          </a:effectLst>
        </p:spPr>
        <p:txBody>
          <a:bodyPr vert="horz" wrap="square" lIns="68580" tIns="34290" rIns="68580" bIns="34290" numCol="1" anchor="t" anchorCtr="0" compatLnSpc="1">
            <a:prstTxWarp prst="textNoShape">
              <a:avLst/>
            </a:prstTxWarp>
          </a:bodyPr>
          <a:lstStyle/>
          <a:p>
            <a:endParaRPr lang="en-ID" sz="13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accel="40000" decel="4000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1000" fill="hold"/>
                                        <p:tgtEl>
                                          <p:spTgt spid="29"/>
                                        </p:tgtEl>
                                        <p:attrNameLst>
                                          <p:attrName>ppt_x</p:attrName>
                                        </p:attrNameLst>
                                      </p:cBhvr>
                                      <p:tavLst>
                                        <p:tav tm="0">
                                          <p:val>
                                            <p:strVal val="#ppt_x"/>
                                          </p:val>
                                        </p:tav>
                                        <p:tav tm="100000">
                                          <p:val>
                                            <p:strVal val="#ppt_x"/>
                                          </p:val>
                                        </p:tav>
                                      </p:tavLst>
                                    </p:anim>
                                    <p:anim calcmode="lin" valueType="num">
                                      <p:cBhvr additive="base">
                                        <p:cTn id="8" dur="1000" fill="hold"/>
                                        <p:tgtEl>
                                          <p:spTgt spid="29"/>
                                        </p:tgtEl>
                                        <p:attrNameLst>
                                          <p:attrName>ppt_y</p:attrName>
                                        </p:attrNameLst>
                                      </p:cBhvr>
                                      <p:tavLst>
                                        <p:tav tm="0">
                                          <p:val>
                                            <p:strVal val="0-#ppt_h/2"/>
                                          </p:val>
                                        </p:tav>
                                        <p:tav tm="100000">
                                          <p:val>
                                            <p:strVal val="#ppt_y"/>
                                          </p:val>
                                        </p:tav>
                                      </p:tavLst>
                                    </p:anim>
                                  </p:childTnLst>
                                </p:cTn>
                              </p:par>
                              <p:par>
                                <p:cTn id="9" presetID="2" presetClass="entr" presetSubtype="4" accel="40000" decel="40000"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anim calcmode="lin" valueType="num">
                                      <p:cBhvr additive="base">
                                        <p:cTn id="11" dur="1000" fill="hold"/>
                                        <p:tgtEl>
                                          <p:spTgt spid="31"/>
                                        </p:tgtEl>
                                        <p:attrNameLst>
                                          <p:attrName>ppt_x</p:attrName>
                                        </p:attrNameLst>
                                      </p:cBhvr>
                                      <p:tavLst>
                                        <p:tav tm="0">
                                          <p:val>
                                            <p:strVal val="#ppt_x"/>
                                          </p:val>
                                        </p:tav>
                                        <p:tav tm="100000">
                                          <p:val>
                                            <p:strVal val="#ppt_x"/>
                                          </p:val>
                                        </p:tav>
                                      </p:tavLst>
                                    </p:anim>
                                    <p:anim calcmode="lin" valueType="num">
                                      <p:cBhvr additive="base">
                                        <p:cTn id="12" dur="10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1333857" y="726877"/>
            <a:ext cx="4550926" cy="568762"/>
          </a:xfrm>
          <a:prstGeom prst="rect">
            <a:avLst/>
          </a:prstGeom>
          <a:noFill/>
          <a:ln/>
        </p:spPr>
        <p:txBody>
          <a:bodyPr wrap="none" lIns="0" tIns="0" rIns="0" bIns="0" rtlCol="0" anchor="t"/>
          <a:lstStyle/>
          <a:p>
            <a:pPr marL="0" indent="0" algn="l">
              <a:lnSpc>
                <a:spcPts val="4450"/>
              </a:lnSpc>
              <a:buNone/>
            </a:pPr>
            <a:r>
              <a:rPr lang="en-US" sz="4400" b="1" dirty="0">
                <a:solidFill>
                  <a:srgbClr val="000000"/>
                </a:solidFill>
                <a:latin typeface="Petrona Bold" pitchFamily="34" charset="0"/>
                <a:ea typeface="Petrona Bold" pitchFamily="34" charset="-122"/>
                <a:cs typeface="Petrona Bold" pitchFamily="34" charset="-120"/>
              </a:rPr>
              <a:t>System Workflow</a:t>
            </a:r>
            <a:endParaRPr lang="en-US" sz="4400" dirty="0"/>
          </a:p>
        </p:txBody>
      </p:sp>
      <p:sp>
        <p:nvSpPr>
          <p:cNvPr id="4" name="Text 1"/>
          <p:cNvSpPr/>
          <p:nvPr/>
        </p:nvSpPr>
        <p:spPr>
          <a:xfrm>
            <a:off x="1333857" y="1348621"/>
            <a:ext cx="5191363" cy="341233"/>
          </a:xfrm>
          <a:prstGeom prst="rect">
            <a:avLst/>
          </a:prstGeom>
          <a:noFill/>
          <a:ln/>
        </p:spPr>
        <p:txBody>
          <a:bodyPr wrap="none" lIns="0" tIns="0" rIns="0" bIns="0" rtlCol="0" anchor="t"/>
          <a:lstStyle/>
          <a:p>
            <a:pPr marL="0" indent="0" algn="l">
              <a:lnSpc>
                <a:spcPts val="2650"/>
              </a:lnSpc>
              <a:buNone/>
            </a:pPr>
            <a:r>
              <a:rPr lang="en-US" sz="2150" b="1" dirty="0">
                <a:solidFill>
                  <a:srgbClr val="000000"/>
                </a:solidFill>
                <a:latin typeface="Petrona Bold" pitchFamily="34" charset="0"/>
                <a:ea typeface="Petrona Bold" pitchFamily="34" charset="-122"/>
                <a:cs typeface="Petrona Bold" pitchFamily="34" charset="-120"/>
              </a:rPr>
              <a:t>1)Server details are stored in the database</a:t>
            </a:r>
            <a:endParaRPr lang="en-US" sz="2150" dirty="0"/>
          </a:p>
        </p:txBody>
      </p:sp>
      <p:sp>
        <p:nvSpPr>
          <p:cNvPr id="5" name="Text 2"/>
          <p:cNvSpPr/>
          <p:nvPr/>
        </p:nvSpPr>
        <p:spPr>
          <a:xfrm>
            <a:off x="1333857" y="1742837"/>
            <a:ext cx="6458903" cy="341233"/>
          </a:xfrm>
          <a:prstGeom prst="rect">
            <a:avLst/>
          </a:prstGeom>
          <a:noFill/>
          <a:ln/>
        </p:spPr>
        <p:txBody>
          <a:bodyPr wrap="none" lIns="0" tIns="0" rIns="0" bIns="0" rtlCol="0" anchor="t"/>
          <a:lstStyle/>
          <a:p>
            <a:pPr marL="0" indent="0" algn="l">
              <a:lnSpc>
                <a:spcPts val="2650"/>
              </a:lnSpc>
              <a:buNone/>
            </a:pPr>
            <a:r>
              <a:rPr lang="en-US" sz="2150" b="1" dirty="0">
                <a:solidFill>
                  <a:srgbClr val="000000"/>
                </a:solidFill>
                <a:latin typeface="Petrona Bold" pitchFamily="34" charset="0"/>
                <a:ea typeface="Petrona Bold" pitchFamily="34" charset="-122"/>
                <a:cs typeface="Petrona Bold" pitchFamily="34" charset="-120"/>
              </a:rPr>
              <a:t>2)Python-based monitoring script runs periodically</a:t>
            </a:r>
            <a:endParaRPr lang="en-US" sz="2150" dirty="0"/>
          </a:p>
        </p:txBody>
      </p:sp>
      <p:sp>
        <p:nvSpPr>
          <p:cNvPr id="6" name="Text 3"/>
          <p:cNvSpPr/>
          <p:nvPr/>
        </p:nvSpPr>
        <p:spPr>
          <a:xfrm>
            <a:off x="1333857" y="2137053"/>
            <a:ext cx="4539972" cy="341233"/>
          </a:xfrm>
          <a:prstGeom prst="rect">
            <a:avLst/>
          </a:prstGeom>
          <a:noFill/>
          <a:ln/>
        </p:spPr>
        <p:txBody>
          <a:bodyPr wrap="none" lIns="0" tIns="0" rIns="0" bIns="0" rtlCol="0" anchor="t"/>
          <a:lstStyle/>
          <a:p>
            <a:pPr marL="0" indent="0" algn="l">
              <a:lnSpc>
                <a:spcPts val="2650"/>
              </a:lnSpc>
              <a:buNone/>
            </a:pPr>
            <a:r>
              <a:rPr lang="en-US" sz="2150" b="1" dirty="0">
                <a:solidFill>
                  <a:srgbClr val="000000"/>
                </a:solidFill>
                <a:latin typeface="Petrona Bold" pitchFamily="34" charset="0"/>
                <a:ea typeface="Petrona Bold" pitchFamily="34" charset="-122"/>
                <a:cs typeface="Petrona Bold" pitchFamily="34" charset="-120"/>
              </a:rPr>
              <a:t>3)Sends ping requests to each server</a:t>
            </a:r>
            <a:endParaRPr lang="en-US" sz="2150" dirty="0"/>
          </a:p>
        </p:txBody>
      </p:sp>
      <p:sp>
        <p:nvSpPr>
          <p:cNvPr id="7" name="Text 4"/>
          <p:cNvSpPr/>
          <p:nvPr/>
        </p:nvSpPr>
        <p:spPr>
          <a:xfrm>
            <a:off x="1333857" y="2531269"/>
            <a:ext cx="4948118" cy="341233"/>
          </a:xfrm>
          <a:prstGeom prst="rect">
            <a:avLst/>
          </a:prstGeom>
          <a:noFill/>
          <a:ln/>
        </p:spPr>
        <p:txBody>
          <a:bodyPr wrap="none" lIns="0" tIns="0" rIns="0" bIns="0" rtlCol="0" anchor="t"/>
          <a:lstStyle/>
          <a:p>
            <a:pPr marL="0" indent="0" algn="l">
              <a:lnSpc>
                <a:spcPts val="2650"/>
              </a:lnSpc>
              <a:buNone/>
            </a:pPr>
            <a:r>
              <a:rPr lang="en-US" sz="2150" b="1" dirty="0">
                <a:solidFill>
                  <a:srgbClr val="000000"/>
                </a:solidFill>
                <a:latin typeface="Petrona Bold" pitchFamily="34" charset="0"/>
                <a:ea typeface="Petrona Bold" pitchFamily="34" charset="-122"/>
                <a:cs typeface="Petrona Bold" pitchFamily="34" charset="-120"/>
              </a:rPr>
              <a:t>4)Determines server status (UP/DOWN)</a:t>
            </a:r>
            <a:endParaRPr lang="en-US" sz="2150" dirty="0"/>
          </a:p>
        </p:txBody>
      </p:sp>
      <p:sp>
        <p:nvSpPr>
          <p:cNvPr id="8" name="Text 5"/>
          <p:cNvSpPr/>
          <p:nvPr/>
        </p:nvSpPr>
        <p:spPr>
          <a:xfrm>
            <a:off x="1333857" y="2925485"/>
            <a:ext cx="2910602" cy="341233"/>
          </a:xfrm>
          <a:prstGeom prst="rect">
            <a:avLst/>
          </a:prstGeom>
          <a:noFill/>
          <a:ln/>
        </p:spPr>
        <p:txBody>
          <a:bodyPr wrap="none" lIns="0" tIns="0" rIns="0" bIns="0" rtlCol="0" anchor="t"/>
          <a:lstStyle/>
          <a:p>
            <a:pPr marL="0" indent="0" algn="l">
              <a:lnSpc>
                <a:spcPts val="2650"/>
              </a:lnSpc>
              <a:buNone/>
            </a:pPr>
            <a:r>
              <a:rPr lang="en-US" sz="2150" b="1" dirty="0">
                <a:solidFill>
                  <a:srgbClr val="000000"/>
                </a:solidFill>
                <a:latin typeface="Petrona Bold" pitchFamily="34" charset="0"/>
                <a:ea typeface="Petrona Bold" pitchFamily="34" charset="-122"/>
                <a:cs typeface="Petrona Bold" pitchFamily="34" charset="-120"/>
              </a:rPr>
              <a:t>5)Updates the database</a:t>
            </a:r>
            <a:endParaRPr lang="en-US" sz="2150" dirty="0"/>
          </a:p>
        </p:txBody>
      </p:sp>
      <p:sp>
        <p:nvSpPr>
          <p:cNvPr id="9" name="Text 6"/>
          <p:cNvSpPr/>
          <p:nvPr/>
        </p:nvSpPr>
        <p:spPr>
          <a:xfrm>
            <a:off x="1333857" y="3319701"/>
            <a:ext cx="6822281" cy="341233"/>
          </a:xfrm>
          <a:prstGeom prst="rect">
            <a:avLst/>
          </a:prstGeom>
          <a:noFill/>
          <a:ln/>
        </p:spPr>
        <p:txBody>
          <a:bodyPr wrap="none" lIns="0" tIns="0" rIns="0" bIns="0" rtlCol="0" anchor="t"/>
          <a:lstStyle/>
          <a:p>
            <a:pPr marL="0" indent="0" algn="l">
              <a:lnSpc>
                <a:spcPts val="2650"/>
              </a:lnSpc>
              <a:buNone/>
            </a:pPr>
            <a:r>
              <a:rPr lang="en-US" sz="2150" b="1" dirty="0">
                <a:solidFill>
                  <a:srgbClr val="000000"/>
                </a:solidFill>
                <a:latin typeface="Petrona Bold" pitchFamily="34" charset="0"/>
                <a:ea typeface="Petrona Bold" pitchFamily="34" charset="-122"/>
                <a:cs typeface="Petrona Bold" pitchFamily="34" charset="-120"/>
              </a:rPr>
              <a:t>6)Flask backend fetches updated data on every request</a:t>
            </a:r>
            <a:endParaRPr lang="en-US" sz="2150" dirty="0"/>
          </a:p>
        </p:txBody>
      </p:sp>
      <p:sp>
        <p:nvSpPr>
          <p:cNvPr id="10" name="Text 7"/>
          <p:cNvSpPr/>
          <p:nvPr/>
        </p:nvSpPr>
        <p:spPr>
          <a:xfrm>
            <a:off x="1333857" y="3713917"/>
            <a:ext cx="9468564" cy="341233"/>
          </a:xfrm>
          <a:prstGeom prst="rect">
            <a:avLst/>
          </a:prstGeom>
          <a:noFill/>
          <a:ln/>
        </p:spPr>
        <p:txBody>
          <a:bodyPr wrap="none" lIns="0" tIns="0" rIns="0" bIns="0" rtlCol="0" anchor="t"/>
          <a:lstStyle/>
          <a:p>
            <a:pPr marL="0" indent="0" algn="l">
              <a:lnSpc>
                <a:spcPts val="2650"/>
              </a:lnSpc>
              <a:buNone/>
            </a:pPr>
            <a:r>
              <a:rPr lang="en-US" sz="2150" b="1" dirty="0">
                <a:solidFill>
                  <a:srgbClr val="000000"/>
                </a:solidFill>
                <a:latin typeface="Petrona Bold" pitchFamily="34" charset="0"/>
                <a:ea typeface="Petrona Bold" pitchFamily="34" charset="-122"/>
                <a:cs typeface="Petrona Bold" pitchFamily="34" charset="-120"/>
              </a:rPr>
              <a:t>7)Dashboard displays real-time server information with search and filtering</a:t>
            </a:r>
            <a:endParaRPr lang="en-US" sz="2150" dirty="0"/>
          </a:p>
        </p:txBody>
      </p:sp>
      <p:sp>
        <p:nvSpPr>
          <p:cNvPr id="11" name="Shape 8"/>
          <p:cNvSpPr/>
          <p:nvPr/>
        </p:nvSpPr>
        <p:spPr>
          <a:xfrm>
            <a:off x="1333857" y="4340547"/>
            <a:ext cx="11962567" cy="29289"/>
          </a:xfrm>
          <a:prstGeom prst="rect">
            <a:avLst/>
          </a:prstGeom>
          <a:solidFill>
            <a:srgbClr val="272525">
              <a:alpha val="50000"/>
            </a:srgbClr>
          </a:solidFill>
          <a:ln/>
        </p:spPr>
      </p:sp>
      <p:sp>
        <p:nvSpPr>
          <p:cNvPr id="12" name="Shape 9"/>
          <p:cNvSpPr/>
          <p:nvPr/>
        </p:nvSpPr>
        <p:spPr>
          <a:xfrm>
            <a:off x="1333857" y="4518898"/>
            <a:ext cx="11962567" cy="1409819"/>
          </a:xfrm>
          <a:prstGeom prst="roundRect">
            <a:avLst>
              <a:gd name="adj" fmla="val 5165"/>
            </a:avLst>
          </a:prstGeom>
          <a:solidFill>
            <a:srgbClr val="B3E5FF"/>
          </a:solidFill>
          <a:ln/>
        </p:spPr>
      </p:sp>
      <p:pic>
        <p:nvPicPr>
          <p:cNvPr id="13" name="Image 1" descr="preencoded.png"/>
          <p:cNvPicPr>
            <a:picLocks noChangeAspect="1"/>
          </p:cNvPicPr>
          <p:nvPr/>
        </p:nvPicPr>
        <p:blipFill>
          <a:blip r:embed="rId3"/>
          <a:stretch>
            <a:fillRect/>
          </a:stretch>
        </p:blipFill>
        <p:spPr>
          <a:xfrm>
            <a:off x="1507212" y="4701183"/>
            <a:ext cx="284321" cy="227528"/>
          </a:xfrm>
          <a:prstGeom prst="rect">
            <a:avLst/>
          </a:prstGeom>
        </p:spPr>
      </p:pic>
      <p:sp>
        <p:nvSpPr>
          <p:cNvPr id="14" name="Text 10"/>
          <p:cNvSpPr/>
          <p:nvPr/>
        </p:nvSpPr>
        <p:spPr>
          <a:xfrm>
            <a:off x="1964888" y="4694634"/>
            <a:ext cx="2787253" cy="284321"/>
          </a:xfrm>
          <a:prstGeom prst="rect">
            <a:avLst/>
          </a:prstGeom>
          <a:noFill/>
          <a:ln/>
        </p:spPr>
        <p:txBody>
          <a:bodyPr wrap="none" lIns="0" tIns="0" rIns="0" bIns="0" rtlCol="0" anchor="t"/>
          <a:lstStyle/>
          <a:p>
            <a:pPr marL="0" indent="0" algn="l">
              <a:lnSpc>
                <a:spcPts val="2200"/>
              </a:lnSpc>
              <a:buNone/>
            </a:pPr>
            <a:r>
              <a:rPr lang="en-US" sz="1750" b="1" dirty="0">
                <a:solidFill>
                  <a:srgbClr val="000000"/>
                </a:solidFill>
                <a:latin typeface="Petrona Bold" pitchFamily="34" charset="0"/>
                <a:ea typeface="Petrona Bold" pitchFamily="34" charset="-122"/>
                <a:cs typeface="Petrona Bold" pitchFamily="34" charset="-120"/>
              </a:rPr>
              <a:t>Performance Optimization</a:t>
            </a:r>
            <a:endParaRPr lang="en-US" sz="1750" dirty="0"/>
          </a:p>
        </p:txBody>
      </p:sp>
      <p:sp>
        <p:nvSpPr>
          <p:cNvPr id="15" name="Text 11"/>
          <p:cNvSpPr/>
          <p:nvPr/>
        </p:nvSpPr>
        <p:spPr>
          <a:xfrm>
            <a:off x="1964888" y="5111353"/>
            <a:ext cx="11158180" cy="611505"/>
          </a:xfrm>
          <a:prstGeom prst="rect">
            <a:avLst/>
          </a:prstGeom>
          <a:noFill/>
          <a:ln/>
        </p:spPr>
        <p:txBody>
          <a:bodyPr wrap="square" lIns="0" tIns="0" rIns="0" bIns="0" rtlCol="0" anchor="t"/>
          <a:lstStyle/>
          <a:p>
            <a:pPr marL="0" indent="0" algn="l">
              <a:lnSpc>
                <a:spcPts val="2400"/>
              </a:lnSpc>
              <a:buNone/>
            </a:pPr>
            <a:r>
              <a:rPr lang="en-US" sz="1700" dirty="0">
                <a:solidFill>
                  <a:srgbClr val="000000"/>
                </a:solidFill>
                <a:latin typeface="Inter" pitchFamily="34" charset="0"/>
                <a:ea typeface="Inter" pitchFamily="34" charset="-122"/>
                <a:cs typeface="Inter" pitchFamily="34" charset="-120"/>
              </a:rPr>
              <a:t>The python ping check script uses multi-threading to ping multiple servers simultaneously, which reduces total execution time significantly.</a:t>
            </a:r>
            <a:endParaRPr lang="en-US" sz="1700" dirty="0"/>
          </a:p>
        </p:txBody>
      </p:sp>
      <p:sp>
        <p:nvSpPr>
          <p:cNvPr id="16" name="Shape 12"/>
          <p:cNvSpPr/>
          <p:nvPr/>
        </p:nvSpPr>
        <p:spPr>
          <a:xfrm>
            <a:off x="1333857" y="6077783"/>
            <a:ext cx="3899178" cy="646271"/>
          </a:xfrm>
          <a:prstGeom prst="roundRect">
            <a:avLst>
              <a:gd name="adj" fmla="val 11267"/>
            </a:avLst>
          </a:prstGeom>
          <a:solidFill>
            <a:srgbClr val="CCEEFF"/>
          </a:solidFill>
          <a:ln w="7620">
            <a:solidFill>
              <a:srgbClr val="B2D4E5"/>
            </a:solidFill>
            <a:prstDash val="solid"/>
          </a:ln>
        </p:spPr>
      </p:sp>
      <p:sp>
        <p:nvSpPr>
          <p:cNvPr id="17" name="Text 13"/>
          <p:cNvSpPr/>
          <p:nvPr/>
        </p:nvSpPr>
        <p:spPr>
          <a:xfrm>
            <a:off x="1514832" y="6258758"/>
            <a:ext cx="2275403" cy="284321"/>
          </a:xfrm>
          <a:prstGeom prst="rect">
            <a:avLst/>
          </a:prstGeom>
          <a:noFill/>
          <a:ln/>
        </p:spPr>
        <p:txBody>
          <a:bodyPr wrap="none" lIns="0" tIns="0" rIns="0" bIns="0" rtlCol="0" anchor="t"/>
          <a:lstStyle/>
          <a:p>
            <a:pPr marL="0" indent="0" algn="l">
              <a:lnSpc>
                <a:spcPts val="2200"/>
              </a:lnSpc>
              <a:buNone/>
            </a:pPr>
            <a:r>
              <a:rPr lang="en-US" sz="1750" b="1" dirty="0">
                <a:solidFill>
                  <a:srgbClr val="272525"/>
                </a:solidFill>
                <a:latin typeface="Petrona Bold" pitchFamily="34" charset="0"/>
                <a:ea typeface="Petrona Bold" pitchFamily="34" charset="-122"/>
                <a:cs typeface="Petrona Bold" pitchFamily="34" charset="-120"/>
              </a:rPr>
              <a:t>Scheduler.      ——&gt;</a:t>
            </a:r>
            <a:endParaRPr lang="en-US" sz="1750" dirty="0"/>
          </a:p>
        </p:txBody>
      </p:sp>
      <p:sp>
        <p:nvSpPr>
          <p:cNvPr id="18" name="Shape 14"/>
          <p:cNvSpPr/>
          <p:nvPr/>
        </p:nvSpPr>
        <p:spPr>
          <a:xfrm>
            <a:off x="5365433" y="6077783"/>
            <a:ext cx="3899297" cy="646271"/>
          </a:xfrm>
          <a:prstGeom prst="roundRect">
            <a:avLst>
              <a:gd name="adj" fmla="val 11267"/>
            </a:avLst>
          </a:prstGeom>
          <a:solidFill>
            <a:srgbClr val="CCEEFF"/>
          </a:solidFill>
          <a:ln w="7620">
            <a:solidFill>
              <a:srgbClr val="B2D4E5"/>
            </a:solidFill>
            <a:prstDash val="solid"/>
          </a:ln>
        </p:spPr>
      </p:sp>
      <p:sp>
        <p:nvSpPr>
          <p:cNvPr id="19" name="Text 15"/>
          <p:cNvSpPr/>
          <p:nvPr/>
        </p:nvSpPr>
        <p:spPr>
          <a:xfrm>
            <a:off x="5546408" y="6258758"/>
            <a:ext cx="2439591" cy="284321"/>
          </a:xfrm>
          <a:prstGeom prst="rect">
            <a:avLst/>
          </a:prstGeom>
          <a:noFill/>
          <a:ln/>
        </p:spPr>
        <p:txBody>
          <a:bodyPr wrap="none" lIns="0" tIns="0" rIns="0" bIns="0" rtlCol="0" anchor="t"/>
          <a:lstStyle/>
          <a:p>
            <a:pPr marL="0" indent="0" algn="l">
              <a:lnSpc>
                <a:spcPts val="2200"/>
              </a:lnSpc>
              <a:buNone/>
            </a:pPr>
            <a:r>
              <a:rPr lang="en-US" sz="1750" b="1" dirty="0">
                <a:solidFill>
                  <a:srgbClr val="272525"/>
                </a:solidFill>
                <a:latin typeface="Petrona Bold" pitchFamily="34" charset="0"/>
                <a:ea typeface="Petrona Bold" pitchFamily="34" charset="-122"/>
                <a:cs typeface="Petrona Bold" pitchFamily="34" charset="-120"/>
              </a:rPr>
              <a:t>Python Script.         ——&gt;</a:t>
            </a:r>
            <a:endParaRPr lang="en-US" sz="1750" dirty="0"/>
          </a:p>
        </p:txBody>
      </p:sp>
      <p:sp>
        <p:nvSpPr>
          <p:cNvPr id="20" name="Shape 16"/>
          <p:cNvSpPr/>
          <p:nvPr/>
        </p:nvSpPr>
        <p:spPr>
          <a:xfrm>
            <a:off x="9397127" y="6077783"/>
            <a:ext cx="3899297" cy="646271"/>
          </a:xfrm>
          <a:prstGeom prst="roundRect">
            <a:avLst>
              <a:gd name="adj" fmla="val 11267"/>
            </a:avLst>
          </a:prstGeom>
          <a:solidFill>
            <a:srgbClr val="CCEEFF"/>
          </a:solidFill>
          <a:ln w="7620">
            <a:solidFill>
              <a:srgbClr val="B2D4E5"/>
            </a:solidFill>
            <a:prstDash val="solid"/>
          </a:ln>
        </p:spPr>
      </p:sp>
      <p:sp>
        <p:nvSpPr>
          <p:cNvPr id="21" name="Text 17"/>
          <p:cNvSpPr/>
          <p:nvPr/>
        </p:nvSpPr>
        <p:spPr>
          <a:xfrm>
            <a:off x="9578102" y="6258758"/>
            <a:ext cx="2275403" cy="284321"/>
          </a:xfrm>
          <a:prstGeom prst="rect">
            <a:avLst/>
          </a:prstGeom>
          <a:noFill/>
          <a:ln/>
        </p:spPr>
        <p:txBody>
          <a:bodyPr wrap="none" lIns="0" tIns="0" rIns="0" bIns="0" rtlCol="0" anchor="t"/>
          <a:lstStyle/>
          <a:p>
            <a:pPr marL="0" indent="0" algn="l">
              <a:lnSpc>
                <a:spcPts val="2200"/>
              </a:lnSpc>
              <a:buNone/>
            </a:pPr>
            <a:r>
              <a:rPr lang="en-US" sz="1750" b="1" dirty="0">
                <a:solidFill>
                  <a:srgbClr val="272525"/>
                </a:solidFill>
                <a:latin typeface="Petrona Bold" pitchFamily="34" charset="0"/>
                <a:ea typeface="Petrona Bold" pitchFamily="34" charset="-122"/>
                <a:cs typeface="Petrona Bold" pitchFamily="34" charset="-120"/>
              </a:rPr>
              <a:t>Ping Servers.        ——&gt;</a:t>
            </a:r>
            <a:endParaRPr lang="en-US" sz="1750" dirty="0"/>
          </a:p>
        </p:txBody>
      </p:sp>
      <p:sp>
        <p:nvSpPr>
          <p:cNvPr id="22" name="Shape 18"/>
          <p:cNvSpPr/>
          <p:nvPr/>
        </p:nvSpPr>
        <p:spPr>
          <a:xfrm>
            <a:off x="1333857" y="6856452"/>
            <a:ext cx="3899178" cy="646271"/>
          </a:xfrm>
          <a:prstGeom prst="roundRect">
            <a:avLst>
              <a:gd name="adj" fmla="val 11267"/>
            </a:avLst>
          </a:prstGeom>
          <a:solidFill>
            <a:srgbClr val="CCEEFF"/>
          </a:solidFill>
          <a:ln w="7620">
            <a:solidFill>
              <a:srgbClr val="B2D4E5"/>
            </a:solidFill>
            <a:prstDash val="solid"/>
          </a:ln>
        </p:spPr>
      </p:sp>
      <p:sp>
        <p:nvSpPr>
          <p:cNvPr id="23" name="Text 19"/>
          <p:cNvSpPr/>
          <p:nvPr/>
        </p:nvSpPr>
        <p:spPr>
          <a:xfrm>
            <a:off x="1514832" y="7037427"/>
            <a:ext cx="2718197" cy="284321"/>
          </a:xfrm>
          <a:prstGeom prst="rect">
            <a:avLst/>
          </a:prstGeom>
          <a:noFill/>
          <a:ln/>
        </p:spPr>
        <p:txBody>
          <a:bodyPr wrap="none" lIns="0" tIns="0" rIns="0" bIns="0" rtlCol="0" anchor="t"/>
          <a:lstStyle/>
          <a:p>
            <a:pPr marL="0" indent="0" algn="l">
              <a:lnSpc>
                <a:spcPts val="2200"/>
              </a:lnSpc>
              <a:buNone/>
            </a:pPr>
            <a:r>
              <a:rPr lang="en-US" sz="1750" b="1" dirty="0">
                <a:solidFill>
                  <a:srgbClr val="272525"/>
                </a:solidFill>
                <a:latin typeface="Petrona Bold" pitchFamily="34" charset="0"/>
                <a:ea typeface="Petrona Bold" pitchFamily="34" charset="-122"/>
                <a:cs typeface="Petrona Bold" pitchFamily="34" charset="-120"/>
              </a:rPr>
              <a:t>  ——&gt;       Update Database</a:t>
            </a:r>
            <a:endParaRPr lang="en-US" sz="1750" dirty="0"/>
          </a:p>
        </p:txBody>
      </p:sp>
      <p:sp>
        <p:nvSpPr>
          <p:cNvPr id="24" name="Shape 20"/>
          <p:cNvSpPr/>
          <p:nvPr/>
        </p:nvSpPr>
        <p:spPr>
          <a:xfrm>
            <a:off x="5365433" y="6856452"/>
            <a:ext cx="3899297" cy="646271"/>
          </a:xfrm>
          <a:prstGeom prst="roundRect">
            <a:avLst>
              <a:gd name="adj" fmla="val 11267"/>
            </a:avLst>
          </a:prstGeom>
          <a:solidFill>
            <a:srgbClr val="CCEEFF"/>
          </a:solidFill>
          <a:ln w="7620">
            <a:solidFill>
              <a:srgbClr val="B2D4E5"/>
            </a:solidFill>
            <a:prstDash val="solid"/>
          </a:ln>
        </p:spPr>
      </p:sp>
      <p:sp>
        <p:nvSpPr>
          <p:cNvPr id="25" name="Text 21"/>
          <p:cNvSpPr/>
          <p:nvPr/>
        </p:nvSpPr>
        <p:spPr>
          <a:xfrm>
            <a:off x="5546408" y="7037427"/>
            <a:ext cx="2343745" cy="284321"/>
          </a:xfrm>
          <a:prstGeom prst="rect">
            <a:avLst/>
          </a:prstGeom>
          <a:noFill/>
          <a:ln/>
        </p:spPr>
        <p:txBody>
          <a:bodyPr wrap="none" lIns="0" tIns="0" rIns="0" bIns="0" rtlCol="0" anchor="t"/>
          <a:lstStyle/>
          <a:p>
            <a:pPr marL="0" indent="0" algn="l">
              <a:lnSpc>
                <a:spcPts val="2200"/>
              </a:lnSpc>
              <a:buNone/>
            </a:pPr>
            <a:r>
              <a:rPr lang="en-US" sz="1750" b="1" dirty="0">
                <a:solidFill>
                  <a:srgbClr val="272525"/>
                </a:solidFill>
                <a:latin typeface="Petrona Bold" pitchFamily="34" charset="0"/>
                <a:ea typeface="Petrona Bold" pitchFamily="34" charset="-122"/>
                <a:cs typeface="Petrona Bold" pitchFamily="34" charset="-120"/>
              </a:rPr>
              <a:t>  ——&gt;               Flask API</a:t>
            </a:r>
            <a:endParaRPr lang="en-US" sz="1750" dirty="0"/>
          </a:p>
        </p:txBody>
      </p:sp>
      <p:sp>
        <p:nvSpPr>
          <p:cNvPr id="26" name="Shape 22"/>
          <p:cNvSpPr/>
          <p:nvPr/>
        </p:nvSpPr>
        <p:spPr>
          <a:xfrm>
            <a:off x="9397127" y="6856452"/>
            <a:ext cx="3899297" cy="646271"/>
          </a:xfrm>
          <a:prstGeom prst="roundRect">
            <a:avLst>
              <a:gd name="adj" fmla="val 11267"/>
            </a:avLst>
          </a:prstGeom>
          <a:solidFill>
            <a:srgbClr val="CCEEFF"/>
          </a:solidFill>
          <a:ln w="7620">
            <a:solidFill>
              <a:srgbClr val="B2D4E5"/>
            </a:solidFill>
            <a:prstDash val="solid"/>
          </a:ln>
        </p:spPr>
      </p:sp>
      <p:sp>
        <p:nvSpPr>
          <p:cNvPr id="27" name="Text 23"/>
          <p:cNvSpPr/>
          <p:nvPr/>
        </p:nvSpPr>
        <p:spPr>
          <a:xfrm>
            <a:off x="9578102" y="7037427"/>
            <a:ext cx="2649022" cy="284321"/>
          </a:xfrm>
          <a:prstGeom prst="rect">
            <a:avLst/>
          </a:prstGeom>
          <a:noFill/>
          <a:ln/>
        </p:spPr>
        <p:txBody>
          <a:bodyPr wrap="none" lIns="0" tIns="0" rIns="0" bIns="0" rtlCol="0" anchor="t"/>
          <a:lstStyle/>
          <a:p>
            <a:pPr marL="0" indent="0" algn="l">
              <a:lnSpc>
                <a:spcPts val="2200"/>
              </a:lnSpc>
              <a:buNone/>
            </a:pPr>
            <a:r>
              <a:rPr lang="en-US" sz="1750" b="1" dirty="0">
                <a:solidFill>
                  <a:srgbClr val="272525"/>
                </a:solidFill>
                <a:latin typeface="Petrona Bold" pitchFamily="34" charset="0"/>
                <a:ea typeface="Petrona Bold" pitchFamily="34" charset="-122"/>
                <a:cs typeface="Petrona Bold" pitchFamily="34" charset="-120"/>
              </a:rPr>
              <a:t> ——&gt;             Dashboard UI</a:t>
            </a:r>
            <a:endParaRPr lang="en-US" sz="1750" dirty="0"/>
          </a:p>
        </p:txBody>
      </p:sp>
      <p:pic>
        <p:nvPicPr>
          <p:cNvPr id="28" name="Picture 27"/>
          <p:cNvPicPr>
            <a:picLocks noChangeAspect="1"/>
          </p:cNvPicPr>
          <p:nvPr/>
        </p:nvPicPr>
        <p:blipFill rotWithShape="1">
          <a:blip r:embed="rId4" cstate="print">
            <a:extLst>
              <a:ext uri="{28A0092B-C50C-407E-A947-70E740481C1C}">
                <a14:useLocalDpi xmlns:a14="http://schemas.microsoft.com/office/drawing/2010/main" val="0"/>
              </a:ext>
            </a:extLst>
          </a:blip>
          <a:srcRect b="40404"/>
          <a:stretch/>
        </p:blipFill>
        <p:spPr>
          <a:xfrm>
            <a:off x="11500104" y="-168451"/>
            <a:ext cx="3255264" cy="982820"/>
          </a:xfrm>
          <a:prstGeom prst="rect">
            <a:avLst/>
          </a:prstGeom>
        </p:spPr>
      </p:pic>
      <p:sp>
        <p:nvSpPr>
          <p:cNvPr id="29" name="Freeform 28">
            <a:extLst>
              <a:ext uri="{FF2B5EF4-FFF2-40B4-BE49-F238E27FC236}">
                <a16:creationId xmlns="" xmlns:a16="http://schemas.microsoft.com/office/drawing/2014/main" id="{D26F4A47-9C92-41C8-B9AA-0DCABA043242}"/>
              </a:ext>
            </a:extLst>
          </p:cNvPr>
          <p:cNvSpPr>
            <a:spLocks/>
          </p:cNvSpPr>
          <p:nvPr/>
        </p:nvSpPr>
        <p:spPr bwMode="auto">
          <a:xfrm>
            <a:off x="0" y="1"/>
            <a:ext cx="2873930" cy="1183398"/>
          </a:xfrm>
          <a:custGeom>
            <a:avLst/>
            <a:gdLst>
              <a:gd name="T0" fmla="*/ 249 w 1501"/>
              <a:gd name="T1" fmla="*/ 561 h 561"/>
              <a:gd name="T2" fmla="*/ 1501 w 1501"/>
              <a:gd name="T3" fmla="*/ 6 h 561"/>
              <a:gd name="T4" fmla="*/ 1499 w 1501"/>
              <a:gd name="T5" fmla="*/ 0 h 561"/>
              <a:gd name="T6" fmla="*/ 0 w 1501"/>
              <a:gd name="T7" fmla="*/ 0 h 561"/>
              <a:gd name="T8" fmla="*/ 249 w 1501"/>
              <a:gd name="T9" fmla="*/ 561 h 561"/>
            </a:gdLst>
            <a:ahLst/>
            <a:cxnLst>
              <a:cxn ang="0">
                <a:pos x="T0" y="T1"/>
              </a:cxn>
              <a:cxn ang="0">
                <a:pos x="T2" y="T3"/>
              </a:cxn>
              <a:cxn ang="0">
                <a:pos x="T4" y="T5"/>
              </a:cxn>
              <a:cxn ang="0">
                <a:pos x="T6" y="T7"/>
              </a:cxn>
              <a:cxn ang="0">
                <a:pos x="T8" y="T9"/>
              </a:cxn>
            </a:cxnLst>
            <a:rect l="0" t="0" r="r" b="b"/>
            <a:pathLst>
              <a:path w="1501" h="561">
                <a:moveTo>
                  <a:pt x="249" y="561"/>
                </a:moveTo>
                <a:lnTo>
                  <a:pt x="1501" y="6"/>
                </a:lnTo>
                <a:lnTo>
                  <a:pt x="1499" y="0"/>
                </a:lnTo>
                <a:lnTo>
                  <a:pt x="0" y="0"/>
                </a:lnTo>
                <a:lnTo>
                  <a:pt x="249" y="561"/>
                </a:lnTo>
                <a:close/>
              </a:path>
            </a:pathLst>
          </a:custGeom>
          <a:solidFill>
            <a:srgbClr val="FDB913"/>
          </a:solidFill>
          <a:ln>
            <a:noFill/>
          </a:ln>
          <a:effectLst>
            <a:outerShdw blurRad="431800" dist="50800" dir="5400000" algn="ctr" rotWithShape="0">
              <a:srgbClr val="000000">
                <a:alpha val="25000"/>
              </a:srgbClr>
            </a:outerShdw>
          </a:effectLst>
        </p:spPr>
        <p:txBody>
          <a:bodyPr vert="horz" wrap="square" lIns="68580" tIns="34290" rIns="68580" bIns="34290" numCol="1" anchor="t" anchorCtr="0" compatLnSpc="1">
            <a:prstTxWarp prst="textNoShape">
              <a:avLst/>
            </a:prstTxWarp>
          </a:bodyPr>
          <a:lstStyle/>
          <a:p>
            <a:endParaRPr lang="en-ID" sz="1350"/>
          </a:p>
        </p:txBody>
      </p:sp>
      <p:pic>
        <p:nvPicPr>
          <p:cNvPr id="30" name="Picture 29">
            <a:extLst>
              <a:ext uri="{FF2B5EF4-FFF2-40B4-BE49-F238E27FC236}">
                <a16:creationId xmlns:a16="http://schemas.microsoft.com/office/drawing/2014/main" xmlns="" id="{49C7B44A-AD34-9D58-6374-8F3854056B3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206672" y="98893"/>
            <a:ext cx="3204766" cy="492807"/>
          </a:xfrm>
          <a:prstGeom prst="rect">
            <a:avLst/>
          </a:prstGeom>
        </p:spPr>
      </p:pic>
      <p:sp>
        <p:nvSpPr>
          <p:cNvPr id="32" name="Rectangle 31"/>
          <p:cNvSpPr/>
          <p:nvPr/>
        </p:nvSpPr>
        <p:spPr>
          <a:xfrm>
            <a:off x="12809055" y="7639050"/>
            <a:ext cx="1821345" cy="5905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Freeform 30">
            <a:extLst>
              <a:ext uri="{FF2B5EF4-FFF2-40B4-BE49-F238E27FC236}">
                <a16:creationId xmlns:a16="http://schemas.microsoft.com/office/drawing/2014/main" xmlns="" id="{EF13015C-E884-4625-9DF9-3D67995D337B}"/>
              </a:ext>
            </a:extLst>
          </p:cNvPr>
          <p:cNvSpPr>
            <a:spLocks/>
          </p:cNvSpPr>
          <p:nvPr/>
        </p:nvSpPr>
        <p:spPr bwMode="auto">
          <a:xfrm>
            <a:off x="12515850" y="6312573"/>
            <a:ext cx="2114550" cy="1948201"/>
          </a:xfrm>
          <a:custGeom>
            <a:avLst/>
            <a:gdLst>
              <a:gd name="T0" fmla="*/ 1685 w 2016"/>
              <a:gd name="T1" fmla="*/ 0 h 744"/>
              <a:gd name="T2" fmla="*/ 0 w 2016"/>
              <a:gd name="T3" fmla="*/ 744 h 744"/>
              <a:gd name="T4" fmla="*/ 2016 w 2016"/>
              <a:gd name="T5" fmla="*/ 744 h 744"/>
              <a:gd name="T6" fmla="*/ 1685 w 2016"/>
              <a:gd name="T7" fmla="*/ 0 h 744"/>
            </a:gdLst>
            <a:ahLst/>
            <a:cxnLst>
              <a:cxn ang="0">
                <a:pos x="T0" y="T1"/>
              </a:cxn>
              <a:cxn ang="0">
                <a:pos x="T2" y="T3"/>
              </a:cxn>
              <a:cxn ang="0">
                <a:pos x="T4" y="T5"/>
              </a:cxn>
              <a:cxn ang="0">
                <a:pos x="T6" y="T7"/>
              </a:cxn>
            </a:cxnLst>
            <a:rect l="0" t="0" r="r" b="b"/>
            <a:pathLst>
              <a:path w="2016" h="744">
                <a:moveTo>
                  <a:pt x="1685" y="0"/>
                </a:moveTo>
                <a:lnTo>
                  <a:pt x="0" y="744"/>
                </a:lnTo>
                <a:lnTo>
                  <a:pt x="2016" y="744"/>
                </a:lnTo>
                <a:lnTo>
                  <a:pt x="1685" y="0"/>
                </a:lnTo>
                <a:close/>
              </a:path>
            </a:pathLst>
          </a:custGeom>
          <a:solidFill>
            <a:srgbClr val="FDB913"/>
          </a:solidFill>
          <a:ln>
            <a:noFill/>
          </a:ln>
          <a:effectLst>
            <a:outerShdw blurRad="431800" dist="50800" dir="5400000" algn="ctr" rotWithShape="0">
              <a:srgbClr val="000000">
                <a:alpha val="25000"/>
              </a:srgbClr>
            </a:outerShdw>
          </a:effectLst>
        </p:spPr>
        <p:txBody>
          <a:bodyPr vert="horz" wrap="square" lIns="68580" tIns="34290" rIns="68580" bIns="34290" numCol="1" anchor="t" anchorCtr="0" compatLnSpc="1">
            <a:prstTxWarp prst="textNoShape">
              <a:avLst/>
            </a:prstTxWarp>
          </a:bodyPr>
          <a:lstStyle/>
          <a:p>
            <a:endParaRPr lang="en-ID" sz="13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accel="40000" decel="4000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1000" fill="hold"/>
                                        <p:tgtEl>
                                          <p:spTgt spid="29"/>
                                        </p:tgtEl>
                                        <p:attrNameLst>
                                          <p:attrName>ppt_x</p:attrName>
                                        </p:attrNameLst>
                                      </p:cBhvr>
                                      <p:tavLst>
                                        <p:tav tm="0">
                                          <p:val>
                                            <p:strVal val="#ppt_x"/>
                                          </p:val>
                                        </p:tav>
                                        <p:tav tm="100000">
                                          <p:val>
                                            <p:strVal val="#ppt_x"/>
                                          </p:val>
                                        </p:tav>
                                      </p:tavLst>
                                    </p:anim>
                                    <p:anim calcmode="lin" valueType="num">
                                      <p:cBhvr additive="base">
                                        <p:cTn id="8" dur="1000" fill="hold"/>
                                        <p:tgtEl>
                                          <p:spTgt spid="29"/>
                                        </p:tgtEl>
                                        <p:attrNameLst>
                                          <p:attrName>ppt_y</p:attrName>
                                        </p:attrNameLst>
                                      </p:cBhvr>
                                      <p:tavLst>
                                        <p:tav tm="0">
                                          <p:val>
                                            <p:strVal val="0-#ppt_h/2"/>
                                          </p:val>
                                        </p:tav>
                                        <p:tav tm="100000">
                                          <p:val>
                                            <p:strVal val="#ppt_y"/>
                                          </p:val>
                                        </p:tav>
                                      </p:tavLst>
                                    </p:anim>
                                  </p:childTnLst>
                                </p:cTn>
                              </p:par>
                              <p:par>
                                <p:cTn id="9" presetID="2" presetClass="entr" presetSubtype="4" accel="40000" decel="40000"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anim calcmode="lin" valueType="num">
                                      <p:cBhvr additive="base">
                                        <p:cTn id="11" dur="1000" fill="hold"/>
                                        <p:tgtEl>
                                          <p:spTgt spid="31"/>
                                        </p:tgtEl>
                                        <p:attrNameLst>
                                          <p:attrName>ppt_x</p:attrName>
                                        </p:attrNameLst>
                                      </p:cBhvr>
                                      <p:tavLst>
                                        <p:tav tm="0">
                                          <p:val>
                                            <p:strVal val="#ppt_x"/>
                                          </p:val>
                                        </p:tav>
                                        <p:tav tm="100000">
                                          <p:val>
                                            <p:strVal val="#ppt_x"/>
                                          </p:val>
                                        </p:tav>
                                      </p:tavLst>
                                    </p:anim>
                                    <p:anim calcmode="lin" valueType="num">
                                      <p:cBhvr additive="base">
                                        <p:cTn id="12" dur="10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nvSpPr>
        <p:spPr>
          <a:xfrm>
            <a:off x="793790" y="804148"/>
            <a:ext cx="6646069" cy="744260"/>
          </a:xfrm>
          <a:prstGeom prst="rect">
            <a:avLst/>
          </a:prstGeom>
          <a:noFill/>
          <a:ln/>
        </p:spPr>
        <p:txBody>
          <a:bodyPr wrap="none" lIns="0" tIns="0" rIns="0" bIns="0" rtlCol="0" anchor="t"/>
          <a:lstStyle/>
          <a:p>
            <a:pPr marL="0" indent="0" algn="l">
              <a:lnSpc>
                <a:spcPts val="5850"/>
              </a:lnSpc>
              <a:buNone/>
            </a:pPr>
            <a:r>
              <a:rPr lang="en-US" sz="4650" b="1" dirty="0">
                <a:solidFill>
                  <a:srgbClr val="000000"/>
                </a:solidFill>
                <a:latin typeface="Petrona Bold" pitchFamily="34" charset="0"/>
                <a:ea typeface="Petrona Bold" pitchFamily="34" charset="-122"/>
                <a:cs typeface="Petrona Bold" pitchFamily="34" charset="-120"/>
              </a:rPr>
              <a:t>Technologies &amp; Features</a:t>
            </a:r>
            <a:endParaRPr lang="en-US" sz="4650" dirty="0"/>
          </a:p>
        </p:txBody>
      </p:sp>
      <p:sp>
        <p:nvSpPr>
          <p:cNvPr id="4" name="Text 1"/>
          <p:cNvSpPr/>
          <p:nvPr/>
        </p:nvSpPr>
        <p:spPr>
          <a:xfrm>
            <a:off x="793790" y="2115383"/>
            <a:ext cx="3572470" cy="446603"/>
          </a:xfrm>
          <a:prstGeom prst="rect">
            <a:avLst/>
          </a:prstGeom>
          <a:noFill/>
          <a:ln/>
        </p:spPr>
        <p:txBody>
          <a:bodyPr wrap="none" lIns="0" tIns="0" rIns="0" bIns="0" rtlCol="0" anchor="t"/>
          <a:lstStyle/>
          <a:p>
            <a:pPr marL="0" indent="0" algn="l">
              <a:lnSpc>
                <a:spcPts val="3500"/>
              </a:lnSpc>
              <a:buNone/>
            </a:pPr>
            <a:r>
              <a:rPr lang="en-US" sz="3600" b="1" dirty="0">
                <a:solidFill>
                  <a:srgbClr val="000000"/>
                </a:solidFill>
                <a:latin typeface="Petrona Bold" pitchFamily="34" charset="0"/>
                <a:ea typeface="Petrona Bold" pitchFamily="34" charset="-122"/>
                <a:cs typeface="Petrona Bold" pitchFamily="34" charset="-120"/>
              </a:rPr>
              <a:t>Core Technologies</a:t>
            </a:r>
            <a:endParaRPr lang="en-US" sz="3600" dirty="0"/>
          </a:p>
        </p:txBody>
      </p:sp>
      <p:sp>
        <p:nvSpPr>
          <p:cNvPr id="5" name="Text 2"/>
          <p:cNvSpPr/>
          <p:nvPr/>
        </p:nvSpPr>
        <p:spPr>
          <a:xfrm>
            <a:off x="793790" y="2788801"/>
            <a:ext cx="6244709" cy="5002649"/>
          </a:xfrm>
          <a:prstGeom prst="rect">
            <a:avLst/>
          </a:prstGeom>
          <a:noFill/>
          <a:ln/>
        </p:spPr>
        <p:txBody>
          <a:bodyPr wrap="square" lIns="0" tIns="0" rIns="0" bIns="0" rtlCol="0" anchor="t"/>
          <a:lstStyle/>
          <a:p>
            <a:pPr marL="342900" indent="-342900" algn="l">
              <a:lnSpc>
                <a:spcPts val="2850"/>
              </a:lnSpc>
              <a:buSzPct val="100000"/>
              <a:buChar char="•"/>
            </a:pPr>
            <a:r>
              <a:rPr lang="en-US" sz="2800" dirty="0">
                <a:solidFill>
                  <a:srgbClr val="272525"/>
                </a:solidFill>
                <a:latin typeface="Inter" pitchFamily="34" charset="0"/>
                <a:ea typeface="Inter" pitchFamily="34" charset="-122"/>
                <a:cs typeface="Inter" pitchFamily="34" charset="-120"/>
              </a:rPr>
              <a:t>Python programming </a:t>
            </a:r>
            <a:r>
              <a:rPr lang="en-US" sz="2800" dirty="0" smtClean="0">
                <a:solidFill>
                  <a:srgbClr val="272525"/>
                </a:solidFill>
                <a:latin typeface="Inter" pitchFamily="34" charset="0"/>
                <a:ea typeface="Inter" pitchFamily="34" charset="-122"/>
                <a:cs typeface="Inter" pitchFamily="34" charset="-120"/>
              </a:rPr>
              <a:t>language</a:t>
            </a:r>
            <a:endParaRPr lang="en-US" sz="2800" dirty="0"/>
          </a:p>
          <a:p>
            <a:pPr marL="342900" indent="-342900" algn="l">
              <a:lnSpc>
                <a:spcPts val="2850"/>
              </a:lnSpc>
              <a:buSzPct val="100000"/>
              <a:buChar char="•"/>
            </a:pPr>
            <a:r>
              <a:rPr lang="en-US" sz="2800" dirty="0">
                <a:solidFill>
                  <a:srgbClr val="272525"/>
                </a:solidFill>
                <a:latin typeface="Inter" pitchFamily="34" charset="0"/>
                <a:ea typeface="Inter" pitchFamily="34" charset="-122"/>
                <a:cs typeface="Inter" pitchFamily="34" charset="-120"/>
              </a:rPr>
              <a:t>Flask backend framework</a:t>
            </a:r>
            <a:endParaRPr lang="en-US" sz="2800" dirty="0"/>
          </a:p>
          <a:p>
            <a:pPr marL="342900" indent="-342900" algn="l">
              <a:lnSpc>
                <a:spcPts val="2850"/>
              </a:lnSpc>
              <a:buSzPct val="100000"/>
              <a:buChar char="•"/>
            </a:pPr>
            <a:r>
              <a:rPr lang="en-US" sz="2800" dirty="0">
                <a:solidFill>
                  <a:srgbClr val="272525"/>
                </a:solidFill>
                <a:latin typeface="Inter" pitchFamily="34" charset="0"/>
                <a:ea typeface="Inter" pitchFamily="34" charset="-122"/>
                <a:cs typeface="Inter" pitchFamily="34" charset="-120"/>
              </a:rPr>
              <a:t>HTML, CSS, JavaScript frontend</a:t>
            </a:r>
            <a:endParaRPr lang="en-US" sz="2800" dirty="0"/>
          </a:p>
          <a:p>
            <a:pPr marL="342900" indent="-342900" algn="l">
              <a:lnSpc>
                <a:spcPts val="2850"/>
              </a:lnSpc>
              <a:buSzPct val="100000"/>
              <a:buChar char="•"/>
            </a:pPr>
            <a:r>
              <a:rPr lang="en-US" sz="2800" dirty="0">
                <a:solidFill>
                  <a:srgbClr val="272525"/>
                </a:solidFill>
                <a:latin typeface="Inter" pitchFamily="34" charset="0"/>
                <a:ea typeface="Inter" pitchFamily="34" charset="-122"/>
                <a:cs typeface="Inter" pitchFamily="34" charset="-120"/>
              </a:rPr>
              <a:t>SQL Server database</a:t>
            </a:r>
            <a:endParaRPr lang="en-US" sz="2800" dirty="0"/>
          </a:p>
          <a:p>
            <a:pPr marL="342900" indent="-342900" algn="l">
              <a:lnSpc>
                <a:spcPts val="2850"/>
              </a:lnSpc>
              <a:buSzPct val="100000"/>
              <a:buChar char="•"/>
            </a:pPr>
            <a:r>
              <a:rPr lang="en-US" sz="2800" dirty="0" err="1">
                <a:solidFill>
                  <a:srgbClr val="272525"/>
                </a:solidFill>
                <a:latin typeface="Inter" pitchFamily="34" charset="0"/>
                <a:ea typeface="Inter" pitchFamily="34" charset="-122"/>
                <a:cs typeface="Inter" pitchFamily="34" charset="-120"/>
              </a:rPr>
              <a:t>PyODBC</a:t>
            </a:r>
            <a:r>
              <a:rPr lang="en-US" sz="2800" dirty="0">
                <a:solidFill>
                  <a:srgbClr val="272525"/>
                </a:solidFill>
                <a:latin typeface="Inter" pitchFamily="34" charset="0"/>
                <a:ea typeface="Inter" pitchFamily="34" charset="-122"/>
                <a:cs typeface="Inter" pitchFamily="34" charset="-120"/>
              </a:rPr>
              <a:t> connectivity</a:t>
            </a:r>
            <a:endParaRPr lang="en-US" sz="2800" dirty="0"/>
          </a:p>
          <a:p>
            <a:pPr marL="342900" indent="-342900" algn="l">
              <a:lnSpc>
                <a:spcPts val="2850"/>
              </a:lnSpc>
              <a:buSzPct val="100000"/>
              <a:buChar char="•"/>
            </a:pPr>
            <a:r>
              <a:rPr lang="en-US" sz="2800" dirty="0">
                <a:solidFill>
                  <a:srgbClr val="272525"/>
                </a:solidFill>
                <a:latin typeface="Inter" pitchFamily="34" charset="0"/>
                <a:ea typeface="Inter" pitchFamily="34" charset="-122"/>
                <a:cs typeface="Inter" pitchFamily="34" charset="-120"/>
              </a:rPr>
              <a:t>Windows Task Scheduler</a:t>
            </a:r>
            <a:endParaRPr lang="en-US" sz="2800" dirty="0"/>
          </a:p>
          <a:p>
            <a:pPr marL="342900" indent="-342900" algn="l">
              <a:lnSpc>
                <a:spcPts val="2850"/>
              </a:lnSpc>
              <a:buSzPct val="100000"/>
              <a:buChar char="•"/>
            </a:pPr>
            <a:r>
              <a:rPr lang="en-US" sz="2800" dirty="0">
                <a:solidFill>
                  <a:srgbClr val="272525"/>
                </a:solidFill>
                <a:latin typeface="Inter" pitchFamily="34" charset="0"/>
                <a:ea typeface="Inter" pitchFamily="34" charset="-122"/>
                <a:cs typeface="Inter" pitchFamily="34" charset="-120"/>
              </a:rPr>
              <a:t>Python Threading (for parallel execution)</a:t>
            </a:r>
            <a:endParaRPr lang="en-US" sz="2800" dirty="0"/>
          </a:p>
        </p:txBody>
      </p:sp>
      <p:sp>
        <p:nvSpPr>
          <p:cNvPr id="6" name="Text 3"/>
          <p:cNvSpPr/>
          <p:nvPr/>
        </p:nvSpPr>
        <p:spPr>
          <a:xfrm>
            <a:off x="7599521" y="2115383"/>
            <a:ext cx="3572470" cy="446603"/>
          </a:xfrm>
          <a:prstGeom prst="rect">
            <a:avLst/>
          </a:prstGeom>
          <a:noFill/>
          <a:ln/>
        </p:spPr>
        <p:txBody>
          <a:bodyPr wrap="none" lIns="0" tIns="0" rIns="0" bIns="0" rtlCol="0" anchor="t"/>
          <a:lstStyle/>
          <a:p>
            <a:pPr marL="0" indent="0" algn="l">
              <a:lnSpc>
                <a:spcPts val="3500"/>
              </a:lnSpc>
              <a:buNone/>
            </a:pPr>
            <a:r>
              <a:rPr lang="en-US" sz="3600" b="1" dirty="0">
                <a:solidFill>
                  <a:srgbClr val="000000"/>
                </a:solidFill>
                <a:latin typeface="Petrona Bold" pitchFamily="34" charset="0"/>
                <a:ea typeface="Petrona Bold" pitchFamily="34" charset="-122"/>
                <a:cs typeface="Petrona Bold" pitchFamily="34" charset="-120"/>
              </a:rPr>
              <a:t>Key Features</a:t>
            </a:r>
            <a:endParaRPr lang="en-US" sz="3600" dirty="0"/>
          </a:p>
        </p:txBody>
      </p:sp>
      <p:sp>
        <p:nvSpPr>
          <p:cNvPr id="7" name="Text 4"/>
          <p:cNvSpPr/>
          <p:nvPr/>
        </p:nvSpPr>
        <p:spPr>
          <a:xfrm>
            <a:off x="7599521" y="2788801"/>
            <a:ext cx="6244709" cy="4557355"/>
          </a:xfrm>
          <a:prstGeom prst="rect">
            <a:avLst/>
          </a:prstGeom>
          <a:noFill/>
          <a:ln/>
        </p:spPr>
        <p:txBody>
          <a:bodyPr wrap="square" lIns="0" tIns="0" rIns="0" bIns="0" rtlCol="0" anchor="t"/>
          <a:lstStyle/>
          <a:p>
            <a:pPr marL="342900" indent="-342900" algn="l">
              <a:lnSpc>
                <a:spcPts val="2850"/>
              </a:lnSpc>
              <a:buSzPct val="100000"/>
              <a:buChar char="•"/>
            </a:pPr>
            <a:r>
              <a:rPr lang="en-US" sz="2800" dirty="0">
                <a:solidFill>
                  <a:srgbClr val="272525"/>
                </a:solidFill>
                <a:latin typeface="Inter" pitchFamily="34" charset="0"/>
                <a:ea typeface="Inter" pitchFamily="34" charset="-122"/>
                <a:cs typeface="Inter" pitchFamily="34" charset="-120"/>
              </a:rPr>
              <a:t>UP/DOWN status visualization</a:t>
            </a:r>
            <a:endParaRPr lang="en-US" sz="2800" dirty="0"/>
          </a:p>
          <a:p>
            <a:pPr marL="342900" indent="-342900" algn="l">
              <a:lnSpc>
                <a:spcPts val="2850"/>
              </a:lnSpc>
              <a:buSzPct val="100000"/>
              <a:buChar char="•"/>
            </a:pPr>
            <a:r>
              <a:rPr lang="en-US" sz="2800" dirty="0">
                <a:solidFill>
                  <a:srgbClr val="272525"/>
                </a:solidFill>
                <a:latin typeface="Inter" pitchFamily="34" charset="0"/>
                <a:ea typeface="Inter" pitchFamily="34" charset="-122"/>
                <a:cs typeface="Inter" pitchFamily="34" charset="-120"/>
              </a:rPr>
              <a:t>Server count display along with Business-wise filtering</a:t>
            </a:r>
            <a:endParaRPr lang="en-US" sz="2800" dirty="0"/>
          </a:p>
          <a:p>
            <a:pPr marL="342900" indent="-342900" algn="l">
              <a:lnSpc>
                <a:spcPts val="2850"/>
              </a:lnSpc>
              <a:buSzPct val="100000"/>
              <a:buChar char="•"/>
            </a:pPr>
            <a:r>
              <a:rPr lang="en-US" sz="2800" dirty="0">
                <a:solidFill>
                  <a:srgbClr val="272525"/>
                </a:solidFill>
                <a:latin typeface="Inter" pitchFamily="34" charset="0"/>
                <a:ea typeface="Inter" pitchFamily="34" charset="-122"/>
                <a:cs typeface="Inter" pitchFamily="34" charset="-120"/>
              </a:rPr>
              <a:t>Search by IP or server name</a:t>
            </a:r>
            <a:endParaRPr lang="en-US" sz="2800" dirty="0"/>
          </a:p>
          <a:p>
            <a:pPr marL="342900" indent="-342900" algn="l">
              <a:lnSpc>
                <a:spcPts val="2850"/>
              </a:lnSpc>
              <a:buSzPct val="100000"/>
              <a:buChar char="•"/>
            </a:pPr>
            <a:r>
              <a:rPr lang="en-US" sz="2800" dirty="0">
                <a:solidFill>
                  <a:srgbClr val="272525"/>
                </a:solidFill>
                <a:latin typeface="Inter" pitchFamily="34" charset="0"/>
                <a:ea typeface="Inter" pitchFamily="34" charset="-122"/>
                <a:cs typeface="Inter" pitchFamily="34" charset="-120"/>
              </a:rPr>
              <a:t>Faster server status checking using </a:t>
            </a:r>
            <a:r>
              <a:rPr lang="en-US" sz="2800" b="1" dirty="0">
                <a:solidFill>
                  <a:srgbClr val="272525"/>
                </a:solidFill>
                <a:latin typeface="Inter" pitchFamily="34" charset="0"/>
                <a:ea typeface="Inter" pitchFamily="34" charset="-122"/>
                <a:cs typeface="Inter" pitchFamily="34" charset="-120"/>
              </a:rPr>
              <a:t>multi-threading</a:t>
            </a:r>
            <a:endParaRPr lang="en-US" sz="2800" dirty="0"/>
          </a:p>
          <a:p>
            <a:pPr marL="342900" indent="-342900" algn="l">
              <a:lnSpc>
                <a:spcPts val="2850"/>
              </a:lnSpc>
              <a:buSzPct val="100000"/>
              <a:buChar char="•"/>
            </a:pPr>
            <a:r>
              <a:rPr lang="en-US" sz="2800" dirty="0">
                <a:solidFill>
                  <a:srgbClr val="272525"/>
                </a:solidFill>
                <a:latin typeface="Inter" pitchFamily="34" charset="0"/>
                <a:ea typeface="Inter" pitchFamily="34" charset="-122"/>
                <a:cs typeface="Inter" pitchFamily="34" charset="-120"/>
              </a:rPr>
              <a:t>Reduced delay in dashboard updates</a:t>
            </a:r>
            <a:endParaRPr lang="en-US" sz="2800" dirty="0"/>
          </a:p>
          <a:p>
            <a:pPr marL="342900" indent="-342900" algn="l">
              <a:lnSpc>
                <a:spcPts val="2850"/>
              </a:lnSpc>
              <a:buSzPct val="100000"/>
              <a:buChar char="•"/>
            </a:pPr>
            <a:r>
              <a:rPr lang="en-US" sz="2800" dirty="0">
                <a:solidFill>
                  <a:srgbClr val="272525"/>
                </a:solidFill>
                <a:latin typeface="Inter" pitchFamily="34" charset="0"/>
                <a:ea typeface="Inter" pitchFamily="34" charset="-122"/>
                <a:cs typeface="Inter" pitchFamily="34" charset="-120"/>
              </a:rPr>
              <a:t>Scheduled background execution</a:t>
            </a:r>
            <a:endParaRPr lang="en-US" sz="2800" dirty="0"/>
          </a:p>
          <a:p>
            <a:pPr marL="342900" indent="-342900" algn="l">
              <a:lnSpc>
                <a:spcPts val="2850"/>
              </a:lnSpc>
              <a:buSzPct val="100000"/>
              <a:buChar char="•"/>
            </a:pPr>
            <a:r>
              <a:rPr lang="en-US" sz="2800" dirty="0">
                <a:solidFill>
                  <a:srgbClr val="272525"/>
                </a:solidFill>
                <a:latin typeface="Inter" pitchFamily="34" charset="0"/>
                <a:ea typeface="Inter" pitchFamily="34" charset="-122"/>
                <a:cs typeface="Inter" pitchFamily="34" charset="-120"/>
              </a:rPr>
              <a:t>Auto-refresh data mechanism</a:t>
            </a:r>
            <a:endParaRPr lang="en-US" sz="2800" dirty="0"/>
          </a:p>
        </p:txBody>
      </p:sp>
      <p:pic>
        <p:nvPicPr>
          <p:cNvPr id="8" name="Picture 7"/>
          <p:cNvPicPr>
            <a:picLocks noChangeAspect="1"/>
          </p:cNvPicPr>
          <p:nvPr/>
        </p:nvPicPr>
        <p:blipFill rotWithShape="1">
          <a:blip r:embed="rId3" cstate="print">
            <a:extLst>
              <a:ext uri="{28A0092B-C50C-407E-A947-70E740481C1C}">
                <a14:useLocalDpi xmlns:a14="http://schemas.microsoft.com/office/drawing/2010/main" val="0"/>
              </a:ext>
            </a:extLst>
          </a:blip>
          <a:srcRect b="40404"/>
          <a:stretch/>
        </p:blipFill>
        <p:spPr>
          <a:xfrm>
            <a:off x="11500104" y="-168451"/>
            <a:ext cx="3255264" cy="982820"/>
          </a:xfrm>
          <a:prstGeom prst="rect">
            <a:avLst/>
          </a:prstGeom>
        </p:spPr>
      </p:pic>
      <p:sp>
        <p:nvSpPr>
          <p:cNvPr id="9" name="Freeform 8">
            <a:extLst>
              <a:ext uri="{FF2B5EF4-FFF2-40B4-BE49-F238E27FC236}">
                <a16:creationId xmlns="" xmlns:a16="http://schemas.microsoft.com/office/drawing/2014/main" id="{D26F4A47-9C92-41C8-B9AA-0DCABA043242}"/>
              </a:ext>
            </a:extLst>
          </p:cNvPr>
          <p:cNvSpPr>
            <a:spLocks/>
          </p:cNvSpPr>
          <p:nvPr/>
        </p:nvSpPr>
        <p:spPr bwMode="auto">
          <a:xfrm>
            <a:off x="0" y="1"/>
            <a:ext cx="3166278" cy="814368"/>
          </a:xfrm>
          <a:custGeom>
            <a:avLst/>
            <a:gdLst>
              <a:gd name="T0" fmla="*/ 249 w 1501"/>
              <a:gd name="T1" fmla="*/ 561 h 561"/>
              <a:gd name="T2" fmla="*/ 1501 w 1501"/>
              <a:gd name="T3" fmla="*/ 6 h 561"/>
              <a:gd name="T4" fmla="*/ 1499 w 1501"/>
              <a:gd name="T5" fmla="*/ 0 h 561"/>
              <a:gd name="T6" fmla="*/ 0 w 1501"/>
              <a:gd name="T7" fmla="*/ 0 h 561"/>
              <a:gd name="T8" fmla="*/ 249 w 1501"/>
              <a:gd name="T9" fmla="*/ 561 h 561"/>
            </a:gdLst>
            <a:ahLst/>
            <a:cxnLst>
              <a:cxn ang="0">
                <a:pos x="T0" y="T1"/>
              </a:cxn>
              <a:cxn ang="0">
                <a:pos x="T2" y="T3"/>
              </a:cxn>
              <a:cxn ang="0">
                <a:pos x="T4" y="T5"/>
              </a:cxn>
              <a:cxn ang="0">
                <a:pos x="T6" y="T7"/>
              </a:cxn>
              <a:cxn ang="0">
                <a:pos x="T8" y="T9"/>
              </a:cxn>
            </a:cxnLst>
            <a:rect l="0" t="0" r="r" b="b"/>
            <a:pathLst>
              <a:path w="1501" h="561">
                <a:moveTo>
                  <a:pt x="249" y="561"/>
                </a:moveTo>
                <a:lnTo>
                  <a:pt x="1501" y="6"/>
                </a:lnTo>
                <a:lnTo>
                  <a:pt x="1499" y="0"/>
                </a:lnTo>
                <a:lnTo>
                  <a:pt x="0" y="0"/>
                </a:lnTo>
                <a:lnTo>
                  <a:pt x="249" y="561"/>
                </a:lnTo>
                <a:close/>
              </a:path>
            </a:pathLst>
          </a:custGeom>
          <a:solidFill>
            <a:srgbClr val="FDB913"/>
          </a:solidFill>
          <a:ln>
            <a:noFill/>
          </a:ln>
          <a:effectLst>
            <a:outerShdw blurRad="431800" dist="50800" dir="5400000" algn="ctr" rotWithShape="0">
              <a:srgbClr val="000000">
                <a:alpha val="25000"/>
              </a:srgbClr>
            </a:outerShdw>
          </a:effectLst>
        </p:spPr>
        <p:txBody>
          <a:bodyPr vert="horz" wrap="square" lIns="68580" tIns="34290" rIns="68580" bIns="34290" numCol="1" anchor="t" anchorCtr="0" compatLnSpc="1">
            <a:prstTxWarp prst="textNoShape">
              <a:avLst/>
            </a:prstTxWarp>
          </a:bodyPr>
          <a:lstStyle/>
          <a:p>
            <a:endParaRPr lang="en-ID" sz="1350"/>
          </a:p>
        </p:txBody>
      </p:sp>
      <p:pic>
        <p:nvPicPr>
          <p:cNvPr id="10" name="Picture 9">
            <a:extLst>
              <a:ext uri="{FF2B5EF4-FFF2-40B4-BE49-F238E27FC236}">
                <a16:creationId xmlns:a16="http://schemas.microsoft.com/office/drawing/2014/main" xmlns="" id="{49C7B44A-AD34-9D58-6374-8F3854056B3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06672" y="98893"/>
            <a:ext cx="3204766" cy="492807"/>
          </a:xfrm>
          <a:prstGeom prst="rect">
            <a:avLst/>
          </a:prstGeom>
        </p:spPr>
      </p:pic>
      <p:sp>
        <p:nvSpPr>
          <p:cNvPr id="2" name="Rectangle 1"/>
          <p:cNvSpPr/>
          <p:nvPr/>
        </p:nvSpPr>
        <p:spPr>
          <a:xfrm>
            <a:off x="12809055" y="7653680"/>
            <a:ext cx="1821345" cy="57592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Freeform 10">
            <a:extLst>
              <a:ext uri="{FF2B5EF4-FFF2-40B4-BE49-F238E27FC236}">
                <a16:creationId xmlns:a16="http://schemas.microsoft.com/office/drawing/2014/main" xmlns="" id="{EF13015C-E884-4625-9DF9-3D67995D337B}"/>
              </a:ext>
            </a:extLst>
          </p:cNvPr>
          <p:cNvSpPr>
            <a:spLocks/>
          </p:cNvSpPr>
          <p:nvPr/>
        </p:nvSpPr>
        <p:spPr bwMode="auto">
          <a:xfrm>
            <a:off x="11084391" y="6281399"/>
            <a:ext cx="3546009" cy="1948201"/>
          </a:xfrm>
          <a:custGeom>
            <a:avLst/>
            <a:gdLst>
              <a:gd name="T0" fmla="*/ 1685 w 2016"/>
              <a:gd name="T1" fmla="*/ 0 h 744"/>
              <a:gd name="T2" fmla="*/ 0 w 2016"/>
              <a:gd name="T3" fmla="*/ 744 h 744"/>
              <a:gd name="T4" fmla="*/ 2016 w 2016"/>
              <a:gd name="T5" fmla="*/ 744 h 744"/>
              <a:gd name="T6" fmla="*/ 1685 w 2016"/>
              <a:gd name="T7" fmla="*/ 0 h 744"/>
            </a:gdLst>
            <a:ahLst/>
            <a:cxnLst>
              <a:cxn ang="0">
                <a:pos x="T0" y="T1"/>
              </a:cxn>
              <a:cxn ang="0">
                <a:pos x="T2" y="T3"/>
              </a:cxn>
              <a:cxn ang="0">
                <a:pos x="T4" y="T5"/>
              </a:cxn>
              <a:cxn ang="0">
                <a:pos x="T6" y="T7"/>
              </a:cxn>
            </a:cxnLst>
            <a:rect l="0" t="0" r="r" b="b"/>
            <a:pathLst>
              <a:path w="2016" h="744">
                <a:moveTo>
                  <a:pt x="1685" y="0"/>
                </a:moveTo>
                <a:lnTo>
                  <a:pt x="0" y="744"/>
                </a:lnTo>
                <a:lnTo>
                  <a:pt x="2016" y="744"/>
                </a:lnTo>
                <a:lnTo>
                  <a:pt x="1685" y="0"/>
                </a:lnTo>
                <a:close/>
              </a:path>
            </a:pathLst>
          </a:custGeom>
          <a:solidFill>
            <a:srgbClr val="FDB913"/>
          </a:solidFill>
          <a:ln>
            <a:noFill/>
          </a:ln>
          <a:effectLst>
            <a:outerShdw blurRad="431800" dist="50800" dir="5400000" algn="ctr" rotWithShape="0">
              <a:srgbClr val="000000">
                <a:alpha val="25000"/>
              </a:srgbClr>
            </a:outerShdw>
          </a:effectLst>
        </p:spPr>
        <p:txBody>
          <a:bodyPr vert="horz" wrap="square" lIns="68580" tIns="34290" rIns="68580" bIns="34290" numCol="1" anchor="t" anchorCtr="0" compatLnSpc="1">
            <a:prstTxWarp prst="textNoShape">
              <a:avLst/>
            </a:prstTxWarp>
          </a:bodyPr>
          <a:lstStyle/>
          <a:p>
            <a:endParaRPr lang="en-ID" sz="13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accel="40000" decel="4000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ppt_x"/>
                                          </p:val>
                                        </p:tav>
                                        <p:tav tm="100000">
                                          <p:val>
                                            <p:strVal val="#ppt_x"/>
                                          </p:val>
                                        </p:tav>
                                      </p:tavLst>
                                    </p:anim>
                                    <p:anim calcmode="lin" valueType="num">
                                      <p:cBhvr additive="base">
                                        <p:cTn id="8" dur="1000" fill="hold"/>
                                        <p:tgtEl>
                                          <p:spTgt spid="9"/>
                                        </p:tgtEl>
                                        <p:attrNameLst>
                                          <p:attrName>ppt_y</p:attrName>
                                        </p:attrNameLst>
                                      </p:cBhvr>
                                      <p:tavLst>
                                        <p:tav tm="0">
                                          <p:val>
                                            <p:strVal val="0-#ppt_h/2"/>
                                          </p:val>
                                        </p:tav>
                                        <p:tav tm="100000">
                                          <p:val>
                                            <p:strVal val="#ppt_y"/>
                                          </p:val>
                                        </p:tav>
                                      </p:tavLst>
                                    </p:anim>
                                  </p:childTnLst>
                                </p:cTn>
                              </p:par>
                              <p:par>
                                <p:cTn id="9" presetID="2" presetClass="entr" presetSubtype="4" accel="40000" decel="4000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1000" fill="hold"/>
                                        <p:tgtEl>
                                          <p:spTgt spid="11"/>
                                        </p:tgtEl>
                                        <p:attrNameLst>
                                          <p:attrName>ppt_x</p:attrName>
                                        </p:attrNameLst>
                                      </p:cBhvr>
                                      <p:tavLst>
                                        <p:tav tm="0">
                                          <p:val>
                                            <p:strVal val="#ppt_x"/>
                                          </p:val>
                                        </p:tav>
                                        <p:tav tm="100000">
                                          <p:val>
                                            <p:strVal val="#ppt_x"/>
                                          </p:val>
                                        </p:tav>
                                      </p:tavLst>
                                    </p:anim>
                                    <p:anim calcmode="lin" valueType="num">
                                      <p:cBhvr additive="base">
                                        <p:cTn id="12" dur="10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nvSpPr>
        <p:spPr>
          <a:xfrm>
            <a:off x="1665803" y="689491"/>
            <a:ext cx="6147911" cy="724733"/>
          </a:xfrm>
          <a:prstGeom prst="rect">
            <a:avLst/>
          </a:prstGeom>
          <a:noFill/>
          <a:ln/>
        </p:spPr>
        <p:txBody>
          <a:bodyPr wrap="none" lIns="0" tIns="0" rIns="0" bIns="0" rtlCol="0" anchor="t"/>
          <a:lstStyle/>
          <a:p>
            <a:pPr marL="0" indent="0" algn="l">
              <a:lnSpc>
                <a:spcPts val="5700"/>
              </a:lnSpc>
              <a:buNone/>
            </a:pPr>
            <a:r>
              <a:rPr lang="en-US" sz="4550" b="1" dirty="0">
                <a:solidFill>
                  <a:srgbClr val="000000"/>
                </a:solidFill>
                <a:latin typeface="Petrona Bold" pitchFamily="34" charset="0"/>
                <a:ea typeface="Petrona Bold" pitchFamily="34" charset="-122"/>
                <a:cs typeface="Petrona Bold" pitchFamily="34" charset="-120"/>
              </a:rPr>
              <a:t>Challenges &amp; Solutions</a:t>
            </a:r>
            <a:endParaRPr lang="en-US" sz="4550" dirty="0"/>
          </a:p>
        </p:txBody>
      </p:sp>
      <p:sp>
        <p:nvSpPr>
          <p:cNvPr id="4" name="Shape 1"/>
          <p:cNvSpPr/>
          <p:nvPr/>
        </p:nvSpPr>
        <p:spPr>
          <a:xfrm>
            <a:off x="773073" y="2008703"/>
            <a:ext cx="4218027" cy="3052167"/>
          </a:xfrm>
          <a:prstGeom prst="roundRect">
            <a:avLst>
              <a:gd name="adj" fmla="val 4793"/>
            </a:avLst>
          </a:prstGeom>
          <a:solidFill>
            <a:srgbClr val="FFFFFF">
              <a:alpha val="95000"/>
            </a:srgbClr>
          </a:solidFill>
          <a:ln/>
        </p:spPr>
      </p:sp>
      <p:sp>
        <p:nvSpPr>
          <p:cNvPr id="5" name="Shape 2"/>
          <p:cNvSpPr/>
          <p:nvPr/>
        </p:nvSpPr>
        <p:spPr>
          <a:xfrm>
            <a:off x="773073" y="1978223"/>
            <a:ext cx="4218027" cy="121920"/>
          </a:xfrm>
          <a:prstGeom prst="roundRect">
            <a:avLst>
              <a:gd name="adj" fmla="val 76097"/>
            </a:avLst>
          </a:prstGeom>
          <a:solidFill>
            <a:srgbClr val="007EBD"/>
          </a:solidFill>
          <a:ln/>
        </p:spPr>
      </p:sp>
      <p:sp>
        <p:nvSpPr>
          <p:cNvPr id="6" name="Shape 3"/>
          <p:cNvSpPr/>
          <p:nvPr/>
        </p:nvSpPr>
        <p:spPr>
          <a:xfrm>
            <a:off x="2550735" y="1677472"/>
            <a:ext cx="662583" cy="662583"/>
          </a:xfrm>
          <a:prstGeom prst="roundRect">
            <a:avLst>
              <a:gd name="adj" fmla="val 138005"/>
            </a:avLst>
          </a:prstGeom>
          <a:solidFill>
            <a:srgbClr val="007EBD"/>
          </a:solidFill>
          <a:ln/>
        </p:spPr>
      </p:sp>
      <p:sp>
        <p:nvSpPr>
          <p:cNvPr id="7" name="Text 4"/>
          <p:cNvSpPr/>
          <p:nvPr/>
        </p:nvSpPr>
        <p:spPr>
          <a:xfrm>
            <a:off x="1024414" y="2560915"/>
            <a:ext cx="3715345" cy="724614"/>
          </a:xfrm>
          <a:prstGeom prst="rect">
            <a:avLst/>
          </a:prstGeom>
          <a:noFill/>
          <a:ln/>
        </p:spPr>
        <p:txBody>
          <a:bodyPr wrap="square" lIns="0" tIns="0" rIns="0" bIns="0" rtlCol="0" anchor="t"/>
          <a:lstStyle/>
          <a:p>
            <a:pPr marL="0" indent="0" algn="ctr">
              <a:lnSpc>
                <a:spcPts val="2850"/>
              </a:lnSpc>
              <a:buNone/>
            </a:pPr>
            <a:r>
              <a:rPr lang="en-US" sz="2250" b="1" dirty="0">
                <a:solidFill>
                  <a:srgbClr val="272525"/>
                </a:solidFill>
                <a:latin typeface="Petrona Bold" pitchFamily="34" charset="0"/>
                <a:ea typeface="Petrona Bold" pitchFamily="34" charset="-122"/>
                <a:cs typeface="Petrona Bold" pitchFamily="34" charset="-120"/>
              </a:rPr>
              <a:t>Database Connection Timeout</a:t>
            </a:r>
            <a:endParaRPr lang="en-US" sz="2250" dirty="0"/>
          </a:p>
        </p:txBody>
      </p:sp>
      <p:sp>
        <p:nvSpPr>
          <p:cNvPr id="8" name="Text 5"/>
          <p:cNvSpPr/>
          <p:nvPr/>
        </p:nvSpPr>
        <p:spPr>
          <a:xfrm>
            <a:off x="1024414" y="3414593"/>
            <a:ext cx="3715345" cy="1394936"/>
          </a:xfrm>
          <a:prstGeom prst="rect">
            <a:avLst/>
          </a:prstGeom>
          <a:noFill/>
          <a:ln/>
        </p:spPr>
        <p:txBody>
          <a:bodyPr wrap="square" lIns="0" tIns="0" rIns="0" bIns="0" rtlCol="0" anchor="t"/>
          <a:lstStyle/>
          <a:p>
            <a:pPr marL="0" indent="0" algn="ctr">
              <a:lnSpc>
                <a:spcPts val="2700"/>
              </a:lnSpc>
              <a:buNone/>
            </a:pPr>
            <a:r>
              <a:rPr lang="en-US" sz="1700" dirty="0">
                <a:solidFill>
                  <a:srgbClr val="272525"/>
                </a:solidFill>
                <a:latin typeface="Inter" pitchFamily="34" charset="0"/>
                <a:ea typeface="Inter" pitchFamily="34" charset="-122"/>
                <a:cs typeface="Inter" pitchFamily="34" charset="-120"/>
              </a:rPr>
              <a:t>Established fresh database connection for each API call and added error handling with retry mechanism</a:t>
            </a:r>
            <a:endParaRPr lang="en-US" sz="1700" dirty="0"/>
          </a:p>
        </p:txBody>
      </p:sp>
      <p:sp>
        <p:nvSpPr>
          <p:cNvPr id="9" name="Shape 6"/>
          <p:cNvSpPr/>
          <p:nvPr/>
        </p:nvSpPr>
        <p:spPr>
          <a:xfrm>
            <a:off x="5206127" y="2008703"/>
            <a:ext cx="4218027" cy="3052167"/>
          </a:xfrm>
          <a:prstGeom prst="roundRect">
            <a:avLst>
              <a:gd name="adj" fmla="val 4793"/>
            </a:avLst>
          </a:prstGeom>
          <a:solidFill>
            <a:srgbClr val="FFFFFF">
              <a:alpha val="95000"/>
            </a:srgbClr>
          </a:solidFill>
          <a:ln/>
        </p:spPr>
      </p:sp>
      <p:sp>
        <p:nvSpPr>
          <p:cNvPr id="10" name="Shape 7"/>
          <p:cNvSpPr/>
          <p:nvPr/>
        </p:nvSpPr>
        <p:spPr>
          <a:xfrm>
            <a:off x="5206127" y="1978223"/>
            <a:ext cx="4218027" cy="121920"/>
          </a:xfrm>
          <a:prstGeom prst="roundRect">
            <a:avLst>
              <a:gd name="adj" fmla="val 76097"/>
            </a:avLst>
          </a:prstGeom>
          <a:solidFill>
            <a:srgbClr val="007EBD"/>
          </a:solidFill>
          <a:ln/>
        </p:spPr>
      </p:sp>
      <p:sp>
        <p:nvSpPr>
          <p:cNvPr id="11" name="Shape 8"/>
          <p:cNvSpPr/>
          <p:nvPr/>
        </p:nvSpPr>
        <p:spPr>
          <a:xfrm>
            <a:off x="6983790" y="1677472"/>
            <a:ext cx="662583" cy="662583"/>
          </a:xfrm>
          <a:prstGeom prst="roundRect">
            <a:avLst>
              <a:gd name="adj" fmla="val 138005"/>
            </a:avLst>
          </a:prstGeom>
          <a:solidFill>
            <a:srgbClr val="007EBD"/>
          </a:solidFill>
          <a:ln/>
        </p:spPr>
      </p:sp>
      <p:sp>
        <p:nvSpPr>
          <p:cNvPr id="12" name="Text 9"/>
          <p:cNvSpPr/>
          <p:nvPr/>
        </p:nvSpPr>
        <p:spPr>
          <a:xfrm>
            <a:off x="5716072" y="2560915"/>
            <a:ext cx="3198019" cy="362307"/>
          </a:xfrm>
          <a:prstGeom prst="rect">
            <a:avLst/>
          </a:prstGeom>
          <a:noFill/>
          <a:ln/>
        </p:spPr>
        <p:txBody>
          <a:bodyPr wrap="none" lIns="0" tIns="0" rIns="0" bIns="0" rtlCol="0" anchor="t"/>
          <a:lstStyle/>
          <a:p>
            <a:pPr marL="0" indent="0" algn="ctr">
              <a:lnSpc>
                <a:spcPts val="2850"/>
              </a:lnSpc>
              <a:buNone/>
            </a:pPr>
            <a:r>
              <a:rPr lang="en-US" sz="2250" b="1" dirty="0">
                <a:solidFill>
                  <a:srgbClr val="272525"/>
                </a:solidFill>
                <a:latin typeface="Petrona Bold" pitchFamily="34" charset="0"/>
                <a:ea typeface="Petrona Bold" pitchFamily="34" charset="-122"/>
                <a:cs typeface="Petrona Bold" pitchFamily="34" charset="-120"/>
              </a:rPr>
              <a:t>Incorrect Status Display</a:t>
            </a:r>
            <a:endParaRPr lang="en-US" sz="2250" dirty="0"/>
          </a:p>
        </p:txBody>
      </p:sp>
      <p:sp>
        <p:nvSpPr>
          <p:cNvPr id="13" name="Text 10"/>
          <p:cNvSpPr/>
          <p:nvPr/>
        </p:nvSpPr>
        <p:spPr>
          <a:xfrm>
            <a:off x="5457468" y="3052285"/>
            <a:ext cx="3715345" cy="1757243"/>
          </a:xfrm>
          <a:prstGeom prst="rect">
            <a:avLst/>
          </a:prstGeom>
          <a:noFill/>
          <a:ln/>
        </p:spPr>
        <p:txBody>
          <a:bodyPr wrap="square" lIns="0" tIns="0" rIns="0" bIns="0" rtlCol="0" anchor="t"/>
          <a:lstStyle/>
          <a:p>
            <a:pPr marL="0" indent="0" algn="ctr">
              <a:lnSpc>
                <a:spcPts val="2700"/>
              </a:lnSpc>
              <a:buNone/>
            </a:pPr>
            <a:r>
              <a:rPr lang="en-US" sz="1700" dirty="0">
                <a:solidFill>
                  <a:srgbClr val="272525"/>
                </a:solidFill>
                <a:latin typeface="Inter" pitchFamily="34" charset="0"/>
                <a:ea typeface="Inter" pitchFamily="34" charset="-122"/>
                <a:cs typeface="Inter" pitchFamily="34" charset="-120"/>
              </a:rPr>
              <a:t>Ensured accurate real-time data fetching and proper status determination</a:t>
            </a:r>
            <a:endParaRPr lang="en-US" sz="1700" dirty="0"/>
          </a:p>
        </p:txBody>
      </p:sp>
      <p:sp>
        <p:nvSpPr>
          <p:cNvPr id="14" name="Shape 11"/>
          <p:cNvSpPr/>
          <p:nvPr/>
        </p:nvSpPr>
        <p:spPr>
          <a:xfrm>
            <a:off x="9639181" y="2008703"/>
            <a:ext cx="4218146" cy="3052167"/>
          </a:xfrm>
          <a:prstGeom prst="roundRect">
            <a:avLst>
              <a:gd name="adj" fmla="val 4793"/>
            </a:avLst>
          </a:prstGeom>
          <a:solidFill>
            <a:srgbClr val="FFFFFF">
              <a:alpha val="95000"/>
            </a:srgbClr>
          </a:solidFill>
          <a:ln/>
        </p:spPr>
      </p:sp>
      <p:sp>
        <p:nvSpPr>
          <p:cNvPr id="15" name="Shape 12"/>
          <p:cNvSpPr/>
          <p:nvPr/>
        </p:nvSpPr>
        <p:spPr>
          <a:xfrm>
            <a:off x="9639181" y="1978223"/>
            <a:ext cx="4218146" cy="121920"/>
          </a:xfrm>
          <a:prstGeom prst="roundRect">
            <a:avLst>
              <a:gd name="adj" fmla="val 76097"/>
            </a:avLst>
          </a:prstGeom>
          <a:solidFill>
            <a:srgbClr val="007EBD"/>
          </a:solidFill>
          <a:ln/>
        </p:spPr>
      </p:sp>
      <p:sp>
        <p:nvSpPr>
          <p:cNvPr id="16" name="Shape 13"/>
          <p:cNvSpPr/>
          <p:nvPr/>
        </p:nvSpPr>
        <p:spPr>
          <a:xfrm>
            <a:off x="11416963" y="1677472"/>
            <a:ext cx="662583" cy="662583"/>
          </a:xfrm>
          <a:prstGeom prst="roundRect">
            <a:avLst>
              <a:gd name="adj" fmla="val 138005"/>
            </a:avLst>
          </a:prstGeom>
          <a:solidFill>
            <a:srgbClr val="007EBD"/>
          </a:solidFill>
          <a:ln/>
        </p:spPr>
      </p:sp>
      <p:sp>
        <p:nvSpPr>
          <p:cNvPr id="17" name="Text 14"/>
          <p:cNvSpPr/>
          <p:nvPr/>
        </p:nvSpPr>
        <p:spPr>
          <a:xfrm>
            <a:off x="10236279" y="2560915"/>
            <a:ext cx="3023830" cy="362307"/>
          </a:xfrm>
          <a:prstGeom prst="rect">
            <a:avLst/>
          </a:prstGeom>
          <a:noFill/>
          <a:ln/>
        </p:spPr>
        <p:txBody>
          <a:bodyPr wrap="none" lIns="0" tIns="0" rIns="0" bIns="0" rtlCol="0" anchor="t"/>
          <a:lstStyle/>
          <a:p>
            <a:pPr marL="0" indent="0" algn="ctr">
              <a:lnSpc>
                <a:spcPts val="2850"/>
              </a:lnSpc>
              <a:buNone/>
            </a:pPr>
            <a:r>
              <a:rPr lang="en-US" sz="2250" b="1" dirty="0">
                <a:solidFill>
                  <a:srgbClr val="272525"/>
                </a:solidFill>
                <a:latin typeface="Petrona Bold" pitchFamily="34" charset="0"/>
                <a:ea typeface="Petrona Bold" pitchFamily="34" charset="-122"/>
                <a:cs typeface="Petrona Bold" pitchFamily="34" charset="-120"/>
              </a:rPr>
              <a:t>No Auto-Reconnection</a:t>
            </a:r>
            <a:endParaRPr lang="en-US" sz="2250" dirty="0"/>
          </a:p>
        </p:txBody>
      </p:sp>
      <p:sp>
        <p:nvSpPr>
          <p:cNvPr id="18" name="Text 15"/>
          <p:cNvSpPr/>
          <p:nvPr/>
        </p:nvSpPr>
        <p:spPr>
          <a:xfrm>
            <a:off x="9890522" y="3052286"/>
            <a:ext cx="3715464" cy="1757242"/>
          </a:xfrm>
          <a:prstGeom prst="rect">
            <a:avLst/>
          </a:prstGeom>
          <a:noFill/>
          <a:ln/>
        </p:spPr>
        <p:txBody>
          <a:bodyPr wrap="square" lIns="0" tIns="0" rIns="0" bIns="0" rtlCol="0" anchor="t"/>
          <a:lstStyle/>
          <a:p>
            <a:pPr marL="0" indent="0" algn="ctr">
              <a:lnSpc>
                <a:spcPts val="2700"/>
              </a:lnSpc>
              <a:buNone/>
            </a:pPr>
            <a:r>
              <a:rPr lang="en-US" sz="1700" dirty="0">
                <a:solidFill>
                  <a:srgbClr val="272525"/>
                </a:solidFill>
                <a:latin typeface="Inter" pitchFamily="34" charset="0"/>
                <a:ea typeface="Inter" pitchFamily="34" charset="-122"/>
                <a:cs typeface="Inter" pitchFamily="34" charset="-120"/>
              </a:rPr>
              <a:t>Implemented automatic reconnection logic to maintain continuous monitoring</a:t>
            </a:r>
            <a:endParaRPr lang="en-US" sz="1700" dirty="0"/>
          </a:p>
        </p:txBody>
      </p:sp>
      <p:sp>
        <p:nvSpPr>
          <p:cNvPr id="19" name="Shape 16"/>
          <p:cNvSpPr/>
          <p:nvPr/>
        </p:nvSpPr>
        <p:spPr>
          <a:xfrm>
            <a:off x="773073" y="5607129"/>
            <a:ext cx="6434614" cy="1992392"/>
          </a:xfrm>
          <a:prstGeom prst="roundRect">
            <a:avLst>
              <a:gd name="adj" fmla="val 7343"/>
            </a:avLst>
          </a:prstGeom>
          <a:solidFill>
            <a:srgbClr val="FFFFFF">
              <a:alpha val="95000"/>
            </a:srgbClr>
          </a:solidFill>
          <a:ln/>
        </p:spPr>
      </p:sp>
      <p:sp>
        <p:nvSpPr>
          <p:cNvPr id="20" name="Shape 17"/>
          <p:cNvSpPr/>
          <p:nvPr/>
        </p:nvSpPr>
        <p:spPr>
          <a:xfrm>
            <a:off x="773073" y="5576649"/>
            <a:ext cx="6434614" cy="121920"/>
          </a:xfrm>
          <a:prstGeom prst="roundRect">
            <a:avLst>
              <a:gd name="adj" fmla="val 76097"/>
            </a:avLst>
          </a:prstGeom>
          <a:solidFill>
            <a:srgbClr val="007EBD"/>
          </a:solidFill>
          <a:ln/>
        </p:spPr>
      </p:sp>
      <p:sp>
        <p:nvSpPr>
          <p:cNvPr id="21" name="Shape 18"/>
          <p:cNvSpPr/>
          <p:nvPr/>
        </p:nvSpPr>
        <p:spPr>
          <a:xfrm>
            <a:off x="3659088" y="5275897"/>
            <a:ext cx="662583" cy="662583"/>
          </a:xfrm>
          <a:prstGeom prst="roundRect">
            <a:avLst>
              <a:gd name="adj" fmla="val 138005"/>
            </a:avLst>
          </a:prstGeom>
          <a:solidFill>
            <a:srgbClr val="007EBD"/>
          </a:solidFill>
          <a:ln/>
        </p:spPr>
      </p:sp>
      <p:sp>
        <p:nvSpPr>
          <p:cNvPr id="22" name="Text 19"/>
          <p:cNvSpPr/>
          <p:nvPr/>
        </p:nvSpPr>
        <p:spPr>
          <a:xfrm>
            <a:off x="2540794" y="6159341"/>
            <a:ext cx="2899172" cy="362307"/>
          </a:xfrm>
          <a:prstGeom prst="rect">
            <a:avLst/>
          </a:prstGeom>
          <a:noFill/>
          <a:ln/>
        </p:spPr>
        <p:txBody>
          <a:bodyPr wrap="none" lIns="0" tIns="0" rIns="0" bIns="0" rtlCol="0" anchor="t"/>
          <a:lstStyle/>
          <a:p>
            <a:pPr marL="0" indent="0" algn="ctr">
              <a:lnSpc>
                <a:spcPts val="2850"/>
              </a:lnSpc>
              <a:buNone/>
            </a:pPr>
            <a:r>
              <a:rPr lang="en-US" sz="2250" b="1" dirty="0">
                <a:solidFill>
                  <a:srgbClr val="272525"/>
                </a:solidFill>
                <a:latin typeface="Petrona Bold" pitchFamily="34" charset="0"/>
                <a:ea typeface="Petrona Bold" pitchFamily="34" charset="-122"/>
                <a:cs typeface="Petrona Bold" pitchFamily="34" charset="-120"/>
              </a:rPr>
              <a:t>Scheduler Issues</a:t>
            </a:r>
            <a:endParaRPr lang="en-US" sz="2250" dirty="0"/>
          </a:p>
        </p:txBody>
      </p:sp>
      <p:sp>
        <p:nvSpPr>
          <p:cNvPr id="23" name="Text 20"/>
          <p:cNvSpPr/>
          <p:nvPr/>
        </p:nvSpPr>
        <p:spPr>
          <a:xfrm>
            <a:off x="1024414" y="6650711"/>
            <a:ext cx="5931932" cy="948809"/>
          </a:xfrm>
          <a:prstGeom prst="rect">
            <a:avLst/>
          </a:prstGeom>
          <a:noFill/>
          <a:ln/>
        </p:spPr>
        <p:txBody>
          <a:bodyPr wrap="square" lIns="0" tIns="0" rIns="0" bIns="0" rtlCol="0" anchor="t"/>
          <a:lstStyle/>
          <a:p>
            <a:pPr marL="0" indent="0" algn="ctr">
              <a:lnSpc>
                <a:spcPts val="2700"/>
              </a:lnSpc>
              <a:buNone/>
            </a:pPr>
            <a:r>
              <a:rPr lang="en-US" sz="1700" dirty="0">
                <a:solidFill>
                  <a:srgbClr val="272525"/>
                </a:solidFill>
                <a:latin typeface="Inter" pitchFamily="34" charset="0"/>
                <a:ea typeface="Inter" pitchFamily="34" charset="-122"/>
                <a:cs typeface="Inter" pitchFamily="34" charset="-120"/>
              </a:rPr>
              <a:t>Configured Windows Task Scheduler properly for reliable automation</a:t>
            </a:r>
            <a:endParaRPr lang="en-US" sz="1700" dirty="0"/>
          </a:p>
        </p:txBody>
      </p:sp>
      <p:sp>
        <p:nvSpPr>
          <p:cNvPr id="24" name="Shape 21"/>
          <p:cNvSpPr/>
          <p:nvPr/>
        </p:nvSpPr>
        <p:spPr>
          <a:xfrm>
            <a:off x="7422713" y="5607129"/>
            <a:ext cx="6434614" cy="1992392"/>
          </a:xfrm>
          <a:prstGeom prst="roundRect">
            <a:avLst>
              <a:gd name="adj" fmla="val 7343"/>
            </a:avLst>
          </a:prstGeom>
          <a:solidFill>
            <a:srgbClr val="FFFFFF">
              <a:alpha val="95000"/>
            </a:srgbClr>
          </a:solidFill>
          <a:ln/>
        </p:spPr>
      </p:sp>
      <p:sp>
        <p:nvSpPr>
          <p:cNvPr id="25" name="Shape 22"/>
          <p:cNvSpPr/>
          <p:nvPr/>
        </p:nvSpPr>
        <p:spPr>
          <a:xfrm>
            <a:off x="7422713" y="5576649"/>
            <a:ext cx="6434614" cy="121920"/>
          </a:xfrm>
          <a:prstGeom prst="roundRect">
            <a:avLst>
              <a:gd name="adj" fmla="val 76097"/>
            </a:avLst>
          </a:prstGeom>
          <a:solidFill>
            <a:srgbClr val="007EBD"/>
          </a:solidFill>
          <a:ln/>
        </p:spPr>
      </p:sp>
      <p:sp>
        <p:nvSpPr>
          <p:cNvPr id="26" name="Shape 23"/>
          <p:cNvSpPr/>
          <p:nvPr/>
        </p:nvSpPr>
        <p:spPr>
          <a:xfrm>
            <a:off x="10308729" y="5275897"/>
            <a:ext cx="662583" cy="662583"/>
          </a:xfrm>
          <a:prstGeom prst="roundRect">
            <a:avLst>
              <a:gd name="adj" fmla="val 138005"/>
            </a:avLst>
          </a:prstGeom>
          <a:solidFill>
            <a:srgbClr val="007EBD"/>
          </a:solidFill>
          <a:ln/>
        </p:spPr>
      </p:sp>
      <p:sp>
        <p:nvSpPr>
          <p:cNvPr id="27" name="Text 24"/>
          <p:cNvSpPr/>
          <p:nvPr/>
        </p:nvSpPr>
        <p:spPr>
          <a:xfrm>
            <a:off x="9190434" y="6159341"/>
            <a:ext cx="2899172" cy="362307"/>
          </a:xfrm>
          <a:prstGeom prst="rect">
            <a:avLst/>
          </a:prstGeom>
          <a:noFill/>
          <a:ln/>
        </p:spPr>
        <p:txBody>
          <a:bodyPr wrap="none" lIns="0" tIns="0" rIns="0" bIns="0" rtlCol="0" anchor="t"/>
          <a:lstStyle/>
          <a:p>
            <a:pPr marL="0" indent="0" algn="ctr">
              <a:lnSpc>
                <a:spcPts val="2850"/>
              </a:lnSpc>
              <a:buNone/>
            </a:pPr>
            <a:r>
              <a:rPr lang="en-US" sz="2250" b="1" dirty="0">
                <a:solidFill>
                  <a:srgbClr val="272525"/>
                </a:solidFill>
                <a:latin typeface="Petrona Bold" pitchFamily="34" charset="0"/>
                <a:ea typeface="Petrona Bold" pitchFamily="34" charset="-122"/>
                <a:cs typeface="Petrona Bold" pitchFamily="34" charset="-120"/>
              </a:rPr>
              <a:t>EXE Deployment</a:t>
            </a:r>
            <a:endParaRPr lang="en-US" sz="2250" dirty="0"/>
          </a:p>
        </p:txBody>
      </p:sp>
      <p:sp>
        <p:nvSpPr>
          <p:cNvPr id="28" name="Text 25"/>
          <p:cNvSpPr/>
          <p:nvPr/>
        </p:nvSpPr>
        <p:spPr>
          <a:xfrm>
            <a:off x="7674054" y="6650712"/>
            <a:ext cx="5931932" cy="948808"/>
          </a:xfrm>
          <a:prstGeom prst="rect">
            <a:avLst/>
          </a:prstGeom>
          <a:noFill/>
          <a:ln/>
        </p:spPr>
        <p:txBody>
          <a:bodyPr wrap="square" lIns="0" tIns="0" rIns="0" bIns="0" rtlCol="0" anchor="t"/>
          <a:lstStyle/>
          <a:p>
            <a:pPr marL="0" indent="0" algn="ctr">
              <a:lnSpc>
                <a:spcPts val="2700"/>
              </a:lnSpc>
              <a:buNone/>
            </a:pPr>
            <a:r>
              <a:rPr lang="en-US" sz="1700" dirty="0">
                <a:solidFill>
                  <a:srgbClr val="272525"/>
                </a:solidFill>
                <a:latin typeface="Inter" pitchFamily="34" charset="0"/>
                <a:ea typeface="Inter" pitchFamily="34" charset="-122"/>
                <a:cs typeface="Inter" pitchFamily="34" charset="-120"/>
              </a:rPr>
              <a:t>Converted Python script to EXE with proper path configuration</a:t>
            </a:r>
            <a:endParaRPr lang="en-US" sz="1700" dirty="0"/>
          </a:p>
        </p:txBody>
      </p:sp>
      <p:pic>
        <p:nvPicPr>
          <p:cNvPr id="29" name="Picture 28"/>
          <p:cNvPicPr>
            <a:picLocks noChangeAspect="1"/>
          </p:cNvPicPr>
          <p:nvPr/>
        </p:nvPicPr>
        <p:blipFill rotWithShape="1">
          <a:blip r:embed="rId3" cstate="print">
            <a:extLst>
              <a:ext uri="{28A0092B-C50C-407E-A947-70E740481C1C}">
                <a14:useLocalDpi xmlns:a14="http://schemas.microsoft.com/office/drawing/2010/main" val="0"/>
              </a:ext>
            </a:extLst>
          </a:blip>
          <a:srcRect b="40404"/>
          <a:stretch/>
        </p:blipFill>
        <p:spPr>
          <a:xfrm>
            <a:off x="11500104" y="-168451"/>
            <a:ext cx="3255264" cy="982820"/>
          </a:xfrm>
          <a:prstGeom prst="rect">
            <a:avLst/>
          </a:prstGeom>
        </p:spPr>
      </p:pic>
      <p:sp>
        <p:nvSpPr>
          <p:cNvPr id="30" name="Freeform 29">
            <a:extLst>
              <a:ext uri="{FF2B5EF4-FFF2-40B4-BE49-F238E27FC236}">
                <a16:creationId xmlns="" xmlns:a16="http://schemas.microsoft.com/office/drawing/2014/main" id="{D26F4A47-9C92-41C8-B9AA-0DCABA043242}"/>
              </a:ext>
            </a:extLst>
          </p:cNvPr>
          <p:cNvSpPr>
            <a:spLocks/>
          </p:cNvSpPr>
          <p:nvPr/>
        </p:nvSpPr>
        <p:spPr bwMode="auto">
          <a:xfrm>
            <a:off x="0" y="1"/>
            <a:ext cx="3166278" cy="1183398"/>
          </a:xfrm>
          <a:custGeom>
            <a:avLst/>
            <a:gdLst>
              <a:gd name="T0" fmla="*/ 249 w 1501"/>
              <a:gd name="T1" fmla="*/ 561 h 561"/>
              <a:gd name="T2" fmla="*/ 1501 w 1501"/>
              <a:gd name="T3" fmla="*/ 6 h 561"/>
              <a:gd name="T4" fmla="*/ 1499 w 1501"/>
              <a:gd name="T5" fmla="*/ 0 h 561"/>
              <a:gd name="T6" fmla="*/ 0 w 1501"/>
              <a:gd name="T7" fmla="*/ 0 h 561"/>
              <a:gd name="T8" fmla="*/ 249 w 1501"/>
              <a:gd name="T9" fmla="*/ 561 h 561"/>
            </a:gdLst>
            <a:ahLst/>
            <a:cxnLst>
              <a:cxn ang="0">
                <a:pos x="T0" y="T1"/>
              </a:cxn>
              <a:cxn ang="0">
                <a:pos x="T2" y="T3"/>
              </a:cxn>
              <a:cxn ang="0">
                <a:pos x="T4" y="T5"/>
              </a:cxn>
              <a:cxn ang="0">
                <a:pos x="T6" y="T7"/>
              </a:cxn>
              <a:cxn ang="0">
                <a:pos x="T8" y="T9"/>
              </a:cxn>
            </a:cxnLst>
            <a:rect l="0" t="0" r="r" b="b"/>
            <a:pathLst>
              <a:path w="1501" h="561">
                <a:moveTo>
                  <a:pt x="249" y="561"/>
                </a:moveTo>
                <a:lnTo>
                  <a:pt x="1501" y="6"/>
                </a:lnTo>
                <a:lnTo>
                  <a:pt x="1499" y="0"/>
                </a:lnTo>
                <a:lnTo>
                  <a:pt x="0" y="0"/>
                </a:lnTo>
                <a:lnTo>
                  <a:pt x="249" y="561"/>
                </a:lnTo>
                <a:close/>
              </a:path>
            </a:pathLst>
          </a:custGeom>
          <a:solidFill>
            <a:srgbClr val="FDB913"/>
          </a:solidFill>
          <a:ln>
            <a:noFill/>
          </a:ln>
          <a:effectLst>
            <a:outerShdw blurRad="431800" dist="50800" dir="5400000" algn="ctr" rotWithShape="0">
              <a:srgbClr val="000000">
                <a:alpha val="25000"/>
              </a:srgbClr>
            </a:outerShdw>
          </a:effectLst>
        </p:spPr>
        <p:txBody>
          <a:bodyPr vert="horz" wrap="square" lIns="68580" tIns="34290" rIns="68580" bIns="34290" numCol="1" anchor="t" anchorCtr="0" compatLnSpc="1">
            <a:prstTxWarp prst="textNoShape">
              <a:avLst/>
            </a:prstTxWarp>
          </a:bodyPr>
          <a:lstStyle/>
          <a:p>
            <a:endParaRPr lang="en-ID" sz="1350"/>
          </a:p>
        </p:txBody>
      </p:sp>
      <p:pic>
        <p:nvPicPr>
          <p:cNvPr id="31" name="Picture 30">
            <a:extLst>
              <a:ext uri="{FF2B5EF4-FFF2-40B4-BE49-F238E27FC236}">
                <a16:creationId xmlns:a16="http://schemas.microsoft.com/office/drawing/2014/main" xmlns="" id="{49C7B44A-AD34-9D58-6374-8F3854056B3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06672" y="98893"/>
            <a:ext cx="3204766" cy="492807"/>
          </a:xfrm>
          <a:prstGeom prst="rect">
            <a:avLst/>
          </a:prstGeom>
        </p:spPr>
      </p:pic>
      <p:sp>
        <p:nvSpPr>
          <p:cNvPr id="2" name="Rectangle 1"/>
          <p:cNvSpPr/>
          <p:nvPr/>
        </p:nvSpPr>
        <p:spPr>
          <a:xfrm>
            <a:off x="12809055" y="7599521"/>
            <a:ext cx="1821345" cy="63007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Freeform 31">
            <a:extLst>
              <a:ext uri="{FF2B5EF4-FFF2-40B4-BE49-F238E27FC236}">
                <a16:creationId xmlns:a16="http://schemas.microsoft.com/office/drawing/2014/main" xmlns="" id="{EF13015C-E884-4625-9DF9-3D67995D337B}"/>
              </a:ext>
            </a:extLst>
          </p:cNvPr>
          <p:cNvSpPr>
            <a:spLocks/>
          </p:cNvSpPr>
          <p:nvPr/>
        </p:nvSpPr>
        <p:spPr bwMode="auto">
          <a:xfrm>
            <a:off x="12141100" y="6281399"/>
            <a:ext cx="2540794" cy="1948201"/>
          </a:xfrm>
          <a:custGeom>
            <a:avLst/>
            <a:gdLst>
              <a:gd name="T0" fmla="*/ 1685 w 2016"/>
              <a:gd name="T1" fmla="*/ 0 h 744"/>
              <a:gd name="T2" fmla="*/ 0 w 2016"/>
              <a:gd name="T3" fmla="*/ 744 h 744"/>
              <a:gd name="T4" fmla="*/ 2016 w 2016"/>
              <a:gd name="T5" fmla="*/ 744 h 744"/>
              <a:gd name="T6" fmla="*/ 1685 w 2016"/>
              <a:gd name="T7" fmla="*/ 0 h 744"/>
            </a:gdLst>
            <a:ahLst/>
            <a:cxnLst>
              <a:cxn ang="0">
                <a:pos x="T0" y="T1"/>
              </a:cxn>
              <a:cxn ang="0">
                <a:pos x="T2" y="T3"/>
              </a:cxn>
              <a:cxn ang="0">
                <a:pos x="T4" y="T5"/>
              </a:cxn>
              <a:cxn ang="0">
                <a:pos x="T6" y="T7"/>
              </a:cxn>
            </a:cxnLst>
            <a:rect l="0" t="0" r="r" b="b"/>
            <a:pathLst>
              <a:path w="2016" h="744">
                <a:moveTo>
                  <a:pt x="1685" y="0"/>
                </a:moveTo>
                <a:lnTo>
                  <a:pt x="0" y="744"/>
                </a:lnTo>
                <a:lnTo>
                  <a:pt x="2016" y="744"/>
                </a:lnTo>
                <a:lnTo>
                  <a:pt x="1685" y="0"/>
                </a:lnTo>
                <a:close/>
              </a:path>
            </a:pathLst>
          </a:custGeom>
          <a:solidFill>
            <a:srgbClr val="FDB913"/>
          </a:solidFill>
          <a:ln>
            <a:noFill/>
          </a:ln>
          <a:effectLst>
            <a:outerShdw blurRad="431800" dist="50800" dir="5400000" algn="ctr" rotWithShape="0">
              <a:srgbClr val="000000">
                <a:alpha val="25000"/>
              </a:srgbClr>
            </a:outerShdw>
          </a:effectLst>
        </p:spPr>
        <p:txBody>
          <a:bodyPr vert="horz" wrap="square" lIns="68580" tIns="34290" rIns="68580" bIns="34290" numCol="1" anchor="t" anchorCtr="0" compatLnSpc="1">
            <a:prstTxWarp prst="textNoShape">
              <a:avLst/>
            </a:prstTxWarp>
          </a:bodyPr>
          <a:lstStyle/>
          <a:p>
            <a:endParaRPr lang="en-ID" sz="13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accel="40000" decel="4000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additive="base">
                                        <p:cTn id="7" dur="1000" fill="hold"/>
                                        <p:tgtEl>
                                          <p:spTgt spid="30"/>
                                        </p:tgtEl>
                                        <p:attrNameLst>
                                          <p:attrName>ppt_x</p:attrName>
                                        </p:attrNameLst>
                                      </p:cBhvr>
                                      <p:tavLst>
                                        <p:tav tm="0">
                                          <p:val>
                                            <p:strVal val="#ppt_x"/>
                                          </p:val>
                                        </p:tav>
                                        <p:tav tm="100000">
                                          <p:val>
                                            <p:strVal val="#ppt_x"/>
                                          </p:val>
                                        </p:tav>
                                      </p:tavLst>
                                    </p:anim>
                                    <p:anim calcmode="lin" valueType="num">
                                      <p:cBhvr additive="base">
                                        <p:cTn id="8" dur="1000" fill="hold"/>
                                        <p:tgtEl>
                                          <p:spTgt spid="30"/>
                                        </p:tgtEl>
                                        <p:attrNameLst>
                                          <p:attrName>ppt_y</p:attrName>
                                        </p:attrNameLst>
                                      </p:cBhvr>
                                      <p:tavLst>
                                        <p:tav tm="0">
                                          <p:val>
                                            <p:strVal val="0-#ppt_h/2"/>
                                          </p:val>
                                        </p:tav>
                                        <p:tav tm="100000">
                                          <p:val>
                                            <p:strVal val="#ppt_y"/>
                                          </p:val>
                                        </p:tav>
                                      </p:tavLst>
                                    </p:anim>
                                  </p:childTnLst>
                                </p:cTn>
                              </p:par>
                              <p:par>
                                <p:cTn id="9" presetID="2" presetClass="entr" presetSubtype="4" accel="40000" decel="40000" fill="hold" grpId="0" nodeType="withEffect">
                                  <p:stCondLst>
                                    <p:cond delay="0"/>
                                  </p:stCondLst>
                                  <p:childTnLst>
                                    <p:set>
                                      <p:cBhvr>
                                        <p:cTn id="10" dur="1" fill="hold">
                                          <p:stCondLst>
                                            <p:cond delay="0"/>
                                          </p:stCondLst>
                                        </p:cTn>
                                        <p:tgtEl>
                                          <p:spTgt spid="32"/>
                                        </p:tgtEl>
                                        <p:attrNameLst>
                                          <p:attrName>style.visibility</p:attrName>
                                        </p:attrNameLst>
                                      </p:cBhvr>
                                      <p:to>
                                        <p:strVal val="visible"/>
                                      </p:to>
                                    </p:set>
                                    <p:anim calcmode="lin" valueType="num">
                                      <p:cBhvr additive="base">
                                        <p:cTn id="11" dur="1000" fill="hold"/>
                                        <p:tgtEl>
                                          <p:spTgt spid="32"/>
                                        </p:tgtEl>
                                        <p:attrNameLst>
                                          <p:attrName>ppt_x</p:attrName>
                                        </p:attrNameLst>
                                      </p:cBhvr>
                                      <p:tavLst>
                                        <p:tav tm="0">
                                          <p:val>
                                            <p:strVal val="#ppt_x"/>
                                          </p:val>
                                        </p:tav>
                                        <p:tav tm="100000">
                                          <p:val>
                                            <p:strVal val="#ppt_x"/>
                                          </p:val>
                                        </p:tav>
                                      </p:tavLst>
                                    </p:anim>
                                    <p:anim calcmode="lin" valueType="num">
                                      <p:cBhvr additive="base">
                                        <p:cTn id="12" dur="1000" fill="hold"/>
                                        <p:tgtEl>
                                          <p:spTgt spid="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1681591" y="508073"/>
            <a:ext cx="11025822" cy="846203"/>
          </a:xfrm>
          <a:prstGeom prst="rect">
            <a:avLst/>
          </a:prstGeom>
          <a:noFill/>
          <a:ln/>
        </p:spPr>
        <p:txBody>
          <a:bodyPr wrap="none" lIns="0" tIns="0" rIns="0" bIns="0" rtlCol="0" anchor="t"/>
          <a:lstStyle/>
          <a:p>
            <a:pPr marL="0" indent="0" algn="l">
              <a:lnSpc>
                <a:spcPts val="5200"/>
              </a:lnSpc>
              <a:buNone/>
            </a:pPr>
            <a:r>
              <a:rPr lang="en-US" sz="4150" b="1" dirty="0" smtClean="0">
                <a:solidFill>
                  <a:srgbClr val="000000"/>
                </a:solidFill>
                <a:latin typeface="Petrona Bold" pitchFamily="34" charset="0"/>
                <a:ea typeface="Petrona Bold" pitchFamily="34" charset="-122"/>
                <a:cs typeface="Petrona Bold" pitchFamily="34" charset="-120"/>
              </a:rPr>
              <a:t>   </a:t>
            </a:r>
            <a:r>
              <a:rPr lang="en-US" sz="4150" b="1" dirty="0">
                <a:solidFill>
                  <a:srgbClr val="000000"/>
                </a:solidFill>
                <a:latin typeface="Petrona Bold" pitchFamily="34" charset="0"/>
                <a:ea typeface="Petrona Bold" pitchFamily="34" charset="-122"/>
                <a:cs typeface="Petrona Bold" pitchFamily="34" charset="-120"/>
              </a:rPr>
              <a:t>Production </a:t>
            </a:r>
            <a:r>
              <a:rPr lang="en-US" sz="4150" b="1" dirty="0" smtClean="0">
                <a:solidFill>
                  <a:srgbClr val="000000"/>
                </a:solidFill>
                <a:latin typeface="Petrona Bold" pitchFamily="34" charset="0"/>
                <a:ea typeface="Petrona Bold" pitchFamily="34" charset="-122"/>
                <a:cs typeface="Petrona Bold" pitchFamily="34" charset="-120"/>
              </a:rPr>
              <a:t>MII Dashboard Enhancement</a:t>
            </a:r>
            <a:endParaRPr lang="en-US" sz="4150" dirty="0"/>
          </a:p>
        </p:txBody>
      </p:sp>
      <p:sp>
        <p:nvSpPr>
          <p:cNvPr id="4" name="Shape 1"/>
          <p:cNvSpPr/>
          <p:nvPr/>
        </p:nvSpPr>
        <p:spPr>
          <a:xfrm>
            <a:off x="1031822" y="1294827"/>
            <a:ext cx="12325361" cy="45719"/>
          </a:xfrm>
          <a:prstGeom prst="rect">
            <a:avLst/>
          </a:prstGeom>
          <a:solidFill>
            <a:srgbClr val="272525">
              <a:alpha val="50000"/>
            </a:srgbClr>
          </a:solidFill>
          <a:ln/>
        </p:spPr>
      </p:sp>
      <p:sp>
        <p:nvSpPr>
          <p:cNvPr id="5" name="Shape 2"/>
          <p:cNvSpPr/>
          <p:nvPr/>
        </p:nvSpPr>
        <p:spPr>
          <a:xfrm>
            <a:off x="1031822" y="1504950"/>
            <a:ext cx="12593254" cy="2005337"/>
          </a:xfrm>
          <a:prstGeom prst="roundRect">
            <a:avLst>
              <a:gd name="adj" fmla="val 5867"/>
            </a:avLst>
          </a:prstGeom>
          <a:solidFill>
            <a:srgbClr val="FFFFFF">
              <a:alpha val="95000"/>
            </a:srgbClr>
          </a:solidFill>
          <a:ln w="15240">
            <a:solidFill>
              <a:srgbClr val="B2D4E5"/>
            </a:solidFill>
            <a:prstDash val="solid"/>
          </a:ln>
        </p:spPr>
        <p:txBody>
          <a:bodyPr/>
          <a:lstStyle/>
          <a:p>
            <a:r>
              <a:rPr lang="en-US" sz="2800" b="1" dirty="0">
                <a:solidFill>
                  <a:srgbClr val="272525"/>
                </a:solidFill>
                <a:latin typeface="Petrona Bold" pitchFamily="34" charset="0"/>
                <a:ea typeface="Petrona Bold" pitchFamily="34" charset="-122"/>
                <a:cs typeface="Petrona Bold" pitchFamily="34" charset="-120"/>
              </a:rPr>
              <a:t>Problem Statement :</a:t>
            </a:r>
            <a:endParaRPr lang="en-US" sz="2800" dirty="0"/>
          </a:p>
          <a:p>
            <a:r>
              <a:rPr lang="en-US" sz="2200" dirty="0">
                <a:solidFill>
                  <a:srgbClr val="272525"/>
                </a:solidFill>
                <a:latin typeface="Inter" pitchFamily="34" charset="0"/>
                <a:ea typeface="Inter" pitchFamily="34" charset="-122"/>
                <a:cs typeface="Inter" pitchFamily="34" charset="-120"/>
              </a:rPr>
              <a:t>The </a:t>
            </a:r>
            <a:r>
              <a:rPr lang="en-US" sz="2200" dirty="0" smtClean="0">
                <a:solidFill>
                  <a:srgbClr val="272525"/>
                </a:solidFill>
                <a:latin typeface="Inter" pitchFamily="34" charset="0"/>
                <a:ea typeface="Inter" pitchFamily="34" charset="-122"/>
                <a:cs typeface="Inter" pitchFamily="34" charset="-120"/>
              </a:rPr>
              <a:t>dashboard </a:t>
            </a:r>
            <a:r>
              <a:rPr lang="en-US" sz="2200" dirty="0">
                <a:solidFill>
                  <a:srgbClr val="272525"/>
                </a:solidFill>
                <a:latin typeface="Inter" pitchFamily="34" charset="0"/>
                <a:ea typeface="Inter" pitchFamily="34" charset="-122"/>
                <a:cs typeface="Inter" pitchFamily="34" charset="-120"/>
              </a:rPr>
              <a:t>is used for daily analysis of towel loom production data. To improve </a:t>
            </a:r>
            <a:r>
              <a:rPr lang="en-US" sz="2200" dirty="0" smtClean="0">
                <a:solidFill>
                  <a:srgbClr val="272525"/>
                </a:solidFill>
                <a:latin typeface="Inter" pitchFamily="34" charset="0"/>
                <a:ea typeface="Inter" pitchFamily="34" charset="-122"/>
                <a:cs typeface="Inter" pitchFamily="34" charset="-120"/>
              </a:rPr>
              <a:t>flexibility </a:t>
            </a:r>
            <a:r>
              <a:rPr lang="en-US" sz="2200" dirty="0">
                <a:solidFill>
                  <a:srgbClr val="272525"/>
                </a:solidFill>
                <a:latin typeface="Inter" pitchFamily="34" charset="0"/>
                <a:ea typeface="Inter" pitchFamily="34" charset="-122"/>
                <a:cs typeface="Inter" pitchFamily="34" charset="-120"/>
              </a:rPr>
              <a:t>and reporting, a new tile was added which shows the production for combined looms and in addition to this many filters were added like efficiency filter, sorting of columns and addition of data range</a:t>
            </a:r>
            <a:endParaRPr lang="en-US" sz="2200" dirty="0"/>
          </a:p>
          <a:p>
            <a:endParaRPr lang="en-IN" sz="2800" dirty="0"/>
          </a:p>
        </p:txBody>
      </p:sp>
      <p:sp>
        <p:nvSpPr>
          <p:cNvPr id="7" name="Text 4"/>
          <p:cNvSpPr/>
          <p:nvPr/>
        </p:nvSpPr>
        <p:spPr>
          <a:xfrm>
            <a:off x="1273216" y="1672683"/>
            <a:ext cx="4271405" cy="482203"/>
          </a:xfrm>
          <a:prstGeom prst="rect">
            <a:avLst/>
          </a:prstGeom>
          <a:noFill/>
          <a:ln/>
        </p:spPr>
        <p:txBody>
          <a:bodyPr wrap="none" lIns="0" tIns="0" rIns="0" bIns="0" rtlCol="0" anchor="t"/>
          <a:lstStyle/>
          <a:p>
            <a:pPr marL="0" indent="0" algn="l">
              <a:lnSpc>
                <a:spcPts val="3000"/>
              </a:lnSpc>
              <a:buNone/>
            </a:pPr>
            <a:endParaRPr lang="en-US" sz="2400" dirty="0"/>
          </a:p>
        </p:txBody>
      </p:sp>
      <p:sp>
        <p:nvSpPr>
          <p:cNvPr id="8" name="Text 5"/>
          <p:cNvSpPr/>
          <p:nvPr/>
        </p:nvSpPr>
        <p:spPr>
          <a:xfrm>
            <a:off x="1371321" y="2111266"/>
            <a:ext cx="11251859" cy="1631465"/>
          </a:xfrm>
          <a:prstGeom prst="rect">
            <a:avLst/>
          </a:prstGeom>
          <a:noFill/>
          <a:ln/>
        </p:spPr>
        <p:txBody>
          <a:bodyPr wrap="square" lIns="0" tIns="0" rIns="0" bIns="0" rtlCol="0" anchor="t"/>
          <a:lstStyle/>
          <a:p>
            <a:pPr>
              <a:lnSpc>
                <a:spcPts val="1850"/>
              </a:lnSpc>
            </a:pPr>
            <a:r>
              <a:rPr lang="en-US" sz="2000" dirty="0" smtClean="0">
                <a:solidFill>
                  <a:srgbClr val="272525"/>
                </a:solidFill>
                <a:latin typeface="Inter" pitchFamily="34" charset="0"/>
                <a:ea typeface="Inter" pitchFamily="34" charset="-122"/>
                <a:cs typeface="Inter" pitchFamily="34" charset="-120"/>
              </a:rPr>
              <a:t>. </a:t>
            </a:r>
            <a:endParaRPr lang="en-US" sz="2000" dirty="0"/>
          </a:p>
        </p:txBody>
      </p:sp>
      <p:sp>
        <p:nvSpPr>
          <p:cNvPr id="9" name="Text 6"/>
          <p:cNvSpPr/>
          <p:nvPr/>
        </p:nvSpPr>
        <p:spPr>
          <a:xfrm>
            <a:off x="1229859" y="3666704"/>
            <a:ext cx="3804023" cy="696067"/>
          </a:xfrm>
          <a:prstGeom prst="rect">
            <a:avLst/>
          </a:prstGeom>
          <a:noFill/>
          <a:ln/>
        </p:spPr>
        <p:txBody>
          <a:bodyPr wrap="none" lIns="0" tIns="0" rIns="0" bIns="0" rtlCol="0" anchor="t"/>
          <a:lstStyle/>
          <a:p>
            <a:pPr marL="0" indent="0" algn="l">
              <a:lnSpc>
                <a:spcPts val="2250"/>
              </a:lnSpc>
              <a:buNone/>
            </a:pPr>
            <a:endParaRPr lang="en-US" sz="4000" b="1" dirty="0">
              <a:solidFill>
                <a:srgbClr val="000000"/>
              </a:solidFill>
              <a:latin typeface="Petrona Bold" pitchFamily="34" charset="0"/>
              <a:ea typeface="Petrona Bold" pitchFamily="34" charset="-122"/>
              <a:cs typeface="Petrona Bold" pitchFamily="34" charset="-120"/>
            </a:endParaRPr>
          </a:p>
          <a:p>
            <a:pPr marL="0" indent="0" algn="l">
              <a:lnSpc>
                <a:spcPts val="2250"/>
              </a:lnSpc>
              <a:buNone/>
            </a:pPr>
            <a:r>
              <a:rPr lang="en-US" sz="4000" b="1" dirty="0">
                <a:solidFill>
                  <a:srgbClr val="000000"/>
                </a:solidFill>
                <a:latin typeface="Petrona Bold" pitchFamily="34" charset="0"/>
                <a:ea typeface="Petrona Bold" pitchFamily="34" charset="-122"/>
                <a:cs typeface="Petrona Bold" pitchFamily="34" charset="-120"/>
              </a:rPr>
              <a:t>           The</a:t>
            </a:r>
            <a:r>
              <a:rPr lang="en-US" sz="1800" b="1" dirty="0">
                <a:solidFill>
                  <a:srgbClr val="000000"/>
                </a:solidFill>
                <a:latin typeface="Petrona Bold" pitchFamily="34" charset="0"/>
                <a:ea typeface="Petrona Bold" pitchFamily="34" charset="-122"/>
                <a:cs typeface="Petrona Bold" pitchFamily="34" charset="-120"/>
              </a:rPr>
              <a:t> </a:t>
            </a:r>
            <a:r>
              <a:rPr lang="en-US" sz="4000" b="1" dirty="0">
                <a:solidFill>
                  <a:srgbClr val="000000"/>
                </a:solidFill>
                <a:latin typeface="Petrona Bold" pitchFamily="34" charset="0"/>
                <a:ea typeface="Petrona Bold" pitchFamily="34" charset="-122"/>
                <a:cs typeface="Petrona Bold" pitchFamily="34" charset="-120"/>
              </a:rPr>
              <a:t>Challenge</a:t>
            </a:r>
            <a:endParaRPr lang="en-US" sz="4000" dirty="0"/>
          </a:p>
        </p:txBody>
      </p:sp>
      <p:sp>
        <p:nvSpPr>
          <p:cNvPr id="10" name="Text 7"/>
          <p:cNvSpPr/>
          <p:nvPr/>
        </p:nvSpPr>
        <p:spPr>
          <a:xfrm>
            <a:off x="1273216" y="4105393"/>
            <a:ext cx="5863154" cy="3948132"/>
          </a:xfrm>
          <a:prstGeom prst="rect">
            <a:avLst/>
          </a:prstGeom>
          <a:noFill/>
          <a:ln/>
        </p:spPr>
        <p:txBody>
          <a:bodyPr wrap="square" lIns="0" tIns="0" rIns="0" bIns="0" rtlCol="0" anchor="t"/>
          <a:lstStyle/>
          <a:p>
            <a:pPr marL="342900" indent="-342900" algn="l">
              <a:lnSpc>
                <a:spcPts val="1500"/>
              </a:lnSpc>
              <a:buSzPct val="100000"/>
              <a:buChar char="•"/>
            </a:pPr>
            <a:endParaRPr lang="en-US" sz="2000" dirty="0">
              <a:solidFill>
                <a:srgbClr val="272525"/>
              </a:solidFill>
              <a:latin typeface="Inter" pitchFamily="34" charset="0"/>
              <a:ea typeface="Inter" pitchFamily="34" charset="-122"/>
              <a:cs typeface="Inter" pitchFamily="34" charset="-120"/>
            </a:endParaRPr>
          </a:p>
          <a:p>
            <a:pPr marL="342900" indent="-342900" algn="l">
              <a:lnSpc>
                <a:spcPts val="1500"/>
              </a:lnSpc>
              <a:buSzPct val="100000"/>
              <a:buChar char="•"/>
            </a:pPr>
            <a:endParaRPr lang="en-US" sz="2000" dirty="0">
              <a:solidFill>
                <a:srgbClr val="272525"/>
              </a:solidFill>
              <a:latin typeface="Inter" pitchFamily="34" charset="0"/>
              <a:ea typeface="Inter" pitchFamily="34" charset="-122"/>
              <a:cs typeface="Inter" pitchFamily="34" charset="-120"/>
            </a:endParaRPr>
          </a:p>
          <a:p>
            <a:pPr marL="342900" indent="-342900" algn="l">
              <a:lnSpc>
                <a:spcPts val="1500"/>
              </a:lnSpc>
              <a:buSzPct val="100000"/>
              <a:buChar char="•"/>
            </a:pPr>
            <a:r>
              <a:rPr lang="en-US" sz="2000" dirty="0" smtClean="0">
                <a:solidFill>
                  <a:srgbClr val="272525"/>
                </a:solidFill>
                <a:latin typeface="Inter" pitchFamily="34" charset="0"/>
                <a:ea typeface="Inter" pitchFamily="34" charset="-122"/>
                <a:cs typeface="Inter" pitchFamily="34" charset="-120"/>
              </a:rPr>
              <a:t>Limited visibility for combined loom</a:t>
            </a:r>
          </a:p>
          <a:p>
            <a:pPr marL="342900" indent="-342900" algn="l">
              <a:lnSpc>
                <a:spcPts val="1500"/>
              </a:lnSpc>
              <a:buSzPct val="100000"/>
              <a:buChar char="•"/>
            </a:pPr>
            <a:endParaRPr lang="en-US" sz="2000" dirty="0">
              <a:solidFill>
                <a:srgbClr val="272525"/>
              </a:solidFill>
              <a:latin typeface="Inter" pitchFamily="34" charset="0"/>
              <a:ea typeface="Inter" pitchFamily="34" charset="-122"/>
              <a:cs typeface="Inter" pitchFamily="34" charset="-120"/>
            </a:endParaRPr>
          </a:p>
          <a:p>
            <a:pPr algn="l">
              <a:lnSpc>
                <a:spcPts val="1500"/>
              </a:lnSpc>
              <a:buSzPct val="100000"/>
            </a:pPr>
            <a:r>
              <a:rPr lang="en-US" sz="2000" dirty="0" smtClean="0">
                <a:solidFill>
                  <a:srgbClr val="272525"/>
                </a:solidFill>
                <a:latin typeface="Inter" pitchFamily="34" charset="0"/>
                <a:ea typeface="Inter" pitchFamily="34" charset="-122"/>
                <a:cs typeface="Inter" pitchFamily="34" charset="-120"/>
              </a:rPr>
              <a:t>     production analysis.</a:t>
            </a:r>
            <a:endParaRPr lang="en-US" sz="2000" dirty="0">
              <a:solidFill>
                <a:srgbClr val="272525"/>
              </a:solidFill>
              <a:latin typeface="Inter" pitchFamily="34" charset="0"/>
              <a:ea typeface="Inter" pitchFamily="34" charset="-122"/>
              <a:cs typeface="Inter" pitchFamily="34" charset="-120"/>
            </a:endParaRPr>
          </a:p>
          <a:p>
            <a:pPr marL="342900" indent="-342900" algn="l">
              <a:lnSpc>
                <a:spcPts val="1500"/>
              </a:lnSpc>
              <a:buSzPct val="100000"/>
              <a:buChar char="•"/>
            </a:pPr>
            <a:endParaRPr lang="en-US" sz="2000" dirty="0"/>
          </a:p>
          <a:p>
            <a:pPr marL="342900" indent="-342900" algn="l">
              <a:lnSpc>
                <a:spcPts val="1500"/>
              </a:lnSpc>
              <a:buSzPct val="100000"/>
              <a:buChar char="•"/>
            </a:pPr>
            <a:r>
              <a:rPr lang="en-US" sz="2000" dirty="0" smtClean="0">
                <a:solidFill>
                  <a:srgbClr val="272525"/>
                </a:solidFill>
                <a:latin typeface="Inter" pitchFamily="34" charset="0"/>
                <a:ea typeface="Inter" pitchFamily="34" charset="-122"/>
                <a:cs typeface="Inter" pitchFamily="34" charset="-120"/>
              </a:rPr>
              <a:t>Sorting issues affecting average row stability.</a:t>
            </a:r>
            <a:endParaRPr lang="en-US" sz="2000" dirty="0">
              <a:solidFill>
                <a:srgbClr val="272525"/>
              </a:solidFill>
              <a:latin typeface="Inter" pitchFamily="34" charset="0"/>
              <a:ea typeface="Inter" pitchFamily="34" charset="-122"/>
              <a:cs typeface="Inter" pitchFamily="34" charset="-120"/>
            </a:endParaRPr>
          </a:p>
          <a:p>
            <a:pPr marL="342900" indent="-342900" algn="l">
              <a:lnSpc>
                <a:spcPts val="1500"/>
              </a:lnSpc>
              <a:buSzPct val="100000"/>
              <a:buChar char="•"/>
            </a:pPr>
            <a:endParaRPr lang="en-US" sz="2000" dirty="0"/>
          </a:p>
          <a:p>
            <a:pPr marL="342900" indent="-342900" algn="l">
              <a:lnSpc>
                <a:spcPts val="1500"/>
              </a:lnSpc>
              <a:buSzPct val="100000"/>
              <a:buChar char="•"/>
            </a:pPr>
            <a:r>
              <a:rPr lang="en-US" sz="2000" dirty="0" smtClean="0">
                <a:solidFill>
                  <a:srgbClr val="272525"/>
                </a:solidFill>
                <a:latin typeface="Inter" pitchFamily="34" charset="0"/>
                <a:ea typeface="Inter" pitchFamily="34" charset="-122"/>
                <a:cs typeface="Inter" pitchFamily="34" charset="-120"/>
              </a:rPr>
              <a:t>Difficulty in tracking efficiency across  </a:t>
            </a:r>
          </a:p>
          <a:p>
            <a:pPr algn="l">
              <a:lnSpc>
                <a:spcPts val="1500"/>
              </a:lnSpc>
              <a:buSzPct val="100000"/>
            </a:pPr>
            <a:r>
              <a:rPr lang="en-US" sz="2000" dirty="0" smtClean="0">
                <a:solidFill>
                  <a:srgbClr val="272525"/>
                </a:solidFill>
                <a:latin typeface="Inter" pitchFamily="34" charset="0"/>
                <a:ea typeface="Inter" pitchFamily="34" charset="-122"/>
                <a:cs typeface="Inter" pitchFamily="34" charset="-120"/>
              </a:rPr>
              <a:t> </a:t>
            </a:r>
          </a:p>
          <a:p>
            <a:pPr algn="l">
              <a:lnSpc>
                <a:spcPts val="1500"/>
              </a:lnSpc>
              <a:buSzPct val="100000"/>
            </a:pPr>
            <a:r>
              <a:rPr lang="en-US" sz="2000" dirty="0">
                <a:solidFill>
                  <a:srgbClr val="272525"/>
                </a:solidFill>
                <a:latin typeface="Inter" pitchFamily="34" charset="0"/>
                <a:ea typeface="Inter" pitchFamily="34" charset="-122"/>
                <a:cs typeface="Inter" pitchFamily="34" charset="-120"/>
              </a:rPr>
              <a:t> </a:t>
            </a:r>
            <a:r>
              <a:rPr lang="en-US" sz="2000" dirty="0" smtClean="0">
                <a:solidFill>
                  <a:srgbClr val="272525"/>
                </a:solidFill>
                <a:latin typeface="Inter" pitchFamily="34" charset="0"/>
                <a:ea typeface="Inter" pitchFamily="34" charset="-122"/>
                <a:cs typeface="Inter" pitchFamily="34" charset="-120"/>
              </a:rPr>
              <a:t>    multiple filters.</a:t>
            </a:r>
            <a:endParaRPr lang="en-US" sz="2000" dirty="0">
              <a:solidFill>
                <a:srgbClr val="272525"/>
              </a:solidFill>
              <a:latin typeface="Inter" pitchFamily="34" charset="0"/>
              <a:ea typeface="Inter" pitchFamily="34" charset="-122"/>
              <a:cs typeface="Inter" pitchFamily="34" charset="-120"/>
            </a:endParaRPr>
          </a:p>
          <a:p>
            <a:pPr marL="342900" indent="-342900" algn="l">
              <a:lnSpc>
                <a:spcPts val="1500"/>
              </a:lnSpc>
              <a:buSzPct val="100000"/>
              <a:buChar char="•"/>
            </a:pPr>
            <a:endParaRPr lang="en-US" sz="2000" dirty="0"/>
          </a:p>
          <a:p>
            <a:pPr marL="342900" indent="-342900" algn="l">
              <a:lnSpc>
                <a:spcPts val="1500"/>
              </a:lnSpc>
              <a:buSzPct val="100000"/>
              <a:buChar char="•"/>
            </a:pPr>
            <a:r>
              <a:rPr lang="en-US" sz="2000" dirty="0" smtClean="0">
                <a:solidFill>
                  <a:srgbClr val="272525"/>
                </a:solidFill>
                <a:latin typeface="Inter" pitchFamily="34" charset="0"/>
                <a:ea typeface="Inter" pitchFamily="34" charset="-122"/>
                <a:cs typeface="Inter" pitchFamily="34" charset="-120"/>
              </a:rPr>
              <a:t>Need for better production comparison by </a:t>
            </a:r>
          </a:p>
          <a:p>
            <a:pPr marL="342900" indent="-342900" algn="l">
              <a:lnSpc>
                <a:spcPts val="1500"/>
              </a:lnSpc>
              <a:buSzPct val="100000"/>
              <a:buChar char="•"/>
            </a:pPr>
            <a:endParaRPr lang="en-US" sz="2000" dirty="0">
              <a:solidFill>
                <a:srgbClr val="272525"/>
              </a:solidFill>
              <a:latin typeface="Inter" pitchFamily="34" charset="0"/>
              <a:ea typeface="Inter" pitchFamily="34" charset="-122"/>
              <a:cs typeface="Inter" pitchFamily="34" charset="-120"/>
            </a:endParaRPr>
          </a:p>
          <a:p>
            <a:pPr algn="l">
              <a:lnSpc>
                <a:spcPts val="1500"/>
              </a:lnSpc>
              <a:buSzPct val="100000"/>
            </a:pPr>
            <a:r>
              <a:rPr lang="en-US" sz="2000" dirty="0" smtClean="0">
                <a:solidFill>
                  <a:srgbClr val="272525"/>
                </a:solidFill>
                <a:latin typeface="Inter" pitchFamily="34" charset="0"/>
                <a:ea typeface="Inter" pitchFamily="34" charset="-122"/>
                <a:cs typeface="Inter" pitchFamily="34" charset="-120"/>
              </a:rPr>
              <a:t>     allocating targets.</a:t>
            </a:r>
            <a:endParaRPr lang="en-US" sz="2000" dirty="0">
              <a:solidFill>
                <a:srgbClr val="272525"/>
              </a:solidFill>
              <a:latin typeface="Inter" pitchFamily="34" charset="0"/>
              <a:ea typeface="Inter" pitchFamily="34" charset="-122"/>
              <a:cs typeface="Inter" pitchFamily="34" charset="-120"/>
            </a:endParaRPr>
          </a:p>
          <a:p>
            <a:pPr marL="342900" indent="-342900" algn="l">
              <a:lnSpc>
                <a:spcPts val="1500"/>
              </a:lnSpc>
              <a:buSzPct val="100000"/>
              <a:buChar char="•"/>
            </a:pPr>
            <a:endParaRPr lang="en-US" sz="2000" dirty="0"/>
          </a:p>
          <a:p>
            <a:pPr marL="342900" indent="-342900" algn="l">
              <a:lnSpc>
                <a:spcPts val="1500"/>
              </a:lnSpc>
              <a:buSzPct val="100000"/>
              <a:buChar char="•"/>
            </a:pPr>
            <a:r>
              <a:rPr lang="en-US" sz="2000" dirty="0" smtClean="0">
                <a:solidFill>
                  <a:srgbClr val="272525"/>
                </a:solidFill>
                <a:latin typeface="Inter" pitchFamily="34" charset="0"/>
                <a:ea typeface="Inter" pitchFamily="34" charset="-122"/>
                <a:cs typeface="Inter" pitchFamily="34" charset="-120"/>
              </a:rPr>
              <a:t>No proper data logic was defined being </a:t>
            </a:r>
          </a:p>
          <a:p>
            <a:pPr algn="l">
              <a:lnSpc>
                <a:spcPts val="1500"/>
              </a:lnSpc>
              <a:buSzPct val="100000"/>
            </a:pPr>
            <a:endParaRPr lang="en-US" sz="2000" dirty="0" smtClean="0">
              <a:solidFill>
                <a:srgbClr val="272525"/>
              </a:solidFill>
              <a:latin typeface="Inter" pitchFamily="34" charset="0"/>
              <a:ea typeface="Inter" pitchFamily="34" charset="-122"/>
              <a:cs typeface="Inter" pitchFamily="34" charset="-120"/>
            </a:endParaRPr>
          </a:p>
          <a:p>
            <a:pPr algn="l">
              <a:lnSpc>
                <a:spcPts val="1500"/>
              </a:lnSpc>
              <a:buSzPct val="100000"/>
            </a:pPr>
            <a:r>
              <a:rPr lang="en-US" sz="2000" dirty="0">
                <a:solidFill>
                  <a:srgbClr val="272525"/>
                </a:solidFill>
                <a:latin typeface="Inter" pitchFamily="34" charset="0"/>
                <a:ea typeface="Inter" pitchFamily="34" charset="-122"/>
                <a:cs typeface="Inter" pitchFamily="34" charset="-120"/>
              </a:rPr>
              <a:t> </a:t>
            </a:r>
            <a:r>
              <a:rPr lang="en-US" sz="2000" dirty="0" smtClean="0">
                <a:solidFill>
                  <a:srgbClr val="272525"/>
                </a:solidFill>
                <a:latin typeface="Inter" pitchFamily="34" charset="0"/>
                <a:ea typeface="Inter" pitchFamily="34" charset="-122"/>
                <a:cs typeface="Inter" pitchFamily="34" charset="-120"/>
              </a:rPr>
              <a:t>    displayed.</a:t>
            </a:r>
            <a:endParaRPr lang="en-US" sz="2000" dirty="0"/>
          </a:p>
        </p:txBody>
      </p:sp>
      <p:sp>
        <p:nvSpPr>
          <p:cNvPr id="11" name="Shape 8"/>
          <p:cNvSpPr/>
          <p:nvPr/>
        </p:nvSpPr>
        <p:spPr>
          <a:xfrm>
            <a:off x="7542371" y="3632299"/>
            <a:ext cx="5863154" cy="4421226"/>
          </a:xfrm>
          <a:prstGeom prst="roundRect">
            <a:avLst>
              <a:gd name="adj" fmla="val 4102"/>
            </a:avLst>
          </a:prstGeom>
          <a:solidFill>
            <a:srgbClr val="E0F7FA">
              <a:alpha val="95000"/>
            </a:srgbClr>
          </a:solidFill>
          <a:ln/>
        </p:spPr>
        <p:txBody>
          <a:bodyPr/>
          <a:lstStyle/>
          <a:p>
            <a:r>
              <a:rPr lang="en-US" sz="4000" b="1" dirty="0">
                <a:solidFill>
                  <a:srgbClr val="000000"/>
                </a:solidFill>
                <a:latin typeface="Petrona Bold" pitchFamily="34" charset="0"/>
                <a:ea typeface="Petrona Bold" pitchFamily="34" charset="-122"/>
                <a:cs typeface="Petrona Bold" pitchFamily="34" charset="-120"/>
              </a:rPr>
              <a:t>  Project Objectives</a:t>
            </a:r>
            <a:endParaRPr lang="en-US" sz="4000" dirty="0"/>
          </a:p>
          <a:p>
            <a:endParaRPr lang="en-IN" dirty="0"/>
          </a:p>
        </p:txBody>
      </p:sp>
      <p:sp>
        <p:nvSpPr>
          <p:cNvPr id="12" name="Text 9"/>
          <p:cNvSpPr/>
          <p:nvPr/>
        </p:nvSpPr>
        <p:spPr>
          <a:xfrm>
            <a:off x="7542371" y="4105394"/>
            <a:ext cx="2307550" cy="288369"/>
          </a:xfrm>
          <a:prstGeom prst="rect">
            <a:avLst/>
          </a:prstGeom>
          <a:noFill/>
          <a:ln/>
        </p:spPr>
        <p:txBody>
          <a:bodyPr wrap="none" lIns="0" tIns="0" rIns="0" bIns="0" rtlCol="0" anchor="t"/>
          <a:lstStyle/>
          <a:p>
            <a:pPr marL="0" indent="0" algn="l">
              <a:lnSpc>
                <a:spcPts val="2250"/>
              </a:lnSpc>
              <a:buNone/>
            </a:pPr>
            <a:endParaRPr lang="en-US" sz="3600" dirty="0"/>
          </a:p>
        </p:txBody>
      </p:sp>
      <p:sp>
        <p:nvSpPr>
          <p:cNvPr id="13" name="Text 10"/>
          <p:cNvSpPr/>
          <p:nvPr/>
        </p:nvSpPr>
        <p:spPr>
          <a:xfrm>
            <a:off x="7542370" y="3858322"/>
            <a:ext cx="5564029" cy="3837878"/>
          </a:xfrm>
          <a:prstGeom prst="rect">
            <a:avLst/>
          </a:prstGeom>
          <a:noFill/>
          <a:ln/>
        </p:spPr>
        <p:txBody>
          <a:bodyPr wrap="square" lIns="0" tIns="0" rIns="0" bIns="0" rtlCol="0" anchor="t"/>
          <a:lstStyle/>
          <a:p>
            <a:pPr marL="342900" indent="-342900" algn="l">
              <a:lnSpc>
                <a:spcPts val="1500"/>
              </a:lnSpc>
              <a:buSzPct val="100000"/>
              <a:buChar char="•"/>
            </a:pPr>
            <a:endParaRPr lang="en-US" sz="2000" dirty="0">
              <a:solidFill>
                <a:srgbClr val="272525"/>
              </a:solidFill>
              <a:latin typeface="Inter" pitchFamily="34" charset="0"/>
              <a:ea typeface="Inter" pitchFamily="34" charset="-122"/>
              <a:cs typeface="Inter" pitchFamily="34" charset="-120"/>
            </a:endParaRPr>
          </a:p>
          <a:p>
            <a:pPr marL="342900" indent="-342900" algn="l">
              <a:lnSpc>
                <a:spcPts val="1500"/>
              </a:lnSpc>
              <a:buSzPct val="100000"/>
              <a:buChar char="•"/>
            </a:pPr>
            <a:endParaRPr lang="en-US" sz="2000" dirty="0">
              <a:solidFill>
                <a:srgbClr val="272525"/>
              </a:solidFill>
              <a:latin typeface="Inter" pitchFamily="34" charset="0"/>
              <a:ea typeface="Inter" pitchFamily="34" charset="-122"/>
              <a:cs typeface="Inter" pitchFamily="34" charset="-120"/>
            </a:endParaRPr>
          </a:p>
          <a:p>
            <a:pPr marL="342900" indent="-342900" algn="l">
              <a:lnSpc>
                <a:spcPts val="1500"/>
              </a:lnSpc>
              <a:buSzPct val="100000"/>
              <a:buChar char="•"/>
            </a:pPr>
            <a:endParaRPr lang="en-US" sz="2000" dirty="0" smtClean="0">
              <a:solidFill>
                <a:srgbClr val="272525"/>
              </a:solidFill>
              <a:latin typeface="Inter" pitchFamily="34" charset="0"/>
              <a:ea typeface="Inter" pitchFamily="34" charset="-122"/>
              <a:cs typeface="Inter" pitchFamily="34" charset="-120"/>
            </a:endParaRPr>
          </a:p>
          <a:p>
            <a:pPr marL="342900" indent="-342900" algn="l">
              <a:lnSpc>
                <a:spcPts val="1500"/>
              </a:lnSpc>
              <a:buSzPct val="100000"/>
              <a:buChar char="•"/>
            </a:pPr>
            <a:endParaRPr lang="en-US" sz="2000" dirty="0">
              <a:solidFill>
                <a:srgbClr val="272525"/>
              </a:solidFill>
              <a:latin typeface="Inter" pitchFamily="34" charset="0"/>
              <a:ea typeface="Inter" pitchFamily="34" charset="-122"/>
              <a:cs typeface="Inter" pitchFamily="34" charset="-120"/>
            </a:endParaRPr>
          </a:p>
          <a:p>
            <a:pPr marL="342900" indent="-342900" algn="l">
              <a:lnSpc>
                <a:spcPts val="1500"/>
              </a:lnSpc>
              <a:buSzPct val="100000"/>
              <a:buChar char="•"/>
            </a:pPr>
            <a:r>
              <a:rPr lang="en-US" sz="2000" dirty="0" smtClean="0">
                <a:solidFill>
                  <a:srgbClr val="272525"/>
                </a:solidFill>
                <a:latin typeface="Inter" pitchFamily="34" charset="0"/>
                <a:ea typeface="Inter" pitchFamily="34" charset="-122"/>
                <a:cs typeface="Inter" pitchFamily="34" charset="-120"/>
              </a:rPr>
              <a:t>Improve daily production monitoring</a:t>
            </a:r>
            <a:endParaRPr lang="en-US" sz="2000" dirty="0">
              <a:solidFill>
                <a:srgbClr val="272525"/>
              </a:solidFill>
              <a:latin typeface="Inter" pitchFamily="34" charset="0"/>
              <a:ea typeface="Inter" pitchFamily="34" charset="-122"/>
              <a:cs typeface="Inter" pitchFamily="34" charset="-120"/>
            </a:endParaRPr>
          </a:p>
          <a:p>
            <a:pPr marL="342900" indent="-342900" algn="l">
              <a:lnSpc>
                <a:spcPts val="1500"/>
              </a:lnSpc>
              <a:buSzPct val="100000"/>
              <a:buChar char="•"/>
            </a:pPr>
            <a:endParaRPr lang="en-US" sz="2000" dirty="0"/>
          </a:p>
          <a:p>
            <a:pPr marL="342900" indent="-342900" algn="l">
              <a:lnSpc>
                <a:spcPts val="1500"/>
              </a:lnSpc>
              <a:buSzPct val="100000"/>
              <a:buChar char="•"/>
            </a:pPr>
            <a:r>
              <a:rPr lang="en-US" sz="2000" dirty="0" smtClean="0">
                <a:solidFill>
                  <a:srgbClr val="272525"/>
                </a:solidFill>
                <a:latin typeface="Inter" pitchFamily="34" charset="0"/>
                <a:ea typeface="Inter" pitchFamily="34" charset="-122"/>
                <a:cs typeface="Inter" pitchFamily="34" charset="-120"/>
              </a:rPr>
              <a:t>Enhanced dashboard visibility and   </a:t>
            </a:r>
          </a:p>
          <a:p>
            <a:pPr marL="342900" indent="-342900" algn="l">
              <a:lnSpc>
                <a:spcPts val="1500"/>
              </a:lnSpc>
              <a:buSzPct val="100000"/>
              <a:buChar char="•"/>
            </a:pPr>
            <a:endParaRPr lang="en-US" sz="2000" dirty="0">
              <a:solidFill>
                <a:srgbClr val="272525"/>
              </a:solidFill>
              <a:latin typeface="Inter" pitchFamily="34" charset="0"/>
              <a:ea typeface="Inter" pitchFamily="34" charset="-122"/>
              <a:cs typeface="Inter" pitchFamily="34" charset="-120"/>
            </a:endParaRPr>
          </a:p>
          <a:p>
            <a:pPr algn="l">
              <a:lnSpc>
                <a:spcPts val="1500"/>
              </a:lnSpc>
              <a:buSzPct val="100000"/>
            </a:pPr>
            <a:r>
              <a:rPr lang="en-US" sz="2000" dirty="0">
                <a:solidFill>
                  <a:srgbClr val="272525"/>
                </a:solidFill>
                <a:latin typeface="Inter" pitchFamily="34" charset="0"/>
                <a:ea typeface="Inter" pitchFamily="34" charset="-122"/>
                <a:cs typeface="Inter" pitchFamily="34" charset="-120"/>
              </a:rPr>
              <a:t> </a:t>
            </a:r>
            <a:r>
              <a:rPr lang="en-US" sz="2000" dirty="0" smtClean="0">
                <a:solidFill>
                  <a:srgbClr val="272525"/>
                </a:solidFill>
                <a:latin typeface="Inter" pitchFamily="34" charset="0"/>
                <a:ea typeface="Inter" pitchFamily="34" charset="-122"/>
                <a:cs typeface="Inter" pitchFamily="34" charset="-120"/>
              </a:rPr>
              <a:t>    reporting</a:t>
            </a:r>
            <a:endParaRPr lang="en-US" sz="2000" dirty="0">
              <a:solidFill>
                <a:srgbClr val="272525"/>
              </a:solidFill>
              <a:latin typeface="Inter" pitchFamily="34" charset="0"/>
              <a:ea typeface="Inter" pitchFamily="34" charset="-122"/>
              <a:cs typeface="Inter" pitchFamily="34" charset="-120"/>
            </a:endParaRPr>
          </a:p>
          <a:p>
            <a:pPr marL="342900" indent="-342900" algn="l">
              <a:lnSpc>
                <a:spcPts val="1500"/>
              </a:lnSpc>
              <a:buSzPct val="100000"/>
              <a:buChar char="•"/>
            </a:pPr>
            <a:endParaRPr lang="en-US" sz="2000" dirty="0"/>
          </a:p>
          <a:p>
            <a:pPr marL="342900" indent="-342900" algn="l">
              <a:lnSpc>
                <a:spcPts val="1500"/>
              </a:lnSpc>
              <a:buSzPct val="100000"/>
              <a:buChar char="•"/>
            </a:pPr>
            <a:r>
              <a:rPr lang="en-US" sz="2000" dirty="0" smtClean="0">
                <a:solidFill>
                  <a:srgbClr val="272525"/>
                </a:solidFill>
                <a:latin typeface="Inter" pitchFamily="34" charset="0"/>
                <a:ea typeface="Inter" pitchFamily="34" charset="-122"/>
                <a:cs typeface="Inter" pitchFamily="34" charset="-120"/>
              </a:rPr>
              <a:t>Better filtering and sorting functionality</a:t>
            </a:r>
            <a:endParaRPr lang="en-US" sz="2000" dirty="0">
              <a:solidFill>
                <a:srgbClr val="272525"/>
              </a:solidFill>
              <a:latin typeface="Inter" pitchFamily="34" charset="0"/>
              <a:ea typeface="Inter" pitchFamily="34" charset="-122"/>
              <a:cs typeface="Inter" pitchFamily="34" charset="-120"/>
            </a:endParaRPr>
          </a:p>
          <a:p>
            <a:pPr marL="342900" indent="-342900" algn="l">
              <a:lnSpc>
                <a:spcPts val="1500"/>
              </a:lnSpc>
              <a:buSzPct val="100000"/>
              <a:buChar char="•"/>
            </a:pPr>
            <a:endParaRPr lang="en-US" sz="2000" dirty="0"/>
          </a:p>
          <a:p>
            <a:pPr marL="342900" indent="-342900" algn="l">
              <a:lnSpc>
                <a:spcPts val="1500"/>
              </a:lnSpc>
              <a:buSzPct val="100000"/>
              <a:buChar char="•"/>
            </a:pPr>
            <a:r>
              <a:rPr lang="en-US" sz="2000" dirty="0" smtClean="0">
                <a:solidFill>
                  <a:srgbClr val="272525"/>
                </a:solidFill>
                <a:latin typeface="Inter" pitchFamily="34" charset="0"/>
                <a:ea typeface="Inter" pitchFamily="34" charset="-122"/>
                <a:cs typeface="Inter" pitchFamily="34" charset="-120"/>
              </a:rPr>
              <a:t>Creation of separate Towel tile</a:t>
            </a:r>
            <a:endParaRPr lang="en-US" sz="2000" dirty="0">
              <a:solidFill>
                <a:srgbClr val="272525"/>
              </a:solidFill>
              <a:latin typeface="Inter" pitchFamily="34" charset="0"/>
              <a:ea typeface="Inter" pitchFamily="34" charset="-122"/>
              <a:cs typeface="Inter" pitchFamily="34" charset="-120"/>
            </a:endParaRPr>
          </a:p>
          <a:p>
            <a:pPr marL="342900" indent="-342900" algn="l">
              <a:lnSpc>
                <a:spcPts val="1500"/>
              </a:lnSpc>
              <a:buSzPct val="100000"/>
              <a:buChar char="•"/>
            </a:pPr>
            <a:endParaRPr lang="en-US" sz="2000" dirty="0"/>
          </a:p>
          <a:p>
            <a:pPr marL="342900" indent="-342900" algn="l">
              <a:lnSpc>
                <a:spcPts val="1500"/>
              </a:lnSpc>
              <a:buSzPct val="100000"/>
              <a:buChar char="•"/>
            </a:pPr>
            <a:r>
              <a:rPr lang="en-US" sz="2000" dirty="0" smtClean="0">
                <a:solidFill>
                  <a:srgbClr val="272525"/>
                </a:solidFill>
                <a:latin typeface="Inter" pitchFamily="34" charset="0"/>
                <a:ea typeface="Inter" pitchFamily="34" charset="-122"/>
                <a:cs typeface="Inter" pitchFamily="34" charset="-120"/>
              </a:rPr>
              <a:t>Reduced Manual effort</a:t>
            </a:r>
            <a:endParaRPr lang="en-US" sz="2000" dirty="0">
              <a:solidFill>
                <a:srgbClr val="272525"/>
              </a:solidFill>
              <a:latin typeface="Inter" pitchFamily="34" charset="0"/>
              <a:ea typeface="Inter" pitchFamily="34" charset="-122"/>
              <a:cs typeface="Inter" pitchFamily="34" charset="-120"/>
            </a:endParaRPr>
          </a:p>
          <a:p>
            <a:pPr marL="342900" indent="-342900" algn="l">
              <a:lnSpc>
                <a:spcPts val="1500"/>
              </a:lnSpc>
              <a:buSzPct val="100000"/>
              <a:buChar char="•"/>
            </a:pPr>
            <a:endParaRPr lang="en-US" sz="2000" dirty="0"/>
          </a:p>
          <a:p>
            <a:pPr marL="342900" indent="-342900" algn="l">
              <a:lnSpc>
                <a:spcPts val="1500"/>
              </a:lnSpc>
              <a:buSzPct val="100000"/>
              <a:buChar char="•"/>
            </a:pPr>
            <a:r>
              <a:rPr lang="en-US" sz="2000" dirty="0" smtClean="0">
                <a:solidFill>
                  <a:srgbClr val="272525"/>
                </a:solidFill>
                <a:latin typeface="Inter" pitchFamily="34" charset="0"/>
                <a:ea typeface="Inter" pitchFamily="34" charset="-122"/>
              </a:rPr>
              <a:t>Support faster and better business</a:t>
            </a:r>
          </a:p>
          <a:p>
            <a:pPr algn="l">
              <a:lnSpc>
                <a:spcPts val="1500"/>
              </a:lnSpc>
              <a:buSzPct val="100000"/>
            </a:pPr>
            <a:r>
              <a:rPr lang="en-US" sz="2000" dirty="0" smtClean="0">
                <a:solidFill>
                  <a:srgbClr val="272525"/>
                </a:solidFill>
                <a:latin typeface="Inter" pitchFamily="34" charset="0"/>
                <a:ea typeface="Inter" pitchFamily="34" charset="-122"/>
              </a:rPr>
              <a:t> </a:t>
            </a:r>
          </a:p>
          <a:p>
            <a:pPr algn="l">
              <a:lnSpc>
                <a:spcPts val="1500"/>
              </a:lnSpc>
              <a:buSzPct val="100000"/>
            </a:pPr>
            <a:r>
              <a:rPr lang="en-US" sz="2000" dirty="0">
                <a:solidFill>
                  <a:srgbClr val="272525"/>
                </a:solidFill>
                <a:latin typeface="Inter" pitchFamily="34" charset="0"/>
                <a:ea typeface="Inter" pitchFamily="34" charset="-122"/>
              </a:rPr>
              <a:t> </a:t>
            </a:r>
            <a:r>
              <a:rPr lang="en-US" sz="2000" dirty="0" smtClean="0">
                <a:solidFill>
                  <a:srgbClr val="272525"/>
                </a:solidFill>
                <a:latin typeface="Inter" pitchFamily="34" charset="0"/>
                <a:ea typeface="Inter" pitchFamily="34" charset="-122"/>
              </a:rPr>
              <a:t>    decisions</a:t>
            </a:r>
            <a:endParaRPr lang="en-US" sz="2000" dirty="0"/>
          </a:p>
        </p:txBody>
      </p:sp>
      <p:pic>
        <p:nvPicPr>
          <p:cNvPr id="14" name="Picture 13"/>
          <p:cNvPicPr>
            <a:picLocks noChangeAspect="1"/>
          </p:cNvPicPr>
          <p:nvPr/>
        </p:nvPicPr>
        <p:blipFill rotWithShape="1">
          <a:blip r:embed="rId3" cstate="print">
            <a:extLst>
              <a:ext uri="{28A0092B-C50C-407E-A947-70E740481C1C}">
                <a14:useLocalDpi xmlns:a14="http://schemas.microsoft.com/office/drawing/2010/main" val="0"/>
              </a:ext>
            </a:extLst>
          </a:blip>
          <a:srcRect b="40404"/>
          <a:stretch/>
        </p:blipFill>
        <p:spPr>
          <a:xfrm>
            <a:off x="11729551" y="-192282"/>
            <a:ext cx="3255264" cy="982820"/>
          </a:xfrm>
          <a:prstGeom prst="rect">
            <a:avLst/>
          </a:prstGeom>
        </p:spPr>
      </p:pic>
      <p:sp>
        <p:nvSpPr>
          <p:cNvPr id="15" name="Freeform 14">
            <a:extLst>
              <a:ext uri="{FF2B5EF4-FFF2-40B4-BE49-F238E27FC236}">
                <a16:creationId xmlns="" xmlns:a16="http://schemas.microsoft.com/office/drawing/2014/main" id="{D26F4A47-9C92-41C8-B9AA-0DCABA043242}"/>
              </a:ext>
            </a:extLst>
          </p:cNvPr>
          <p:cNvSpPr>
            <a:spLocks/>
          </p:cNvSpPr>
          <p:nvPr/>
        </p:nvSpPr>
        <p:spPr bwMode="auto">
          <a:xfrm>
            <a:off x="0" y="1"/>
            <a:ext cx="3166278" cy="1183398"/>
          </a:xfrm>
          <a:custGeom>
            <a:avLst/>
            <a:gdLst>
              <a:gd name="T0" fmla="*/ 249 w 1501"/>
              <a:gd name="T1" fmla="*/ 561 h 561"/>
              <a:gd name="T2" fmla="*/ 1501 w 1501"/>
              <a:gd name="T3" fmla="*/ 6 h 561"/>
              <a:gd name="T4" fmla="*/ 1499 w 1501"/>
              <a:gd name="T5" fmla="*/ 0 h 561"/>
              <a:gd name="T6" fmla="*/ 0 w 1501"/>
              <a:gd name="T7" fmla="*/ 0 h 561"/>
              <a:gd name="T8" fmla="*/ 249 w 1501"/>
              <a:gd name="T9" fmla="*/ 561 h 561"/>
            </a:gdLst>
            <a:ahLst/>
            <a:cxnLst>
              <a:cxn ang="0">
                <a:pos x="T0" y="T1"/>
              </a:cxn>
              <a:cxn ang="0">
                <a:pos x="T2" y="T3"/>
              </a:cxn>
              <a:cxn ang="0">
                <a:pos x="T4" y="T5"/>
              </a:cxn>
              <a:cxn ang="0">
                <a:pos x="T6" y="T7"/>
              </a:cxn>
              <a:cxn ang="0">
                <a:pos x="T8" y="T9"/>
              </a:cxn>
            </a:cxnLst>
            <a:rect l="0" t="0" r="r" b="b"/>
            <a:pathLst>
              <a:path w="1501" h="561">
                <a:moveTo>
                  <a:pt x="249" y="561"/>
                </a:moveTo>
                <a:lnTo>
                  <a:pt x="1501" y="6"/>
                </a:lnTo>
                <a:lnTo>
                  <a:pt x="1499" y="0"/>
                </a:lnTo>
                <a:lnTo>
                  <a:pt x="0" y="0"/>
                </a:lnTo>
                <a:lnTo>
                  <a:pt x="249" y="561"/>
                </a:lnTo>
                <a:close/>
              </a:path>
            </a:pathLst>
          </a:custGeom>
          <a:solidFill>
            <a:srgbClr val="FDB913"/>
          </a:solidFill>
          <a:ln>
            <a:noFill/>
          </a:ln>
          <a:effectLst>
            <a:outerShdw blurRad="431800" dist="50800" dir="5400000" algn="ctr" rotWithShape="0">
              <a:srgbClr val="000000">
                <a:alpha val="25000"/>
              </a:srgbClr>
            </a:outerShdw>
          </a:effectLst>
        </p:spPr>
        <p:txBody>
          <a:bodyPr vert="horz" wrap="square" lIns="68580" tIns="34290" rIns="68580" bIns="34290" numCol="1" anchor="t" anchorCtr="0" compatLnSpc="1">
            <a:prstTxWarp prst="textNoShape">
              <a:avLst/>
            </a:prstTxWarp>
          </a:bodyPr>
          <a:lstStyle/>
          <a:p>
            <a:endParaRPr lang="en-ID" sz="1350"/>
          </a:p>
        </p:txBody>
      </p:sp>
      <p:sp>
        <p:nvSpPr>
          <p:cNvPr id="2" name="Rectangle 1"/>
          <p:cNvSpPr/>
          <p:nvPr/>
        </p:nvSpPr>
        <p:spPr>
          <a:xfrm>
            <a:off x="12801600" y="7562850"/>
            <a:ext cx="1676400" cy="533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Freeform 15">
            <a:extLst>
              <a:ext uri="{FF2B5EF4-FFF2-40B4-BE49-F238E27FC236}">
                <a16:creationId xmlns:a16="http://schemas.microsoft.com/office/drawing/2014/main" xmlns="" id="{EF13015C-E884-4625-9DF9-3D67995D337B}"/>
              </a:ext>
            </a:extLst>
          </p:cNvPr>
          <p:cNvSpPr>
            <a:spLocks/>
          </p:cNvSpPr>
          <p:nvPr/>
        </p:nvSpPr>
        <p:spPr bwMode="auto">
          <a:xfrm>
            <a:off x="11084391" y="6281399"/>
            <a:ext cx="3546009" cy="1948201"/>
          </a:xfrm>
          <a:custGeom>
            <a:avLst/>
            <a:gdLst>
              <a:gd name="T0" fmla="*/ 1685 w 2016"/>
              <a:gd name="T1" fmla="*/ 0 h 744"/>
              <a:gd name="T2" fmla="*/ 0 w 2016"/>
              <a:gd name="T3" fmla="*/ 744 h 744"/>
              <a:gd name="T4" fmla="*/ 2016 w 2016"/>
              <a:gd name="T5" fmla="*/ 744 h 744"/>
              <a:gd name="T6" fmla="*/ 1685 w 2016"/>
              <a:gd name="T7" fmla="*/ 0 h 744"/>
            </a:gdLst>
            <a:ahLst/>
            <a:cxnLst>
              <a:cxn ang="0">
                <a:pos x="T0" y="T1"/>
              </a:cxn>
              <a:cxn ang="0">
                <a:pos x="T2" y="T3"/>
              </a:cxn>
              <a:cxn ang="0">
                <a:pos x="T4" y="T5"/>
              </a:cxn>
              <a:cxn ang="0">
                <a:pos x="T6" y="T7"/>
              </a:cxn>
            </a:cxnLst>
            <a:rect l="0" t="0" r="r" b="b"/>
            <a:pathLst>
              <a:path w="2016" h="744">
                <a:moveTo>
                  <a:pt x="1685" y="0"/>
                </a:moveTo>
                <a:lnTo>
                  <a:pt x="0" y="744"/>
                </a:lnTo>
                <a:lnTo>
                  <a:pt x="2016" y="744"/>
                </a:lnTo>
                <a:lnTo>
                  <a:pt x="1685" y="0"/>
                </a:lnTo>
                <a:close/>
              </a:path>
            </a:pathLst>
          </a:custGeom>
          <a:solidFill>
            <a:srgbClr val="FDB913"/>
          </a:solidFill>
          <a:ln>
            <a:noFill/>
          </a:ln>
          <a:effectLst>
            <a:outerShdw blurRad="431800" dist="50800" dir="5400000" algn="ctr" rotWithShape="0">
              <a:srgbClr val="000000">
                <a:alpha val="25000"/>
              </a:srgbClr>
            </a:outerShdw>
          </a:effectLst>
        </p:spPr>
        <p:txBody>
          <a:bodyPr vert="horz" wrap="square" lIns="68580" tIns="34290" rIns="68580" bIns="34290" numCol="1" anchor="t" anchorCtr="0" compatLnSpc="1">
            <a:prstTxWarp prst="textNoShape">
              <a:avLst/>
            </a:prstTxWarp>
          </a:bodyPr>
          <a:lstStyle/>
          <a:p>
            <a:endParaRPr lang="en-ID" sz="1350"/>
          </a:p>
        </p:txBody>
      </p:sp>
      <p:pic>
        <p:nvPicPr>
          <p:cNvPr id="17" name="Picture 16">
            <a:extLst>
              <a:ext uri="{FF2B5EF4-FFF2-40B4-BE49-F238E27FC236}">
                <a16:creationId xmlns:a16="http://schemas.microsoft.com/office/drawing/2014/main" xmlns="" id="{49C7B44A-AD34-9D58-6374-8F3854056B3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55012" y="52724"/>
            <a:ext cx="3204766" cy="49280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accel="40000" decel="4000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1000" fill="hold"/>
                                        <p:tgtEl>
                                          <p:spTgt spid="15"/>
                                        </p:tgtEl>
                                        <p:attrNameLst>
                                          <p:attrName>ppt_x</p:attrName>
                                        </p:attrNameLst>
                                      </p:cBhvr>
                                      <p:tavLst>
                                        <p:tav tm="0">
                                          <p:val>
                                            <p:strVal val="#ppt_x"/>
                                          </p:val>
                                        </p:tav>
                                        <p:tav tm="100000">
                                          <p:val>
                                            <p:strVal val="#ppt_x"/>
                                          </p:val>
                                        </p:tav>
                                      </p:tavLst>
                                    </p:anim>
                                    <p:anim calcmode="lin" valueType="num">
                                      <p:cBhvr additive="base">
                                        <p:cTn id="8" dur="1000" fill="hold"/>
                                        <p:tgtEl>
                                          <p:spTgt spid="15"/>
                                        </p:tgtEl>
                                        <p:attrNameLst>
                                          <p:attrName>ppt_y</p:attrName>
                                        </p:attrNameLst>
                                      </p:cBhvr>
                                      <p:tavLst>
                                        <p:tav tm="0">
                                          <p:val>
                                            <p:strVal val="0-#ppt_h/2"/>
                                          </p:val>
                                        </p:tav>
                                        <p:tav tm="100000">
                                          <p:val>
                                            <p:strVal val="#ppt_y"/>
                                          </p:val>
                                        </p:tav>
                                      </p:tavLst>
                                    </p:anim>
                                  </p:childTnLst>
                                </p:cTn>
                              </p:par>
                              <p:par>
                                <p:cTn id="9" presetID="2" presetClass="entr" presetSubtype="4" accel="40000" decel="4000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1000" fill="hold"/>
                                        <p:tgtEl>
                                          <p:spTgt spid="16"/>
                                        </p:tgtEl>
                                        <p:attrNameLst>
                                          <p:attrName>ppt_x</p:attrName>
                                        </p:attrNameLst>
                                      </p:cBhvr>
                                      <p:tavLst>
                                        <p:tav tm="0">
                                          <p:val>
                                            <p:strVal val="#ppt_x"/>
                                          </p:val>
                                        </p:tav>
                                        <p:tav tm="100000">
                                          <p:val>
                                            <p:strVal val="#ppt_x"/>
                                          </p:val>
                                        </p:tav>
                                      </p:tavLst>
                                    </p:anim>
                                    <p:anim calcmode="lin" valueType="num">
                                      <p:cBhvr additive="base">
                                        <p:cTn id="12" dur="10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85000"/>
            </a:srgbClr>
          </a:solidFill>
          <a:ln/>
        </p:spPr>
        <p:txBody>
          <a:bodyPr/>
          <a:lstStyle/>
          <a:p>
            <a:endParaRPr lang="en-IN" dirty="0"/>
          </a:p>
        </p:txBody>
      </p:sp>
      <p:sp>
        <p:nvSpPr>
          <p:cNvPr id="4" name="Text 1"/>
          <p:cNvSpPr/>
          <p:nvPr/>
        </p:nvSpPr>
        <p:spPr>
          <a:xfrm>
            <a:off x="1237786" y="448511"/>
            <a:ext cx="6314112" cy="693657"/>
          </a:xfrm>
          <a:prstGeom prst="rect">
            <a:avLst/>
          </a:prstGeom>
          <a:noFill/>
          <a:ln/>
        </p:spPr>
        <p:txBody>
          <a:bodyPr wrap="none" lIns="0" tIns="0" rIns="0" bIns="0" rtlCol="0" anchor="t"/>
          <a:lstStyle/>
          <a:p>
            <a:pPr marL="0" indent="0" algn="l">
              <a:lnSpc>
                <a:spcPts val="4850"/>
              </a:lnSpc>
              <a:buNone/>
            </a:pPr>
            <a:r>
              <a:rPr lang="en-US" sz="4400" b="1" dirty="0">
                <a:solidFill>
                  <a:srgbClr val="000000"/>
                </a:solidFill>
                <a:latin typeface="Petrona Bold" pitchFamily="34" charset="0"/>
                <a:ea typeface="Petrona Bold" pitchFamily="34" charset="-122"/>
                <a:cs typeface="Petrona Bold" pitchFamily="34" charset="-120"/>
              </a:rPr>
              <a:t> </a:t>
            </a:r>
            <a:r>
              <a:rPr lang="en-US" sz="4400" b="1" dirty="0" smtClean="0">
                <a:solidFill>
                  <a:srgbClr val="000000"/>
                </a:solidFill>
                <a:latin typeface="Petrona Bold" pitchFamily="34" charset="0"/>
                <a:ea typeface="Petrona Bold" pitchFamily="34" charset="-122"/>
                <a:cs typeface="Petrona Bold" pitchFamily="34" charset="-120"/>
              </a:rPr>
              <a:t>       Proposed </a:t>
            </a:r>
            <a:r>
              <a:rPr lang="en-US" sz="4400" b="1" dirty="0">
                <a:solidFill>
                  <a:srgbClr val="000000"/>
                </a:solidFill>
                <a:latin typeface="Petrona Bold" pitchFamily="34" charset="0"/>
                <a:ea typeface="Petrona Bold" pitchFamily="34" charset="-122"/>
                <a:cs typeface="Petrona Bold" pitchFamily="34" charset="-120"/>
              </a:rPr>
              <a:t>Solution</a:t>
            </a:r>
            <a:endParaRPr lang="en-US" sz="4400" dirty="0"/>
          </a:p>
        </p:txBody>
      </p:sp>
      <p:sp>
        <p:nvSpPr>
          <p:cNvPr id="5" name="Shape 2"/>
          <p:cNvSpPr/>
          <p:nvPr/>
        </p:nvSpPr>
        <p:spPr>
          <a:xfrm flipV="1">
            <a:off x="1237786" y="1142168"/>
            <a:ext cx="11586116" cy="62746"/>
          </a:xfrm>
          <a:prstGeom prst="rect">
            <a:avLst/>
          </a:prstGeom>
          <a:solidFill>
            <a:srgbClr val="272525">
              <a:alpha val="50000"/>
            </a:srgbClr>
          </a:solidFill>
          <a:ln/>
        </p:spPr>
      </p:sp>
      <p:sp>
        <p:nvSpPr>
          <p:cNvPr id="6" name="Text 3"/>
          <p:cNvSpPr/>
          <p:nvPr/>
        </p:nvSpPr>
        <p:spPr>
          <a:xfrm>
            <a:off x="669074" y="1340004"/>
            <a:ext cx="4793396" cy="541481"/>
          </a:xfrm>
          <a:prstGeom prst="rect">
            <a:avLst/>
          </a:prstGeom>
          <a:noFill/>
          <a:ln/>
        </p:spPr>
        <p:txBody>
          <a:bodyPr wrap="none" lIns="0" tIns="0" rIns="0" bIns="0" rtlCol="0" anchor="t"/>
          <a:lstStyle/>
          <a:p>
            <a:pPr marL="0" indent="0" algn="l">
              <a:lnSpc>
                <a:spcPts val="2800"/>
              </a:lnSpc>
              <a:buNone/>
            </a:pPr>
            <a:endParaRPr lang="en-US" sz="2800" dirty="0"/>
          </a:p>
        </p:txBody>
      </p:sp>
      <p:pic>
        <p:nvPicPr>
          <p:cNvPr id="8" name="Image 1" descr="preencoded.png"/>
          <p:cNvPicPr>
            <a:picLocks noChangeAspect="1"/>
          </p:cNvPicPr>
          <p:nvPr/>
        </p:nvPicPr>
        <p:blipFill>
          <a:blip r:embed="rId4"/>
          <a:stretch>
            <a:fillRect/>
          </a:stretch>
        </p:blipFill>
        <p:spPr>
          <a:xfrm>
            <a:off x="2717602" y="2878098"/>
            <a:ext cx="214432" cy="171450"/>
          </a:xfrm>
          <a:prstGeom prst="rect">
            <a:avLst/>
          </a:prstGeom>
        </p:spPr>
      </p:pic>
      <p:sp>
        <p:nvSpPr>
          <p:cNvPr id="9" name="Text 5"/>
          <p:cNvSpPr/>
          <p:nvPr/>
        </p:nvSpPr>
        <p:spPr>
          <a:xfrm>
            <a:off x="1349298" y="1964472"/>
            <a:ext cx="11307335" cy="813266"/>
          </a:xfrm>
          <a:prstGeom prst="rect">
            <a:avLst/>
          </a:prstGeom>
          <a:noFill/>
          <a:ln/>
        </p:spPr>
        <p:txBody>
          <a:bodyPr wrap="square" lIns="0" tIns="0" rIns="0" bIns="0" rtlCol="0" anchor="t"/>
          <a:lstStyle/>
          <a:p>
            <a:pPr marL="0" indent="0" algn="l">
              <a:lnSpc>
                <a:spcPts val="1700"/>
              </a:lnSpc>
              <a:buNone/>
            </a:pPr>
            <a:endParaRPr lang="en-US" dirty="0"/>
          </a:p>
        </p:txBody>
      </p:sp>
      <p:sp>
        <p:nvSpPr>
          <p:cNvPr id="10" name="Text 6"/>
          <p:cNvSpPr/>
          <p:nvPr/>
        </p:nvSpPr>
        <p:spPr>
          <a:xfrm>
            <a:off x="152401" y="1414471"/>
            <a:ext cx="5425722" cy="550001"/>
          </a:xfrm>
          <a:prstGeom prst="rect">
            <a:avLst/>
          </a:prstGeom>
          <a:noFill/>
          <a:ln/>
        </p:spPr>
        <p:txBody>
          <a:bodyPr wrap="none" lIns="0" tIns="0" rIns="0" bIns="0" rtlCol="0" anchor="t"/>
          <a:lstStyle/>
          <a:p>
            <a:pPr marL="0" indent="0" algn="l">
              <a:lnSpc>
                <a:spcPts val="2100"/>
              </a:lnSpc>
              <a:buNone/>
            </a:pPr>
            <a:r>
              <a:rPr lang="en-US" sz="2800" b="1" dirty="0">
                <a:solidFill>
                  <a:srgbClr val="000000"/>
                </a:solidFill>
                <a:latin typeface="Petrona Bold" pitchFamily="34" charset="0"/>
                <a:ea typeface="Petrona Bold" pitchFamily="34" charset="-122"/>
                <a:cs typeface="Petrona Bold" pitchFamily="34" charset="-120"/>
              </a:rPr>
              <a:t>         </a:t>
            </a:r>
            <a:endParaRPr lang="en-US" sz="2800" b="1" dirty="0" smtClean="0">
              <a:solidFill>
                <a:srgbClr val="000000"/>
              </a:solidFill>
              <a:latin typeface="Petrona Bold" pitchFamily="34" charset="0"/>
              <a:ea typeface="Petrona Bold" pitchFamily="34" charset="-122"/>
              <a:cs typeface="Petrona Bold" pitchFamily="34" charset="-120"/>
            </a:endParaRPr>
          </a:p>
          <a:p>
            <a:pPr marL="0" indent="0" algn="l">
              <a:lnSpc>
                <a:spcPts val="2100"/>
              </a:lnSpc>
              <a:buNone/>
            </a:pPr>
            <a:r>
              <a:rPr lang="en-US" sz="2800" b="1" dirty="0">
                <a:solidFill>
                  <a:srgbClr val="000000"/>
                </a:solidFill>
                <a:latin typeface="Petrona Bold" pitchFamily="34" charset="0"/>
                <a:ea typeface="Petrona Bold" pitchFamily="34" charset="-122"/>
                <a:cs typeface="Petrona Bold" pitchFamily="34" charset="-120"/>
              </a:rPr>
              <a:t> </a:t>
            </a:r>
            <a:r>
              <a:rPr lang="en-US" sz="2800" b="1" dirty="0" smtClean="0">
                <a:solidFill>
                  <a:srgbClr val="000000"/>
                </a:solidFill>
                <a:latin typeface="Petrona Bold" pitchFamily="34" charset="0"/>
                <a:ea typeface="Petrona Bold" pitchFamily="34" charset="-122"/>
                <a:cs typeface="Petrona Bold" pitchFamily="34" charset="-120"/>
              </a:rPr>
              <a:t>        Key </a:t>
            </a:r>
            <a:r>
              <a:rPr lang="en-US" sz="2800" b="1" dirty="0">
                <a:solidFill>
                  <a:srgbClr val="000000"/>
                </a:solidFill>
                <a:latin typeface="Petrona Bold" pitchFamily="34" charset="0"/>
                <a:ea typeface="Petrona Bold" pitchFamily="34" charset="-122"/>
                <a:cs typeface="Petrona Bold" pitchFamily="34" charset="-120"/>
              </a:rPr>
              <a:t>Features Implemented</a:t>
            </a:r>
            <a:endParaRPr lang="en-US" sz="2800" dirty="0"/>
          </a:p>
        </p:txBody>
      </p:sp>
      <p:sp>
        <p:nvSpPr>
          <p:cNvPr id="11" name="Shape 7"/>
          <p:cNvSpPr/>
          <p:nvPr/>
        </p:nvSpPr>
        <p:spPr>
          <a:xfrm>
            <a:off x="807479" y="2133440"/>
            <a:ext cx="3820245" cy="2850645"/>
          </a:xfrm>
          <a:prstGeom prst="roundRect">
            <a:avLst>
              <a:gd name="adj" fmla="val 3989"/>
            </a:avLst>
          </a:prstGeom>
          <a:solidFill>
            <a:srgbClr val="CCEEFF"/>
          </a:solidFill>
          <a:ln w="7620">
            <a:solidFill>
              <a:srgbClr val="B2D4E5"/>
            </a:solidFill>
            <a:prstDash val="solid"/>
          </a:ln>
        </p:spPr>
        <p:txBody>
          <a:bodyPr/>
          <a:lstStyle/>
          <a:p>
            <a:r>
              <a:rPr lang="en-US" sz="2400" dirty="0" smtClean="0"/>
              <a:t>Added a new tile which shows data combination of NORTH + SOUTH Looms in addition with the targets shown and the better accuracy </a:t>
            </a:r>
            <a:endParaRPr lang="en-IN" sz="2400" dirty="0"/>
          </a:p>
        </p:txBody>
      </p:sp>
      <p:sp>
        <p:nvSpPr>
          <p:cNvPr id="14" name="Text 9"/>
          <p:cNvSpPr/>
          <p:nvPr/>
        </p:nvSpPr>
        <p:spPr>
          <a:xfrm>
            <a:off x="1349298" y="4050146"/>
            <a:ext cx="3485170" cy="933939"/>
          </a:xfrm>
          <a:prstGeom prst="rect">
            <a:avLst/>
          </a:prstGeom>
          <a:noFill/>
          <a:ln/>
        </p:spPr>
        <p:txBody>
          <a:bodyPr wrap="square" lIns="0" tIns="0" rIns="0" bIns="0" rtlCol="0" anchor="t"/>
          <a:lstStyle/>
          <a:p>
            <a:pPr marL="0" indent="0" algn="l">
              <a:lnSpc>
                <a:spcPts val="1700"/>
              </a:lnSpc>
              <a:buNone/>
            </a:pPr>
            <a:r>
              <a:rPr lang="en-US" dirty="0" smtClean="0">
                <a:solidFill>
                  <a:srgbClr val="272525"/>
                </a:solidFill>
                <a:latin typeface="Inter" pitchFamily="34" charset="0"/>
                <a:ea typeface="Inter" pitchFamily="34" charset="-122"/>
                <a:cs typeface="Inter" pitchFamily="34" charset="-120"/>
              </a:rPr>
              <a:t>.</a:t>
            </a:r>
            <a:endParaRPr lang="en-US" dirty="0"/>
          </a:p>
        </p:txBody>
      </p:sp>
      <p:sp>
        <p:nvSpPr>
          <p:cNvPr id="15" name="Shape 10"/>
          <p:cNvSpPr/>
          <p:nvPr/>
        </p:nvSpPr>
        <p:spPr>
          <a:xfrm>
            <a:off x="5024078" y="2101481"/>
            <a:ext cx="3912679" cy="2882603"/>
          </a:xfrm>
          <a:prstGeom prst="roundRect">
            <a:avLst>
              <a:gd name="adj" fmla="val 3989"/>
            </a:avLst>
          </a:prstGeom>
          <a:solidFill>
            <a:srgbClr val="CCEEFF"/>
          </a:solidFill>
          <a:ln w="7620">
            <a:solidFill>
              <a:srgbClr val="B2D4E5"/>
            </a:solidFill>
            <a:prstDash val="solid"/>
          </a:ln>
        </p:spPr>
        <p:txBody>
          <a:bodyPr/>
          <a:lstStyle/>
          <a:p>
            <a:r>
              <a:rPr lang="en-US" sz="2400" dirty="0" smtClean="0"/>
              <a:t>Added new filters like efficiency range filter, sorted data along with addition of average row at the end helping for better decision making</a:t>
            </a:r>
            <a:endParaRPr lang="en-IN" sz="2400" dirty="0"/>
          </a:p>
          <a:p>
            <a:endParaRPr lang="en-IN" sz="2400" dirty="0"/>
          </a:p>
        </p:txBody>
      </p:sp>
      <p:pic>
        <p:nvPicPr>
          <p:cNvPr id="17" name="Image 3" descr="preencoded.png"/>
          <p:cNvPicPr>
            <a:picLocks noChangeAspect="1"/>
          </p:cNvPicPr>
          <p:nvPr/>
        </p:nvPicPr>
        <p:blipFill>
          <a:blip r:embed="rId5">
            <a:extLst>
              <a:ext uri="{96DAC541-7B7A-43D3-8B79-37D633B846F1}">
                <asvg:svgBlip xmlns="" xmlns:asvg="http://schemas.microsoft.com/office/drawing/2016/SVG/main" r:embed="rId8"/>
              </a:ext>
            </a:extLst>
          </a:blip>
          <a:stretch>
            <a:fillRect/>
          </a:stretch>
        </p:blipFill>
        <p:spPr>
          <a:xfrm>
            <a:off x="5296317" y="3625304"/>
            <a:ext cx="185261" cy="185261"/>
          </a:xfrm>
          <a:prstGeom prst="rect">
            <a:avLst/>
          </a:prstGeom>
        </p:spPr>
      </p:pic>
      <p:sp>
        <p:nvSpPr>
          <p:cNvPr id="18" name="Text 12"/>
          <p:cNvSpPr/>
          <p:nvPr/>
        </p:nvSpPr>
        <p:spPr>
          <a:xfrm>
            <a:off x="5318386" y="4038481"/>
            <a:ext cx="3668753" cy="1225154"/>
          </a:xfrm>
          <a:prstGeom prst="rect">
            <a:avLst/>
          </a:prstGeom>
          <a:noFill/>
          <a:ln/>
        </p:spPr>
        <p:txBody>
          <a:bodyPr wrap="square" lIns="0" tIns="0" rIns="0" bIns="0" rtlCol="0" anchor="t"/>
          <a:lstStyle/>
          <a:p>
            <a:pPr marL="0" indent="0" algn="l">
              <a:lnSpc>
                <a:spcPts val="1700"/>
              </a:lnSpc>
              <a:buNone/>
            </a:pPr>
            <a:r>
              <a:rPr lang="en-US" sz="2000" dirty="0" smtClean="0">
                <a:solidFill>
                  <a:srgbClr val="272525"/>
                </a:solidFill>
                <a:latin typeface="Inter" pitchFamily="34" charset="0"/>
                <a:ea typeface="Inter" pitchFamily="34" charset="-122"/>
                <a:cs typeface="Inter" pitchFamily="34" charset="-120"/>
              </a:rPr>
              <a:t>.</a:t>
            </a:r>
            <a:endParaRPr lang="en-US" sz="2000" dirty="0"/>
          </a:p>
        </p:txBody>
      </p:sp>
      <p:sp>
        <p:nvSpPr>
          <p:cNvPr id="19" name="Shape 13"/>
          <p:cNvSpPr/>
          <p:nvPr/>
        </p:nvSpPr>
        <p:spPr>
          <a:xfrm>
            <a:off x="9456951" y="2101480"/>
            <a:ext cx="3773274" cy="2882603"/>
          </a:xfrm>
          <a:prstGeom prst="roundRect">
            <a:avLst>
              <a:gd name="adj" fmla="val 3989"/>
            </a:avLst>
          </a:prstGeom>
          <a:solidFill>
            <a:srgbClr val="CCEEFF"/>
          </a:solidFill>
          <a:ln w="7620">
            <a:solidFill>
              <a:srgbClr val="B2D4E5"/>
            </a:solidFill>
            <a:prstDash val="solid"/>
          </a:ln>
        </p:spPr>
        <p:txBody>
          <a:bodyPr/>
          <a:lstStyle/>
          <a:p>
            <a:r>
              <a:rPr lang="en-US" sz="2400" dirty="0" smtClean="0"/>
              <a:t>Added new backend queries with logic implemented as per business requirement helping them to reduce manual effort in segregating the important data</a:t>
            </a:r>
            <a:endParaRPr lang="en-IN" dirty="0"/>
          </a:p>
        </p:txBody>
      </p:sp>
      <p:pic>
        <p:nvPicPr>
          <p:cNvPr id="21" name="Image 4" descr="preencoded.png"/>
          <p:cNvPicPr>
            <a:picLocks noChangeAspect="1"/>
          </p:cNvPicPr>
          <p:nvPr/>
        </p:nvPicPr>
        <p:blipFill>
          <a:blip r:embed="rId9">
            <a:extLst>
              <a:ext uri="{96DAC541-7B7A-43D3-8B79-37D633B846F1}">
                <asvg:svgBlip xmlns="" xmlns:asvg="http://schemas.microsoft.com/office/drawing/2016/SVG/main" r:embed="rId10"/>
              </a:ext>
            </a:extLst>
          </a:blip>
          <a:stretch>
            <a:fillRect/>
          </a:stretch>
        </p:blipFill>
        <p:spPr>
          <a:xfrm>
            <a:off x="9424496" y="3669757"/>
            <a:ext cx="185261" cy="185261"/>
          </a:xfrm>
          <a:prstGeom prst="rect">
            <a:avLst/>
          </a:prstGeom>
        </p:spPr>
      </p:pic>
      <p:sp>
        <p:nvSpPr>
          <p:cNvPr id="22" name="Text 15"/>
          <p:cNvSpPr/>
          <p:nvPr/>
        </p:nvSpPr>
        <p:spPr>
          <a:xfrm>
            <a:off x="9311268" y="4050145"/>
            <a:ext cx="3668752" cy="1213489"/>
          </a:xfrm>
          <a:prstGeom prst="rect">
            <a:avLst/>
          </a:prstGeom>
          <a:noFill/>
          <a:ln/>
        </p:spPr>
        <p:txBody>
          <a:bodyPr wrap="square" lIns="0" tIns="0" rIns="0" bIns="0" rtlCol="0" anchor="t"/>
          <a:lstStyle/>
          <a:p>
            <a:pPr marL="0" indent="0" algn="l">
              <a:lnSpc>
                <a:spcPts val="1700"/>
              </a:lnSpc>
              <a:buNone/>
            </a:pPr>
            <a:r>
              <a:rPr lang="en-US" sz="2000" dirty="0" smtClean="0">
                <a:solidFill>
                  <a:srgbClr val="272525"/>
                </a:solidFill>
                <a:latin typeface="Inter" pitchFamily="34" charset="0"/>
                <a:ea typeface="Inter" pitchFamily="34" charset="-122"/>
                <a:cs typeface="Inter" pitchFamily="34" charset="-120"/>
              </a:rPr>
              <a:t>.</a:t>
            </a:r>
            <a:endParaRPr lang="en-US" sz="2000" dirty="0"/>
          </a:p>
        </p:txBody>
      </p:sp>
      <p:sp>
        <p:nvSpPr>
          <p:cNvPr id="23" name="Text 16"/>
          <p:cNvSpPr/>
          <p:nvPr/>
        </p:nvSpPr>
        <p:spPr>
          <a:xfrm>
            <a:off x="807479" y="5263635"/>
            <a:ext cx="4406387" cy="591145"/>
          </a:xfrm>
          <a:prstGeom prst="rect">
            <a:avLst/>
          </a:prstGeom>
          <a:noFill/>
          <a:ln/>
        </p:spPr>
        <p:txBody>
          <a:bodyPr wrap="none" lIns="0" tIns="0" rIns="0" bIns="0" rtlCol="0" anchor="t"/>
          <a:lstStyle/>
          <a:p>
            <a:pPr marL="0" indent="0" algn="l">
              <a:lnSpc>
                <a:spcPts val="2100"/>
              </a:lnSpc>
              <a:buNone/>
            </a:pPr>
            <a:endParaRPr lang="en-US" sz="2400" b="1" dirty="0" smtClean="0">
              <a:solidFill>
                <a:srgbClr val="000000"/>
              </a:solidFill>
              <a:latin typeface="Petrona Bold" pitchFamily="34" charset="0"/>
              <a:ea typeface="Petrona Bold" pitchFamily="34" charset="-122"/>
              <a:cs typeface="Petrona Bold" pitchFamily="34" charset="-120"/>
            </a:endParaRPr>
          </a:p>
          <a:p>
            <a:pPr marL="0" indent="0" algn="l">
              <a:lnSpc>
                <a:spcPts val="2100"/>
              </a:lnSpc>
              <a:buNone/>
            </a:pPr>
            <a:r>
              <a:rPr lang="en-US" sz="2400" b="1" dirty="0" smtClean="0">
                <a:solidFill>
                  <a:srgbClr val="000000"/>
                </a:solidFill>
                <a:latin typeface="Petrona Bold" pitchFamily="34" charset="0"/>
                <a:ea typeface="Petrona Bold" pitchFamily="34" charset="-122"/>
                <a:cs typeface="Petrona Bold" pitchFamily="34" charset="-120"/>
              </a:rPr>
              <a:t>Technical </a:t>
            </a:r>
            <a:r>
              <a:rPr lang="en-US" sz="2400" b="1" dirty="0">
                <a:solidFill>
                  <a:srgbClr val="000000"/>
                </a:solidFill>
                <a:latin typeface="Petrona Bold" pitchFamily="34" charset="0"/>
                <a:ea typeface="Petrona Bold" pitchFamily="34" charset="-122"/>
                <a:cs typeface="Petrona Bold" pitchFamily="34" charset="-120"/>
              </a:rPr>
              <a:t>Implementation</a:t>
            </a:r>
            <a:endParaRPr lang="en-US" sz="2400" dirty="0"/>
          </a:p>
        </p:txBody>
      </p:sp>
      <p:sp>
        <p:nvSpPr>
          <p:cNvPr id="24" name="Text 17"/>
          <p:cNvSpPr/>
          <p:nvPr/>
        </p:nvSpPr>
        <p:spPr>
          <a:xfrm>
            <a:off x="952500" y="6166963"/>
            <a:ext cx="6195300" cy="2062637"/>
          </a:xfrm>
          <a:prstGeom prst="rect">
            <a:avLst/>
          </a:prstGeom>
          <a:noFill/>
          <a:ln/>
        </p:spPr>
        <p:txBody>
          <a:bodyPr wrap="square" lIns="0" tIns="0" rIns="0" bIns="0" rtlCol="0" anchor="t"/>
          <a:lstStyle/>
          <a:p>
            <a:pPr marL="342900" indent="-342900" algn="l">
              <a:lnSpc>
                <a:spcPts val="1350"/>
              </a:lnSpc>
              <a:buSzPct val="100000"/>
              <a:buChar char="•"/>
            </a:pPr>
            <a:r>
              <a:rPr lang="en-US" sz="2000" b="1" dirty="0" smtClean="0">
                <a:solidFill>
                  <a:srgbClr val="272525"/>
                </a:solidFill>
                <a:latin typeface="Inter" pitchFamily="34" charset="0"/>
                <a:ea typeface="Inter" pitchFamily="34" charset="-122"/>
                <a:cs typeface="Inter" pitchFamily="34" charset="-120"/>
              </a:rPr>
              <a:t>Framework :</a:t>
            </a:r>
            <a:r>
              <a:rPr lang="en-US" sz="2000" dirty="0" smtClean="0">
                <a:solidFill>
                  <a:srgbClr val="272525"/>
                </a:solidFill>
                <a:latin typeface="Inter" pitchFamily="34" charset="0"/>
                <a:ea typeface="Inter" pitchFamily="34" charset="-122"/>
                <a:cs typeface="Inter" pitchFamily="34" charset="-120"/>
              </a:rPr>
              <a:t> SAP MII + SAP UI5</a:t>
            </a:r>
            <a:endParaRPr lang="en-US" sz="2000" dirty="0">
              <a:solidFill>
                <a:srgbClr val="272525"/>
              </a:solidFill>
              <a:latin typeface="Inter" pitchFamily="34" charset="0"/>
              <a:ea typeface="Inter" pitchFamily="34" charset="-122"/>
              <a:cs typeface="Inter" pitchFamily="34" charset="-120"/>
            </a:endParaRPr>
          </a:p>
          <a:p>
            <a:pPr marL="342900" indent="-342900" algn="l">
              <a:lnSpc>
                <a:spcPts val="1350"/>
              </a:lnSpc>
              <a:buSzPct val="100000"/>
              <a:buChar char="•"/>
            </a:pPr>
            <a:endParaRPr lang="en-US" sz="2000" dirty="0"/>
          </a:p>
          <a:p>
            <a:pPr marL="342900" indent="-342900" algn="l">
              <a:lnSpc>
                <a:spcPts val="1350"/>
              </a:lnSpc>
              <a:buSzPct val="100000"/>
              <a:buChar char="•"/>
            </a:pPr>
            <a:r>
              <a:rPr lang="en-US" sz="2000" b="1" dirty="0" smtClean="0">
                <a:solidFill>
                  <a:srgbClr val="272525"/>
                </a:solidFill>
                <a:latin typeface="Inter" pitchFamily="34" charset="0"/>
                <a:ea typeface="Inter" pitchFamily="34" charset="-122"/>
                <a:cs typeface="Inter" pitchFamily="34" charset="-120"/>
              </a:rPr>
              <a:t>Frontend : </a:t>
            </a:r>
            <a:r>
              <a:rPr lang="en-US" sz="2000" dirty="0" smtClean="0">
                <a:solidFill>
                  <a:srgbClr val="272525"/>
                </a:solidFill>
                <a:latin typeface="Inter" pitchFamily="34" charset="0"/>
                <a:ea typeface="Inter" pitchFamily="34" charset="-122"/>
                <a:cs typeface="Inter" pitchFamily="34" charset="-120"/>
              </a:rPr>
              <a:t>XML Views + </a:t>
            </a:r>
            <a:r>
              <a:rPr lang="en-US" sz="2000" dirty="0" err="1" smtClean="0">
                <a:solidFill>
                  <a:srgbClr val="272525"/>
                </a:solidFill>
                <a:latin typeface="Inter" pitchFamily="34" charset="0"/>
                <a:ea typeface="Inter" pitchFamily="34" charset="-122"/>
                <a:cs typeface="Inter" pitchFamily="34" charset="-120"/>
              </a:rPr>
              <a:t>Javascript</a:t>
            </a:r>
            <a:r>
              <a:rPr lang="en-US" sz="2000" dirty="0" smtClean="0">
                <a:solidFill>
                  <a:srgbClr val="272525"/>
                </a:solidFill>
                <a:latin typeface="Inter" pitchFamily="34" charset="0"/>
                <a:ea typeface="Inter" pitchFamily="34" charset="-122"/>
                <a:cs typeface="Inter" pitchFamily="34" charset="-120"/>
              </a:rPr>
              <a:t> controllers</a:t>
            </a:r>
          </a:p>
          <a:p>
            <a:pPr marL="342900" indent="-342900" algn="l">
              <a:lnSpc>
                <a:spcPts val="1350"/>
              </a:lnSpc>
              <a:buSzPct val="100000"/>
              <a:buChar char="•"/>
            </a:pPr>
            <a:endParaRPr lang="en-US" sz="2000" b="1" dirty="0">
              <a:solidFill>
                <a:srgbClr val="272525"/>
              </a:solidFill>
              <a:latin typeface="Inter" pitchFamily="34" charset="0"/>
              <a:ea typeface="Inter" pitchFamily="34" charset="-122"/>
              <a:cs typeface="Inter" pitchFamily="34" charset="-120"/>
            </a:endParaRPr>
          </a:p>
          <a:p>
            <a:pPr marL="342900" indent="-342900" algn="l">
              <a:lnSpc>
                <a:spcPts val="1350"/>
              </a:lnSpc>
              <a:buSzPct val="100000"/>
              <a:buChar char="•"/>
            </a:pPr>
            <a:r>
              <a:rPr lang="en-US" sz="2000" b="1" dirty="0" smtClean="0">
                <a:solidFill>
                  <a:srgbClr val="272525"/>
                </a:solidFill>
                <a:latin typeface="Inter" pitchFamily="34" charset="0"/>
                <a:ea typeface="Inter" pitchFamily="34" charset="-122"/>
                <a:cs typeface="Inter" pitchFamily="34" charset="-120"/>
              </a:rPr>
              <a:t>Backend </a:t>
            </a:r>
            <a:r>
              <a:rPr lang="en-US" sz="2000" dirty="0" smtClean="0">
                <a:solidFill>
                  <a:srgbClr val="272525"/>
                </a:solidFill>
                <a:latin typeface="Inter" pitchFamily="34" charset="0"/>
                <a:ea typeface="Inter" pitchFamily="34" charset="-122"/>
                <a:cs typeface="Inter" pitchFamily="34" charset="-120"/>
              </a:rPr>
              <a:t>: MII Query templates and SQL Logic</a:t>
            </a:r>
            <a:endParaRPr lang="en-US" sz="2000" dirty="0">
              <a:solidFill>
                <a:srgbClr val="272525"/>
              </a:solidFill>
              <a:latin typeface="Inter" pitchFamily="34" charset="0"/>
              <a:ea typeface="Inter" pitchFamily="34" charset="-122"/>
              <a:cs typeface="Inter" pitchFamily="34" charset="-120"/>
            </a:endParaRPr>
          </a:p>
          <a:p>
            <a:pPr marL="342900" indent="-342900" algn="l">
              <a:lnSpc>
                <a:spcPts val="1350"/>
              </a:lnSpc>
              <a:buSzPct val="100000"/>
              <a:buChar char="•"/>
            </a:pPr>
            <a:endParaRPr lang="en-US" sz="2000" dirty="0"/>
          </a:p>
          <a:p>
            <a:pPr marL="342900" indent="-342900" algn="l">
              <a:lnSpc>
                <a:spcPts val="1350"/>
              </a:lnSpc>
              <a:buSzPct val="100000"/>
              <a:buChar char="•"/>
            </a:pPr>
            <a:r>
              <a:rPr lang="en-US" sz="2000" b="1" dirty="0">
                <a:solidFill>
                  <a:srgbClr val="272525"/>
                </a:solidFill>
                <a:latin typeface="Inter" pitchFamily="34" charset="0"/>
                <a:ea typeface="Inter" pitchFamily="34" charset="-122"/>
                <a:cs typeface="Inter" pitchFamily="34" charset="-120"/>
              </a:rPr>
              <a:t>Database</a:t>
            </a:r>
            <a:r>
              <a:rPr lang="en-US" sz="2000" b="1" dirty="0" smtClean="0">
                <a:solidFill>
                  <a:srgbClr val="272525"/>
                </a:solidFill>
                <a:latin typeface="Inter" pitchFamily="34" charset="0"/>
                <a:ea typeface="Inter" pitchFamily="34" charset="-122"/>
                <a:cs typeface="Inter" pitchFamily="34" charset="-120"/>
              </a:rPr>
              <a:t>: </a:t>
            </a:r>
            <a:r>
              <a:rPr lang="en-US" sz="2000" dirty="0" smtClean="0">
                <a:solidFill>
                  <a:srgbClr val="272525"/>
                </a:solidFill>
                <a:latin typeface="Inter" pitchFamily="34" charset="0"/>
                <a:ea typeface="Inter" pitchFamily="34" charset="-122"/>
                <a:cs typeface="Inter" pitchFamily="34" charset="-120"/>
              </a:rPr>
              <a:t> </a:t>
            </a:r>
            <a:r>
              <a:rPr lang="en-US" sz="2000" dirty="0">
                <a:solidFill>
                  <a:srgbClr val="272525"/>
                </a:solidFill>
                <a:latin typeface="Inter" pitchFamily="34" charset="0"/>
                <a:ea typeface="Inter" pitchFamily="34" charset="-122"/>
                <a:cs typeface="Inter" pitchFamily="34" charset="-120"/>
              </a:rPr>
              <a:t>Microsoft SQL Server</a:t>
            </a:r>
          </a:p>
          <a:p>
            <a:pPr marL="342900" indent="-342900" algn="l">
              <a:lnSpc>
                <a:spcPts val="1350"/>
              </a:lnSpc>
              <a:buSzPct val="100000"/>
              <a:buChar char="•"/>
            </a:pPr>
            <a:endParaRPr lang="en-US" sz="2000" dirty="0"/>
          </a:p>
        </p:txBody>
      </p:sp>
      <p:sp>
        <p:nvSpPr>
          <p:cNvPr id="25" name="Shape 18"/>
          <p:cNvSpPr/>
          <p:nvPr/>
        </p:nvSpPr>
        <p:spPr>
          <a:xfrm>
            <a:off x="7551898" y="5443062"/>
            <a:ext cx="6240302" cy="2401830"/>
          </a:xfrm>
          <a:prstGeom prst="roundRect">
            <a:avLst>
              <a:gd name="adj" fmla="val 6894"/>
            </a:avLst>
          </a:prstGeom>
          <a:solidFill>
            <a:srgbClr val="E0F7FA">
              <a:alpha val="95000"/>
            </a:srgbClr>
          </a:solidFill>
          <a:ln/>
        </p:spPr>
      </p:sp>
      <p:sp>
        <p:nvSpPr>
          <p:cNvPr id="26" name="Text 19"/>
          <p:cNvSpPr/>
          <p:nvPr/>
        </p:nvSpPr>
        <p:spPr>
          <a:xfrm>
            <a:off x="7528560" y="5584745"/>
            <a:ext cx="2564564" cy="397669"/>
          </a:xfrm>
          <a:prstGeom prst="rect">
            <a:avLst/>
          </a:prstGeom>
          <a:noFill/>
          <a:ln/>
        </p:spPr>
        <p:txBody>
          <a:bodyPr wrap="none" lIns="0" tIns="0" rIns="0" bIns="0" rtlCol="0" anchor="t"/>
          <a:lstStyle/>
          <a:p>
            <a:pPr marL="0" indent="0" algn="l">
              <a:lnSpc>
                <a:spcPts val="2100"/>
              </a:lnSpc>
              <a:buNone/>
            </a:pPr>
            <a:r>
              <a:rPr lang="en-US" sz="2400" b="1" dirty="0" smtClean="0">
                <a:solidFill>
                  <a:srgbClr val="000000"/>
                </a:solidFill>
                <a:latin typeface="Petrona Bold" pitchFamily="34" charset="0"/>
                <a:ea typeface="Petrona Bold" pitchFamily="34" charset="-122"/>
                <a:cs typeface="Petrona Bold" pitchFamily="34" charset="-120"/>
              </a:rPr>
              <a:t>                    Results </a:t>
            </a:r>
            <a:r>
              <a:rPr lang="en-US" sz="2400" b="1" dirty="0">
                <a:solidFill>
                  <a:srgbClr val="000000"/>
                </a:solidFill>
                <a:latin typeface="Petrona Bold" pitchFamily="34" charset="0"/>
                <a:ea typeface="Petrona Bold" pitchFamily="34" charset="-122"/>
                <a:cs typeface="Petrona Bold" pitchFamily="34" charset="-120"/>
              </a:rPr>
              <a:t>&amp; Benefits</a:t>
            </a:r>
            <a:endParaRPr lang="en-US" sz="2400" dirty="0"/>
          </a:p>
        </p:txBody>
      </p:sp>
      <p:sp>
        <p:nvSpPr>
          <p:cNvPr id="27" name="Text 20"/>
          <p:cNvSpPr/>
          <p:nvPr/>
        </p:nvSpPr>
        <p:spPr>
          <a:xfrm>
            <a:off x="7528559" y="5995512"/>
            <a:ext cx="6015991" cy="1849379"/>
          </a:xfrm>
          <a:prstGeom prst="rect">
            <a:avLst/>
          </a:prstGeom>
          <a:noFill/>
          <a:ln/>
        </p:spPr>
        <p:txBody>
          <a:bodyPr wrap="square" lIns="0" tIns="0" rIns="0" bIns="0" rtlCol="0" anchor="t"/>
          <a:lstStyle/>
          <a:p>
            <a:pPr marL="342900" indent="-342900" algn="l">
              <a:lnSpc>
                <a:spcPts val="1350"/>
              </a:lnSpc>
              <a:buSzPct val="100000"/>
              <a:buChar char="•"/>
            </a:pPr>
            <a:r>
              <a:rPr lang="en-US" dirty="0" smtClean="0">
                <a:solidFill>
                  <a:srgbClr val="272525"/>
                </a:solidFill>
                <a:latin typeface="Inter" pitchFamily="34" charset="0"/>
                <a:ea typeface="Inter" pitchFamily="34" charset="-122"/>
                <a:cs typeface="Inter" pitchFamily="34" charset="-120"/>
              </a:rPr>
              <a:t>Safe enhancement without impacting live </a:t>
            </a:r>
          </a:p>
          <a:p>
            <a:pPr algn="l">
              <a:lnSpc>
                <a:spcPts val="1350"/>
              </a:lnSpc>
              <a:buSzPct val="100000"/>
            </a:pPr>
            <a:r>
              <a:rPr lang="en-US" dirty="0" smtClean="0">
                <a:solidFill>
                  <a:srgbClr val="272525"/>
                </a:solidFill>
                <a:latin typeface="Inter" pitchFamily="34" charset="0"/>
                <a:ea typeface="Inter" pitchFamily="34" charset="-122"/>
                <a:cs typeface="Inter" pitchFamily="34" charset="-120"/>
              </a:rPr>
              <a:t>    </a:t>
            </a:r>
          </a:p>
          <a:p>
            <a:pPr algn="l">
              <a:lnSpc>
                <a:spcPts val="1350"/>
              </a:lnSpc>
              <a:buSzPct val="100000"/>
            </a:pPr>
            <a:r>
              <a:rPr lang="en-US" dirty="0">
                <a:solidFill>
                  <a:srgbClr val="272525"/>
                </a:solidFill>
                <a:latin typeface="Inter" pitchFamily="34" charset="0"/>
                <a:ea typeface="Inter" pitchFamily="34" charset="-122"/>
                <a:cs typeface="Inter" pitchFamily="34" charset="-120"/>
              </a:rPr>
              <a:t> </a:t>
            </a:r>
            <a:r>
              <a:rPr lang="en-US" dirty="0" smtClean="0">
                <a:solidFill>
                  <a:srgbClr val="272525"/>
                </a:solidFill>
                <a:latin typeface="Inter" pitchFamily="34" charset="0"/>
                <a:ea typeface="Inter" pitchFamily="34" charset="-122"/>
                <a:cs typeface="Inter" pitchFamily="34" charset="-120"/>
              </a:rPr>
              <a:t>     production dashboard.</a:t>
            </a:r>
            <a:endParaRPr lang="en-US" dirty="0">
              <a:solidFill>
                <a:srgbClr val="272525"/>
              </a:solidFill>
              <a:latin typeface="Inter" pitchFamily="34" charset="0"/>
              <a:ea typeface="Inter" pitchFamily="34" charset="-122"/>
              <a:cs typeface="Inter" pitchFamily="34" charset="-120"/>
            </a:endParaRPr>
          </a:p>
          <a:p>
            <a:pPr marL="342900" indent="-342900" algn="l">
              <a:lnSpc>
                <a:spcPts val="1350"/>
              </a:lnSpc>
              <a:buSzPct val="100000"/>
              <a:buChar char="•"/>
            </a:pPr>
            <a:endParaRPr lang="en-US" dirty="0"/>
          </a:p>
          <a:p>
            <a:pPr marL="342900" indent="-342900" algn="l">
              <a:lnSpc>
                <a:spcPts val="1350"/>
              </a:lnSpc>
              <a:buSzPct val="100000"/>
              <a:buChar char="•"/>
            </a:pPr>
            <a:r>
              <a:rPr lang="en-US" dirty="0" smtClean="0">
                <a:solidFill>
                  <a:srgbClr val="272525"/>
                </a:solidFill>
                <a:latin typeface="Inter" pitchFamily="34" charset="0"/>
                <a:ea typeface="Inter" pitchFamily="34" charset="-122"/>
                <a:cs typeface="Inter" pitchFamily="34" charset="-120"/>
              </a:rPr>
              <a:t>Better accuracy in production data.</a:t>
            </a:r>
            <a:endParaRPr lang="en-US" dirty="0">
              <a:solidFill>
                <a:srgbClr val="272525"/>
              </a:solidFill>
              <a:latin typeface="Inter" pitchFamily="34" charset="0"/>
              <a:ea typeface="Inter" pitchFamily="34" charset="-122"/>
              <a:cs typeface="Inter" pitchFamily="34" charset="-120"/>
            </a:endParaRPr>
          </a:p>
          <a:p>
            <a:pPr marL="342900" indent="-342900" algn="l">
              <a:lnSpc>
                <a:spcPts val="1350"/>
              </a:lnSpc>
              <a:buSzPct val="100000"/>
              <a:buChar char="•"/>
            </a:pPr>
            <a:endParaRPr lang="en-US" dirty="0"/>
          </a:p>
          <a:p>
            <a:pPr marL="342900" indent="-342900" algn="l">
              <a:lnSpc>
                <a:spcPts val="1350"/>
              </a:lnSpc>
              <a:buSzPct val="100000"/>
              <a:buChar char="•"/>
            </a:pPr>
            <a:r>
              <a:rPr lang="en-US" dirty="0" smtClean="0">
                <a:solidFill>
                  <a:srgbClr val="272525"/>
                </a:solidFill>
                <a:latin typeface="Inter" pitchFamily="34" charset="0"/>
                <a:ea typeface="Inter" pitchFamily="34" charset="-122"/>
                <a:cs typeface="Inter" pitchFamily="34" charset="-120"/>
              </a:rPr>
              <a:t>Faster decision making through filters and logic</a:t>
            </a:r>
            <a:endParaRPr lang="en-US" dirty="0">
              <a:solidFill>
                <a:srgbClr val="272525"/>
              </a:solidFill>
              <a:latin typeface="Inter" pitchFamily="34" charset="0"/>
              <a:ea typeface="Inter" pitchFamily="34" charset="-122"/>
              <a:cs typeface="Inter" pitchFamily="34" charset="-120"/>
            </a:endParaRPr>
          </a:p>
          <a:p>
            <a:pPr marL="342900" indent="-342900" algn="l">
              <a:lnSpc>
                <a:spcPts val="1350"/>
              </a:lnSpc>
              <a:buSzPct val="100000"/>
              <a:buChar char="•"/>
            </a:pPr>
            <a:endParaRPr lang="en-US" dirty="0"/>
          </a:p>
          <a:p>
            <a:pPr marL="342900" indent="-342900" algn="l">
              <a:lnSpc>
                <a:spcPts val="1350"/>
              </a:lnSpc>
              <a:buSzPct val="100000"/>
              <a:buChar char="•"/>
            </a:pPr>
            <a:r>
              <a:rPr lang="en-US" dirty="0" smtClean="0">
                <a:solidFill>
                  <a:srgbClr val="272525"/>
                </a:solidFill>
                <a:latin typeface="Inter" pitchFamily="34" charset="0"/>
                <a:ea typeface="Inter" pitchFamily="34" charset="-122"/>
              </a:rPr>
              <a:t>Reduced manual efforts</a:t>
            </a:r>
            <a:endParaRPr lang="en-US" dirty="0"/>
          </a:p>
        </p:txBody>
      </p:sp>
      <p:sp>
        <p:nvSpPr>
          <p:cNvPr id="29" name="Freeform 28">
            <a:extLst>
              <a:ext uri="{FF2B5EF4-FFF2-40B4-BE49-F238E27FC236}">
                <a16:creationId xmlns="" xmlns:a16="http://schemas.microsoft.com/office/drawing/2014/main" id="{D26F4A47-9C92-41C8-B9AA-0DCABA043242}"/>
              </a:ext>
            </a:extLst>
          </p:cNvPr>
          <p:cNvSpPr>
            <a:spLocks/>
          </p:cNvSpPr>
          <p:nvPr/>
        </p:nvSpPr>
        <p:spPr bwMode="auto">
          <a:xfrm>
            <a:off x="0" y="1"/>
            <a:ext cx="3166278" cy="1183398"/>
          </a:xfrm>
          <a:custGeom>
            <a:avLst/>
            <a:gdLst>
              <a:gd name="T0" fmla="*/ 249 w 1501"/>
              <a:gd name="T1" fmla="*/ 561 h 561"/>
              <a:gd name="T2" fmla="*/ 1501 w 1501"/>
              <a:gd name="T3" fmla="*/ 6 h 561"/>
              <a:gd name="T4" fmla="*/ 1499 w 1501"/>
              <a:gd name="T5" fmla="*/ 0 h 561"/>
              <a:gd name="T6" fmla="*/ 0 w 1501"/>
              <a:gd name="T7" fmla="*/ 0 h 561"/>
              <a:gd name="T8" fmla="*/ 249 w 1501"/>
              <a:gd name="T9" fmla="*/ 561 h 561"/>
            </a:gdLst>
            <a:ahLst/>
            <a:cxnLst>
              <a:cxn ang="0">
                <a:pos x="T0" y="T1"/>
              </a:cxn>
              <a:cxn ang="0">
                <a:pos x="T2" y="T3"/>
              </a:cxn>
              <a:cxn ang="0">
                <a:pos x="T4" y="T5"/>
              </a:cxn>
              <a:cxn ang="0">
                <a:pos x="T6" y="T7"/>
              </a:cxn>
              <a:cxn ang="0">
                <a:pos x="T8" y="T9"/>
              </a:cxn>
            </a:cxnLst>
            <a:rect l="0" t="0" r="r" b="b"/>
            <a:pathLst>
              <a:path w="1501" h="561">
                <a:moveTo>
                  <a:pt x="249" y="561"/>
                </a:moveTo>
                <a:lnTo>
                  <a:pt x="1501" y="6"/>
                </a:lnTo>
                <a:lnTo>
                  <a:pt x="1499" y="0"/>
                </a:lnTo>
                <a:lnTo>
                  <a:pt x="0" y="0"/>
                </a:lnTo>
                <a:lnTo>
                  <a:pt x="249" y="561"/>
                </a:lnTo>
                <a:close/>
              </a:path>
            </a:pathLst>
          </a:custGeom>
          <a:solidFill>
            <a:srgbClr val="FDB913"/>
          </a:solidFill>
          <a:ln>
            <a:noFill/>
          </a:ln>
          <a:effectLst>
            <a:outerShdw blurRad="431800" dist="50800" dir="5400000" algn="ctr" rotWithShape="0">
              <a:srgbClr val="000000">
                <a:alpha val="25000"/>
              </a:srgbClr>
            </a:outerShdw>
          </a:effectLst>
        </p:spPr>
        <p:txBody>
          <a:bodyPr vert="horz" wrap="square" lIns="68580" tIns="34290" rIns="68580" bIns="34290" numCol="1" anchor="t" anchorCtr="0" compatLnSpc="1">
            <a:prstTxWarp prst="textNoShape">
              <a:avLst/>
            </a:prstTxWarp>
          </a:bodyPr>
          <a:lstStyle/>
          <a:p>
            <a:endParaRPr lang="en-ID" sz="1350"/>
          </a:p>
        </p:txBody>
      </p:sp>
      <p:pic>
        <p:nvPicPr>
          <p:cNvPr id="30" name="Picture 29">
            <a:extLst>
              <a:ext uri="{FF2B5EF4-FFF2-40B4-BE49-F238E27FC236}">
                <a16:creationId xmlns:a16="http://schemas.microsoft.com/office/drawing/2014/main" xmlns="" id="{49C7B44A-AD34-9D58-6374-8F3854056B38}"/>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1206672" y="98893"/>
            <a:ext cx="3204766" cy="492807"/>
          </a:xfrm>
          <a:prstGeom prst="rect">
            <a:avLst/>
          </a:prstGeom>
        </p:spPr>
      </p:pic>
      <p:sp>
        <p:nvSpPr>
          <p:cNvPr id="31" name="Freeform 30">
            <a:extLst>
              <a:ext uri="{FF2B5EF4-FFF2-40B4-BE49-F238E27FC236}">
                <a16:creationId xmlns:a16="http://schemas.microsoft.com/office/drawing/2014/main" xmlns="" id="{EF13015C-E884-4625-9DF9-3D67995D337B}"/>
              </a:ext>
            </a:extLst>
          </p:cNvPr>
          <p:cNvSpPr>
            <a:spLocks/>
          </p:cNvSpPr>
          <p:nvPr/>
        </p:nvSpPr>
        <p:spPr bwMode="auto">
          <a:xfrm>
            <a:off x="11677650" y="6281398"/>
            <a:ext cx="2952750" cy="1948202"/>
          </a:xfrm>
          <a:custGeom>
            <a:avLst/>
            <a:gdLst>
              <a:gd name="T0" fmla="*/ 1685 w 2016"/>
              <a:gd name="T1" fmla="*/ 0 h 744"/>
              <a:gd name="T2" fmla="*/ 0 w 2016"/>
              <a:gd name="T3" fmla="*/ 744 h 744"/>
              <a:gd name="T4" fmla="*/ 2016 w 2016"/>
              <a:gd name="T5" fmla="*/ 744 h 744"/>
              <a:gd name="T6" fmla="*/ 1685 w 2016"/>
              <a:gd name="T7" fmla="*/ 0 h 744"/>
            </a:gdLst>
            <a:ahLst/>
            <a:cxnLst>
              <a:cxn ang="0">
                <a:pos x="T0" y="T1"/>
              </a:cxn>
              <a:cxn ang="0">
                <a:pos x="T2" y="T3"/>
              </a:cxn>
              <a:cxn ang="0">
                <a:pos x="T4" y="T5"/>
              </a:cxn>
              <a:cxn ang="0">
                <a:pos x="T6" y="T7"/>
              </a:cxn>
            </a:cxnLst>
            <a:rect l="0" t="0" r="r" b="b"/>
            <a:pathLst>
              <a:path w="2016" h="744">
                <a:moveTo>
                  <a:pt x="1685" y="0"/>
                </a:moveTo>
                <a:lnTo>
                  <a:pt x="0" y="744"/>
                </a:lnTo>
                <a:lnTo>
                  <a:pt x="2016" y="744"/>
                </a:lnTo>
                <a:lnTo>
                  <a:pt x="1685" y="0"/>
                </a:lnTo>
                <a:close/>
              </a:path>
            </a:pathLst>
          </a:custGeom>
          <a:solidFill>
            <a:srgbClr val="FDB913"/>
          </a:solidFill>
          <a:ln>
            <a:noFill/>
          </a:ln>
          <a:effectLst>
            <a:outerShdw blurRad="431800" dist="50800" dir="5400000" algn="ctr" rotWithShape="0">
              <a:srgbClr val="000000">
                <a:alpha val="25000"/>
              </a:srgbClr>
            </a:outerShdw>
          </a:effectLst>
        </p:spPr>
        <p:txBody>
          <a:bodyPr vert="horz" wrap="square" lIns="68580" tIns="34290" rIns="68580" bIns="34290" numCol="1" anchor="t" anchorCtr="0" compatLnSpc="1">
            <a:prstTxWarp prst="textNoShape">
              <a:avLst/>
            </a:prstTxWarp>
          </a:bodyPr>
          <a:lstStyle/>
          <a:p>
            <a:endParaRPr lang="en-ID" sz="13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accel="40000" decel="4000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1000" fill="hold"/>
                                        <p:tgtEl>
                                          <p:spTgt spid="29"/>
                                        </p:tgtEl>
                                        <p:attrNameLst>
                                          <p:attrName>ppt_x</p:attrName>
                                        </p:attrNameLst>
                                      </p:cBhvr>
                                      <p:tavLst>
                                        <p:tav tm="0">
                                          <p:val>
                                            <p:strVal val="#ppt_x"/>
                                          </p:val>
                                        </p:tav>
                                        <p:tav tm="100000">
                                          <p:val>
                                            <p:strVal val="#ppt_x"/>
                                          </p:val>
                                        </p:tav>
                                      </p:tavLst>
                                    </p:anim>
                                    <p:anim calcmode="lin" valueType="num">
                                      <p:cBhvr additive="base">
                                        <p:cTn id="8" dur="1000" fill="hold"/>
                                        <p:tgtEl>
                                          <p:spTgt spid="29"/>
                                        </p:tgtEl>
                                        <p:attrNameLst>
                                          <p:attrName>ppt_y</p:attrName>
                                        </p:attrNameLst>
                                      </p:cBhvr>
                                      <p:tavLst>
                                        <p:tav tm="0">
                                          <p:val>
                                            <p:strVal val="0-#ppt_h/2"/>
                                          </p:val>
                                        </p:tav>
                                        <p:tav tm="100000">
                                          <p:val>
                                            <p:strVal val="#ppt_y"/>
                                          </p:val>
                                        </p:tav>
                                      </p:tavLst>
                                    </p:anim>
                                  </p:childTnLst>
                                </p:cTn>
                              </p:par>
                              <p:par>
                                <p:cTn id="9" presetID="2" presetClass="entr" presetSubtype="4" accel="40000" decel="40000"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anim calcmode="lin" valueType="num">
                                      <p:cBhvr additive="base">
                                        <p:cTn id="11" dur="1000" fill="hold"/>
                                        <p:tgtEl>
                                          <p:spTgt spid="31"/>
                                        </p:tgtEl>
                                        <p:attrNameLst>
                                          <p:attrName>ppt_x</p:attrName>
                                        </p:attrNameLst>
                                      </p:cBhvr>
                                      <p:tavLst>
                                        <p:tav tm="0">
                                          <p:val>
                                            <p:strVal val="#ppt_x"/>
                                          </p:val>
                                        </p:tav>
                                        <p:tav tm="100000">
                                          <p:val>
                                            <p:strVal val="#ppt_x"/>
                                          </p:val>
                                        </p:tav>
                                      </p:tavLst>
                                    </p:anim>
                                    <p:anim calcmode="lin" valueType="num">
                                      <p:cBhvr additive="base">
                                        <p:cTn id="12" dur="10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a:extLst>
              <a:ext uri="{FF2B5EF4-FFF2-40B4-BE49-F238E27FC236}">
                <a16:creationId xmlns="" xmlns:a16="http://schemas.microsoft.com/office/drawing/2014/main" id="{D26F4A47-9C92-41C8-B9AA-0DCABA043242}"/>
              </a:ext>
            </a:extLst>
          </p:cNvPr>
          <p:cNvSpPr>
            <a:spLocks/>
          </p:cNvSpPr>
          <p:nvPr/>
        </p:nvSpPr>
        <p:spPr bwMode="auto">
          <a:xfrm>
            <a:off x="0" y="1"/>
            <a:ext cx="3166278" cy="1183398"/>
          </a:xfrm>
          <a:custGeom>
            <a:avLst/>
            <a:gdLst>
              <a:gd name="T0" fmla="*/ 249 w 1501"/>
              <a:gd name="T1" fmla="*/ 561 h 561"/>
              <a:gd name="T2" fmla="*/ 1501 w 1501"/>
              <a:gd name="T3" fmla="*/ 6 h 561"/>
              <a:gd name="T4" fmla="*/ 1499 w 1501"/>
              <a:gd name="T5" fmla="*/ 0 h 561"/>
              <a:gd name="T6" fmla="*/ 0 w 1501"/>
              <a:gd name="T7" fmla="*/ 0 h 561"/>
              <a:gd name="T8" fmla="*/ 249 w 1501"/>
              <a:gd name="T9" fmla="*/ 561 h 561"/>
            </a:gdLst>
            <a:ahLst/>
            <a:cxnLst>
              <a:cxn ang="0">
                <a:pos x="T0" y="T1"/>
              </a:cxn>
              <a:cxn ang="0">
                <a:pos x="T2" y="T3"/>
              </a:cxn>
              <a:cxn ang="0">
                <a:pos x="T4" y="T5"/>
              </a:cxn>
              <a:cxn ang="0">
                <a:pos x="T6" y="T7"/>
              </a:cxn>
              <a:cxn ang="0">
                <a:pos x="T8" y="T9"/>
              </a:cxn>
            </a:cxnLst>
            <a:rect l="0" t="0" r="r" b="b"/>
            <a:pathLst>
              <a:path w="1501" h="561">
                <a:moveTo>
                  <a:pt x="249" y="561"/>
                </a:moveTo>
                <a:lnTo>
                  <a:pt x="1501" y="6"/>
                </a:lnTo>
                <a:lnTo>
                  <a:pt x="1499" y="0"/>
                </a:lnTo>
                <a:lnTo>
                  <a:pt x="0" y="0"/>
                </a:lnTo>
                <a:lnTo>
                  <a:pt x="249" y="561"/>
                </a:lnTo>
                <a:close/>
              </a:path>
            </a:pathLst>
          </a:custGeom>
          <a:solidFill>
            <a:srgbClr val="FDB913"/>
          </a:solidFill>
          <a:ln>
            <a:noFill/>
          </a:ln>
          <a:effectLst>
            <a:outerShdw blurRad="431800" dist="50800" dir="5400000" algn="ctr" rotWithShape="0">
              <a:srgbClr val="000000">
                <a:alpha val="25000"/>
              </a:srgbClr>
            </a:outerShdw>
          </a:effectLst>
        </p:spPr>
        <p:txBody>
          <a:bodyPr vert="horz" wrap="square" lIns="68580" tIns="34290" rIns="68580" bIns="34290" numCol="1" anchor="t" anchorCtr="0" compatLnSpc="1">
            <a:prstTxWarp prst="textNoShape">
              <a:avLst/>
            </a:prstTxWarp>
          </a:bodyPr>
          <a:lstStyle/>
          <a:p>
            <a:endParaRPr lang="en-ID" sz="1350"/>
          </a:p>
        </p:txBody>
      </p:sp>
      <p:sp>
        <p:nvSpPr>
          <p:cNvPr id="3" name="Rectangle 2"/>
          <p:cNvSpPr/>
          <p:nvPr/>
        </p:nvSpPr>
        <p:spPr>
          <a:xfrm>
            <a:off x="11582400" y="7048500"/>
            <a:ext cx="3048000" cy="11811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4" name="Rectangle 3"/>
          <p:cNvSpPr/>
          <p:nvPr/>
        </p:nvSpPr>
        <p:spPr>
          <a:xfrm>
            <a:off x="12287250" y="7048500"/>
            <a:ext cx="2343150" cy="11811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p:cNvSpPr/>
          <p:nvPr/>
        </p:nvSpPr>
        <p:spPr>
          <a:xfrm>
            <a:off x="12553950" y="7048500"/>
            <a:ext cx="2076450" cy="11811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Freeform 5">
            <a:extLst>
              <a:ext uri="{FF2B5EF4-FFF2-40B4-BE49-F238E27FC236}">
                <a16:creationId xmlns:a16="http://schemas.microsoft.com/office/drawing/2014/main" xmlns="" id="{EF13015C-E884-4625-9DF9-3D67995D337B}"/>
              </a:ext>
            </a:extLst>
          </p:cNvPr>
          <p:cNvSpPr>
            <a:spLocks/>
          </p:cNvSpPr>
          <p:nvPr/>
        </p:nvSpPr>
        <p:spPr bwMode="auto">
          <a:xfrm>
            <a:off x="11677650" y="6281398"/>
            <a:ext cx="2952750" cy="1948202"/>
          </a:xfrm>
          <a:custGeom>
            <a:avLst/>
            <a:gdLst>
              <a:gd name="T0" fmla="*/ 1685 w 2016"/>
              <a:gd name="T1" fmla="*/ 0 h 744"/>
              <a:gd name="T2" fmla="*/ 0 w 2016"/>
              <a:gd name="T3" fmla="*/ 744 h 744"/>
              <a:gd name="T4" fmla="*/ 2016 w 2016"/>
              <a:gd name="T5" fmla="*/ 744 h 744"/>
              <a:gd name="T6" fmla="*/ 1685 w 2016"/>
              <a:gd name="T7" fmla="*/ 0 h 744"/>
            </a:gdLst>
            <a:ahLst/>
            <a:cxnLst>
              <a:cxn ang="0">
                <a:pos x="T0" y="T1"/>
              </a:cxn>
              <a:cxn ang="0">
                <a:pos x="T2" y="T3"/>
              </a:cxn>
              <a:cxn ang="0">
                <a:pos x="T4" y="T5"/>
              </a:cxn>
              <a:cxn ang="0">
                <a:pos x="T6" y="T7"/>
              </a:cxn>
            </a:cxnLst>
            <a:rect l="0" t="0" r="r" b="b"/>
            <a:pathLst>
              <a:path w="2016" h="744">
                <a:moveTo>
                  <a:pt x="1685" y="0"/>
                </a:moveTo>
                <a:lnTo>
                  <a:pt x="0" y="744"/>
                </a:lnTo>
                <a:lnTo>
                  <a:pt x="2016" y="744"/>
                </a:lnTo>
                <a:lnTo>
                  <a:pt x="1685" y="0"/>
                </a:lnTo>
                <a:close/>
              </a:path>
            </a:pathLst>
          </a:custGeom>
          <a:solidFill>
            <a:srgbClr val="FDB913"/>
          </a:solidFill>
          <a:ln>
            <a:noFill/>
          </a:ln>
          <a:effectLst>
            <a:outerShdw blurRad="431800" dist="50800" dir="5400000" algn="ctr" rotWithShape="0">
              <a:srgbClr val="000000">
                <a:alpha val="25000"/>
              </a:srgbClr>
            </a:outerShdw>
          </a:effectLst>
        </p:spPr>
        <p:txBody>
          <a:bodyPr vert="horz" wrap="square" lIns="68580" tIns="34290" rIns="68580" bIns="34290" numCol="1" anchor="t" anchorCtr="0" compatLnSpc="1">
            <a:prstTxWarp prst="textNoShape">
              <a:avLst/>
            </a:prstTxWarp>
          </a:bodyPr>
          <a:lstStyle/>
          <a:p>
            <a:endParaRPr lang="en-ID" sz="1350"/>
          </a:p>
        </p:txBody>
      </p:sp>
      <p:pic>
        <p:nvPicPr>
          <p:cNvPr id="7" name="Picture 6">
            <a:extLst>
              <a:ext uri="{FF2B5EF4-FFF2-40B4-BE49-F238E27FC236}">
                <a16:creationId xmlns:a16="http://schemas.microsoft.com/office/drawing/2014/main" xmlns="" id="{49C7B44A-AD34-9D58-6374-8F3854056B3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06672" y="98893"/>
            <a:ext cx="3204766" cy="492807"/>
          </a:xfrm>
          <a:prstGeom prst="rect">
            <a:avLst/>
          </a:prstGeom>
        </p:spPr>
      </p:pic>
      <p:sp>
        <p:nvSpPr>
          <p:cNvPr id="9" name="Rectangle 8"/>
          <p:cNvSpPr/>
          <p:nvPr/>
        </p:nvSpPr>
        <p:spPr>
          <a:xfrm>
            <a:off x="3543300" y="4142382"/>
            <a:ext cx="6479624" cy="734753"/>
          </a:xfrm>
          <a:prstGeom prst="rect">
            <a:avLst/>
          </a:prstGeom>
        </p:spPr>
        <p:txBody>
          <a:bodyPr wrap="square">
            <a:spAutoFit/>
          </a:bodyPr>
          <a:lstStyle/>
          <a:p>
            <a:pPr algn="ctr">
              <a:lnSpc>
                <a:spcPts val="3250"/>
              </a:lnSpc>
            </a:pPr>
            <a:r>
              <a:rPr lang="en-US" sz="9600" dirty="0" smtClean="0">
                <a:solidFill>
                  <a:schemeClr val="accent1"/>
                </a:solidFill>
              </a:rPr>
              <a:t>THANKYOU</a:t>
            </a:r>
            <a:endParaRPr lang="en-US" sz="9600" dirty="0">
              <a:solidFill>
                <a:schemeClr val="accent1"/>
              </a:solidFill>
            </a:endParaRPr>
          </a:p>
        </p:txBody>
      </p:sp>
    </p:spTree>
    <p:extLst>
      <p:ext uri="{BB962C8B-B14F-4D97-AF65-F5344CB8AC3E}">
        <p14:creationId xmlns:p14="http://schemas.microsoft.com/office/powerpoint/2010/main" val="3767253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accel="40000" decel="4000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ppt_x"/>
                                          </p:val>
                                        </p:tav>
                                        <p:tav tm="100000">
                                          <p:val>
                                            <p:strVal val="#ppt_x"/>
                                          </p:val>
                                        </p:tav>
                                      </p:tavLst>
                                    </p:anim>
                                    <p:anim calcmode="lin" valueType="num">
                                      <p:cBhvr additive="base">
                                        <p:cTn id="8" dur="10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4" accel="40000" decel="4000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1000" fill="hold"/>
                                        <p:tgtEl>
                                          <p:spTgt spid="6"/>
                                        </p:tgtEl>
                                        <p:attrNameLst>
                                          <p:attrName>ppt_x</p:attrName>
                                        </p:attrNameLst>
                                      </p:cBhvr>
                                      <p:tavLst>
                                        <p:tav tm="0">
                                          <p:val>
                                            <p:strVal val="#ppt_x"/>
                                          </p:val>
                                        </p:tav>
                                        <p:tav tm="100000">
                                          <p:val>
                                            <p:strVal val="#ppt_x"/>
                                          </p:val>
                                        </p:tav>
                                      </p:tavLst>
                                    </p:anim>
                                    <p:anim calcmode="lin" valueType="num">
                                      <p:cBhvr additive="base">
                                        <p:cTn id="12" dur="10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542</TotalTime>
  <Words>715</Words>
  <Application>Microsoft Office PowerPoint</Application>
  <PresentationFormat>Custom</PresentationFormat>
  <Paragraphs>181</Paragraphs>
  <Slides>10</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Inter</vt:lpstr>
      <vt:lpstr>Petrona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INTERN LDH DEV</cp:lastModifiedBy>
  <cp:revision>31</cp:revision>
  <dcterms:created xsi:type="dcterms:W3CDTF">2026-03-18T15:25:23Z</dcterms:created>
  <dcterms:modified xsi:type="dcterms:W3CDTF">2026-04-23T10:25:40Z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2957659</vt:lpwstr>
  </property>
  <property fmtid="{D5CDD505-2E9C-101B-9397-08002B2CF9AE}" pid="3" name="NXPowerLiteSettings">
    <vt:lpwstr>F7000400038000</vt:lpwstr>
  </property>
  <property fmtid="{D5CDD505-2E9C-101B-9397-08002B2CF9AE}" pid="4" name="NXPowerLiteVersion">
    <vt:lpwstr>S11.0.1</vt:lpwstr>
  </property>
</Properties>
</file>